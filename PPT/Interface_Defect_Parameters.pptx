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B07D"/>
    <a:srgbClr val="879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325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/>
          </p:cNvSpPr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 Defect Parameters Used in SCAPS Simulation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>
            <a:spLocks/>
          </p:cNvSpPr>
          <p:nvPr/>
        </p:nvSpPr>
        <p:spPr>
          <a:xfrm>
            <a:off x="457200" y="960120"/>
            <a:ext cx="3566160" cy="868680"/>
          </a:xfrm>
          <a:prstGeom prst="rect">
            <a:avLst/>
          </a:prstGeom>
          <a:solidFill>
            <a:srgbClr val="879E62"/>
          </a:solidFill>
          <a:ln w="15875">
            <a:solidFill>
              <a:srgbClr val="879E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457200" y="960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</a:t>
            </a:r>
            <a:r>
              <a:rPr lang="en-US" sz="3200" b="1" baseline="-25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TiBr</a:t>
            </a:r>
            <a:r>
              <a:rPr lang="en-US" sz="3200" b="1" baseline="-25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3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>
            <a:spLocks/>
          </p:cNvSpPr>
          <p:nvPr/>
        </p:nvSpPr>
        <p:spPr>
          <a:xfrm>
            <a:off x="4023360" y="960120"/>
            <a:ext cx="4114800" cy="868680"/>
          </a:xfrm>
          <a:prstGeom prst="rect">
            <a:avLst/>
          </a:prstGeom>
          <a:solidFill>
            <a:srgbClr val="ECECEC"/>
          </a:solidFill>
          <a:ln w="15875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/>
          </p:cNvSpPr>
          <p:nvPr/>
        </p:nvSpPr>
        <p:spPr>
          <a:xfrm>
            <a:off x="402336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4545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MASnI</a:t>
            </a:r>
            <a:r>
              <a:rPr lang="en-US" sz="3200" b="1" baseline="-25000" dirty="0">
                <a:solidFill>
                  <a:srgbClr val="54545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3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>
            <a:spLocks/>
          </p:cNvSpPr>
          <p:nvPr/>
        </p:nvSpPr>
        <p:spPr>
          <a:xfrm>
            <a:off x="8138160" y="960120"/>
            <a:ext cx="3593592" cy="868680"/>
          </a:xfrm>
          <a:prstGeom prst="rect">
            <a:avLst/>
          </a:prstGeom>
          <a:solidFill>
            <a:srgbClr val="CDB07D"/>
          </a:solidFill>
          <a:ln w="15875">
            <a:solidFill>
              <a:srgbClr val="CDB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8138160" y="960120"/>
            <a:ext cx="3593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</a:t>
            </a:r>
            <a:r>
              <a:rPr lang="en-US" sz="3200" b="1" baseline="-25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</a:t>
            </a:r>
            <a:r>
              <a:rPr lang="en-US" sz="3200" b="1" baseline="-25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</a:t>
            </a:r>
            <a:r>
              <a:rPr lang="en-US" sz="3200" b="1" baseline="-25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3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>
            <a:spLocks/>
          </p:cNvSpPr>
          <p:nvPr/>
        </p:nvSpPr>
        <p:spPr>
          <a:xfrm>
            <a:off x="2880360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5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 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>
            <a:spLocks/>
          </p:cNvSpPr>
          <p:nvPr/>
        </p:nvSpPr>
        <p:spPr>
          <a:xfrm>
            <a:off x="2880360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</a:t>
            </a:r>
            <a:r>
              <a:rPr lang="en-US" sz="1600" b="1" baseline="-25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TiBr</a:t>
            </a:r>
            <a:r>
              <a:rPr lang="en-US" sz="1600" b="1" baseline="-25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r>
              <a:rPr lang="en-US" sz="16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MASnI</a:t>
            </a:r>
            <a:r>
              <a:rPr lang="en-US" sz="1600" b="1" baseline="-25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>
            <a:spLocks/>
          </p:cNvSpPr>
          <p:nvPr/>
        </p:nvSpPr>
        <p:spPr>
          <a:xfrm>
            <a:off x="6995160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 II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>
            <a:spLocks/>
          </p:cNvSpPr>
          <p:nvPr/>
        </p:nvSpPr>
        <p:spPr>
          <a:xfrm>
            <a:off x="6995160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MASnI</a:t>
            </a:r>
            <a:r>
              <a:rPr lang="en-US" sz="1600" b="1" baseline="-25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r>
              <a:rPr lang="en-US" sz="16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Cs</a:t>
            </a:r>
            <a:r>
              <a:rPr lang="en-US" sz="1600" b="1" baseline="-25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r>
              <a:rPr lang="en-US" sz="16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</a:t>
            </a:r>
            <a:r>
              <a:rPr lang="en-US" sz="1600" b="1" baseline="-25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</a:t>
            </a:r>
            <a:r>
              <a:rPr lang="en-US" sz="1600" b="1" baseline="-25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6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623944"/>
              </p:ext>
            </p:extLst>
          </p:nvPr>
        </p:nvGraphicFramePr>
        <p:xfrm>
          <a:off x="405120" y="2514600"/>
          <a:ext cx="5738304" cy="2647747"/>
        </p:xfrm>
        <a:graphic>
          <a:graphicData uri="http://schemas.openxmlformats.org/drawingml/2006/table">
            <a:tbl>
              <a:tblPr/>
              <a:tblGrid>
                <a:gridCol w="375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Interface I: Cs</a:t>
                      </a:r>
                      <a:r>
                        <a:rPr lang="en-US" sz="2000" b="1" baseline="-250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TiBr</a:t>
                      </a:r>
                      <a:r>
                        <a:rPr lang="en-US" sz="2000" b="1" baseline="-250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/ MASnI</a:t>
                      </a:r>
                      <a:r>
                        <a:rPr lang="en-US" sz="2000" b="1" baseline="-250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aseline="-25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 of defect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Neutral</a:t>
                      </a:r>
                      <a:endParaRPr lang="en-US" sz="16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Electron capture cross-section </a:t>
                      </a:r>
                      <a:r>
                        <a:rPr lang="en-US" sz="1800" b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(σ</a:t>
                      </a:r>
                      <a:r>
                        <a:rPr lang="en-US" sz="1800" b="0" baseline="-2500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b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sz="1800" b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x 10</a:t>
                      </a:r>
                      <a:r>
                        <a:rPr lang="en-US" sz="1800" b="0" baseline="3000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-19</a:t>
                      </a:r>
                      <a:r>
                        <a:rPr lang="en-US" sz="1800" b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cm²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Hole capture cross-section (σ</a:t>
                      </a:r>
                      <a:r>
                        <a:rPr lang="en-US" sz="1800" b="0" baseline="-250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x 10⁻¹⁹ cm²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7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Defect energy level (E</a:t>
                      </a:r>
                      <a:r>
                        <a:rPr lang="en-US" sz="1800" b="0" baseline="-250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) reference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Over the </a:t>
                      </a:r>
                      <a:r>
                        <a:rPr lang="en-US" sz="1800" b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highest E</a:t>
                      </a:r>
                      <a:r>
                        <a:rPr lang="en-US" sz="1800" b="0" baseline="-2500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b="0" baseline="-25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Energy to reference (eV)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tal density (</a:t>
                      </a:r>
                      <a:r>
                        <a:rPr lang="en-US" sz="1800" b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cm⁻</a:t>
                      </a:r>
                      <a:r>
                        <a:rPr lang="en-US" sz="1800" b="0" baseline="3000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800" b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x 10¹⁰</a:t>
                      </a:r>
                      <a:endParaRPr lang="en-US" sz="1800" b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424057"/>
              </p:ext>
            </p:extLst>
          </p:nvPr>
        </p:nvGraphicFramePr>
        <p:xfrm>
          <a:off x="6245352" y="2514600"/>
          <a:ext cx="5486400" cy="267004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Interface II: MASnI</a:t>
                      </a:r>
                      <a:r>
                        <a:rPr lang="en-US" sz="1800" b="1" baseline="-250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/ Cs</a:t>
                      </a:r>
                      <a:r>
                        <a:rPr lang="en-US" sz="1800" b="1" baseline="-250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Bi</a:t>
                      </a:r>
                      <a:r>
                        <a:rPr lang="en-US" sz="1800" b="1" baseline="-250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800" b="1" baseline="-250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en-US" sz="1800" baseline="-25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 of defect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Neutral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Electron capture cross-section (σ</a:t>
                      </a:r>
                      <a:r>
                        <a:rPr lang="en-US" sz="1600" baseline="-250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x 10⁻¹⁹ cm²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Hole capture cross-section (σp)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x 10⁻¹⁹ cm²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Defect energy level (E</a:t>
                      </a:r>
                      <a:r>
                        <a:rPr lang="en-US" sz="1600" baseline="-250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) reference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Over the highest Ev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Energy to reference (eV)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Total density (cm⁻²)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x 10¹⁰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43DC0913-9876-115D-098E-2120DECDCA7B}"/>
              </a:ext>
            </a:extLst>
          </p:cNvPr>
          <p:cNvSpPr>
            <a:spLocks/>
          </p:cNvSpPr>
          <p:nvPr/>
        </p:nvSpPr>
        <p:spPr>
          <a:xfrm>
            <a:off x="3937000" y="956924"/>
            <a:ext cx="193040" cy="87187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4A01B2-83B0-9A46-DFA8-7DF171A32A11}"/>
              </a:ext>
            </a:extLst>
          </p:cNvPr>
          <p:cNvSpPr>
            <a:spLocks/>
          </p:cNvSpPr>
          <p:nvPr/>
        </p:nvSpPr>
        <p:spPr>
          <a:xfrm>
            <a:off x="8022139" y="956924"/>
            <a:ext cx="193040" cy="8718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148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 Defect Parameters Used in SCAPS Simulation</dc:title>
  <dc:subject>PptxGenJS Presentation</dc:subject>
  <dc:creator>rk</dc:creator>
  <cp:lastModifiedBy>Rakib Hossain Sourav</cp:lastModifiedBy>
  <cp:revision>6</cp:revision>
  <dcterms:created xsi:type="dcterms:W3CDTF">2026-07-04T14:22:43Z</dcterms:created>
  <dcterms:modified xsi:type="dcterms:W3CDTF">2026-09-26T22:16:47Z</dcterms:modified>
</cp:coreProperties>
</file>