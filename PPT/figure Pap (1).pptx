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4"/>
  </p:notesMasterIdLst>
  <p:sldIdLst>
    <p:sldId id="256" r:id="rId2"/>
    <p:sldId id="258" r:id="rId3"/>
    <p:sldId id="299" r:id="rId4"/>
    <p:sldId id="259" r:id="rId5"/>
    <p:sldId id="261" r:id="rId6"/>
    <p:sldId id="260" r:id="rId7"/>
    <p:sldId id="262" r:id="rId8"/>
    <p:sldId id="265" r:id="rId9"/>
    <p:sldId id="264" r:id="rId10"/>
    <p:sldId id="268" r:id="rId11"/>
    <p:sldId id="271" r:id="rId12"/>
    <p:sldId id="274" r:id="rId13"/>
    <p:sldId id="273" r:id="rId14"/>
    <p:sldId id="269" r:id="rId15"/>
    <p:sldId id="272" r:id="rId16"/>
    <p:sldId id="275" r:id="rId17"/>
    <p:sldId id="276" r:id="rId18"/>
    <p:sldId id="277" r:id="rId19"/>
    <p:sldId id="288" r:id="rId20"/>
    <p:sldId id="279" r:id="rId21"/>
    <p:sldId id="300" r:id="rId22"/>
    <p:sldId id="281" r:id="rId23"/>
    <p:sldId id="280" r:id="rId24"/>
    <p:sldId id="282" r:id="rId25"/>
    <p:sldId id="283" r:id="rId26"/>
    <p:sldId id="284" r:id="rId27"/>
    <p:sldId id="285" r:id="rId28"/>
    <p:sldId id="286" r:id="rId29"/>
    <p:sldId id="287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301" r:id="rId38"/>
    <p:sldId id="297" r:id="rId39"/>
    <p:sldId id="298" r:id="rId40"/>
    <p:sldId id="304" r:id="rId41"/>
    <p:sldId id="303" r:id="rId42"/>
    <p:sldId id="302" r:id="rId43"/>
    <p:sldId id="305" r:id="rId44"/>
    <p:sldId id="306" r:id="rId45"/>
    <p:sldId id="307" r:id="rId46"/>
    <p:sldId id="308" r:id="rId47"/>
    <p:sldId id="309" r:id="rId48"/>
    <p:sldId id="310" r:id="rId49"/>
    <p:sldId id="311" r:id="rId50"/>
    <p:sldId id="312" r:id="rId51"/>
    <p:sldId id="313" r:id="rId52"/>
    <p:sldId id="314" r:id="rId53"/>
    <p:sldId id="315" r:id="rId54"/>
    <p:sldId id="316" r:id="rId55"/>
    <p:sldId id="317" r:id="rId56"/>
    <p:sldId id="318" r:id="rId57"/>
    <p:sldId id="319" r:id="rId58"/>
    <p:sldId id="320" r:id="rId59"/>
    <p:sldId id="324" r:id="rId60"/>
    <p:sldId id="322" r:id="rId61"/>
    <p:sldId id="323" r:id="rId62"/>
    <p:sldId id="325" r:id="rId63"/>
    <p:sldId id="326" r:id="rId64"/>
    <p:sldId id="328" r:id="rId65"/>
    <p:sldId id="327" r:id="rId66"/>
    <p:sldId id="329" r:id="rId67"/>
    <p:sldId id="330" r:id="rId68"/>
    <p:sldId id="331" r:id="rId69"/>
    <p:sldId id="332" r:id="rId70"/>
    <p:sldId id="333" r:id="rId71"/>
    <p:sldId id="334" r:id="rId72"/>
    <p:sldId id="335" r:id="rId7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737" autoAdjust="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5AA73D-F5DC-4087-98FF-3534E758D7A4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3ECD41-DE4D-476D-A280-0425A0712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16348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2A3BCB-A7B9-6ED7-DDF4-A3845AA7E8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7A00A0F-D389-1B6E-6A55-D0834A0565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88F4F8-031B-9E2D-8A0C-78E6CE1E6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E8240B-5A28-6B8B-1D06-BE85FCF45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23FB-EFE9-F6C6-1AF8-65E13B585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18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C7F63-EE2C-B0ED-EE85-FCB206C61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855F22-2D15-949F-BD7F-3DB26EDB59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8AEDE-711F-2DA2-491B-41C1B2E647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F3270-EFA5-819D-20A6-9F214B607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DB585-7D8D-2480-5AB9-E3E40119C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91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EE289-B4B1-CFF5-FD9A-AE71853E67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CD3F40-1F55-2B29-BE2D-FD0FD1ACD7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A8AF91-013C-9FAB-248E-55D64DA8ED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DEEF80-CB34-09E9-C5D4-EAA560BEE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A74CC-865C-F4B8-9F17-F8AD3A64E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9232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C25DA-4CC4-DD8A-7499-38EEF016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E16ED-0D2D-1BB6-0F2F-9EB173BF4B5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0B7815-6933-F6AB-D092-A63AC0BCA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4FCA01-E3A8-960C-3165-832810DB9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E8A83E-9050-ABBA-FA91-79A6C15D0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53BC66-3DED-E8EA-6F7D-2C65F0D5B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9411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35EC95-1308-2EEA-3C5E-F9BA4E11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266CA0-8511-0847-41CD-7AE5B599E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1BCAE6-E7AC-EBE6-B4D8-D3B305F03E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AAC148-2470-9590-56FD-EDA6582355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8AEDDA-D3F8-23DC-9EAA-AED59A99B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7043EE-17CF-A6C2-1E2D-58399DFA0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CCC7474-7706-1664-CDEB-761E1E7460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CDAC0-40CB-AFC0-F2C3-912D972CB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540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D8F21-5AC5-528D-9936-22AB265C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0A439-2465-CED1-16DF-0809327FD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0749F1-D96E-F285-C56F-8FEF446C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EFA1DF-6A7C-7464-31A7-4FC47C6FD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673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2F586BD-BD84-EB63-D3DC-4611F38FF9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8A0E9-1A8F-A781-E187-62BEA8F05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70F3A7-8A8B-D013-B132-AADF54FDC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30753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1F379-9C8D-FEF1-406C-2A20D105D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9FDB90-1C74-FC37-0285-7F43677CF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55246C-0C81-FB32-6829-6884730468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97431-25E2-2E79-4DE5-236CE9374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19AD2A-874F-157E-54AE-B6D32BDA8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BCE4C0-1D3D-8422-633A-3C1251B805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9610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D1A05-EE13-5481-6E23-CD025096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2351BB-8C15-72ED-36BB-4B822D8808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ED57B-8019-D49A-E720-40030825430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767357-E9A7-2781-C55C-653878AB0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C5194F-4800-AA85-C89E-B259F1F001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37D6B6-1A83-C948-0CDC-A80FFD4A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17837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C7B73-DE51-3261-056A-499A9CD64B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0F0548-0333-9821-1B35-7E136E7890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E3E821-F328-5A01-7AE7-06111C06E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DED40D-F0E2-0D9B-95F6-45B7FB74B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07EF5E-5C3F-C650-1CD4-2F2FF05D52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1114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89A816-C122-202F-3781-DD29A4BE11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6A087F-2581-AB46-BE70-8A20763A65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4214BE-C528-FA2F-AAFE-7D23F6B6A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5D8A44-A076-F398-42E1-7AF04C83E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BE102-34EB-1AAC-1D93-E4692EAF6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63227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2" name="PlaceHolder 4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71C23790-8871-4389-B732-94803312870A}" type="slidenum">
              <a:t>‹#›</a:t>
            </a:fld>
            <a:endParaRPr/>
          </a:p>
        </p:txBody>
      </p:sp>
      <p:sp>
        <p:nvSpPr>
          <p:cNvPr id="3" name="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65974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2FD9EF-C308-7CC9-10D4-4090E27DAF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376745-A72B-8D39-2DDF-206DBDE5DA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F1EFCC-9297-A10B-A496-8554ADC0FE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2398C-82F5-4B9D-B500-7A13D8ABEA5E}" type="datetimeFigureOut">
              <a:rPr lang="en-US" smtClean="0"/>
              <a:t>6/20/2026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7CCA69-7868-9087-52D0-2ED07D5772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55F45-620C-BA5E-380A-3D7336FA06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D40C21-6601-4782-8CC1-2C6505ABF5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8221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image" Target="../media/image75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7CDBBD5D-2C6A-8828-27DC-BC6D74491542}"/>
              </a:ext>
            </a:extLst>
          </p:cNvPr>
          <p:cNvGrpSpPr/>
          <p:nvPr/>
        </p:nvGrpSpPr>
        <p:grpSpPr>
          <a:xfrm>
            <a:off x="1329608" y="10510"/>
            <a:ext cx="11544811" cy="6877446"/>
            <a:chOff x="835622" y="0"/>
            <a:chExt cx="11544811" cy="6877446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AFF775F8-B174-520F-49EB-DCECA891C2C0}"/>
                </a:ext>
              </a:extLst>
            </p:cNvPr>
            <p:cNvSpPr/>
            <p:nvPr/>
          </p:nvSpPr>
          <p:spPr>
            <a:xfrm>
              <a:off x="7446072" y="3127978"/>
              <a:ext cx="438655" cy="12501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7" name="Group 116">
              <a:extLst>
                <a:ext uri="{FF2B5EF4-FFF2-40B4-BE49-F238E27FC236}">
                  <a16:creationId xmlns:a16="http://schemas.microsoft.com/office/drawing/2014/main" id="{28C00987-2D9F-FAB3-FFCD-2B8BDCB9BC42}"/>
                </a:ext>
              </a:extLst>
            </p:cNvPr>
            <p:cNvGrpSpPr/>
            <p:nvPr/>
          </p:nvGrpSpPr>
          <p:grpSpPr>
            <a:xfrm>
              <a:off x="835622" y="0"/>
              <a:ext cx="11544811" cy="6877446"/>
              <a:chOff x="835622" y="0"/>
              <a:chExt cx="11544811" cy="6877446"/>
            </a:xfrm>
          </p:grpSpPr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2B85660C-FFED-ABE3-E9D4-DE872C250F9B}"/>
                  </a:ext>
                </a:extLst>
              </p:cNvPr>
              <p:cNvGrpSpPr/>
              <p:nvPr/>
            </p:nvGrpSpPr>
            <p:grpSpPr>
              <a:xfrm>
                <a:off x="835622" y="0"/>
                <a:ext cx="11544811" cy="6877446"/>
                <a:chOff x="1012970" y="-10706"/>
                <a:chExt cx="11544811" cy="6877446"/>
              </a:xfrm>
            </p:grpSpPr>
            <p:pic>
              <p:nvPicPr>
                <p:cNvPr id="78" name="Picture 77">
                  <a:extLst>
                    <a:ext uri="{FF2B5EF4-FFF2-40B4-BE49-F238E27FC236}">
                      <a16:creationId xmlns:a16="http://schemas.microsoft.com/office/drawing/2014/main" id="{EBEF68A2-7CDA-062A-20CC-1C81EEA320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012970" y="-10706"/>
                  <a:ext cx="10210800" cy="6696632"/>
                </a:xfrm>
                <a:prstGeom prst="rect">
                  <a:avLst/>
                </a:prstGeom>
              </p:spPr>
            </p:pic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3CE797BB-48C2-14CC-5C59-8BB61BFA90DA}"/>
                    </a:ext>
                  </a:extLst>
                </p:cNvPr>
                <p:cNvSpPr>
                  <a:spLocks/>
                </p:cNvSpPr>
                <p:nvPr/>
              </p:nvSpPr>
              <p:spPr>
                <a:xfrm flipV="1">
                  <a:off x="2202872" y="3282300"/>
                  <a:ext cx="654627" cy="31598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81754CCE-B35E-6468-A24C-DFA28B829F15}"/>
                    </a:ext>
                  </a:extLst>
                </p:cNvPr>
                <p:cNvSpPr/>
                <p:nvPr/>
              </p:nvSpPr>
              <p:spPr>
                <a:xfrm>
                  <a:off x="2826327" y="3304309"/>
                  <a:ext cx="498764" cy="12469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D046D43B-0066-5A63-590B-7D02A683D638}"/>
                    </a:ext>
                  </a:extLst>
                </p:cNvPr>
                <p:cNvSpPr/>
                <p:nvPr/>
              </p:nvSpPr>
              <p:spPr>
                <a:xfrm>
                  <a:off x="4364182" y="3179618"/>
                  <a:ext cx="498764" cy="315984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9" name="Rectangle 78">
                  <a:extLst>
                    <a:ext uri="{FF2B5EF4-FFF2-40B4-BE49-F238E27FC236}">
                      <a16:creationId xmlns:a16="http://schemas.microsoft.com/office/drawing/2014/main" id="{FDBAE594-1B58-3DCE-70D0-EA7C47AF6B5F}"/>
                    </a:ext>
                  </a:extLst>
                </p:cNvPr>
                <p:cNvSpPr/>
                <p:nvPr/>
              </p:nvSpPr>
              <p:spPr>
                <a:xfrm>
                  <a:off x="2639028" y="3179618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Rectangle 79">
                  <a:extLst>
                    <a:ext uri="{FF2B5EF4-FFF2-40B4-BE49-F238E27FC236}">
                      <a16:creationId xmlns:a16="http://schemas.microsoft.com/office/drawing/2014/main" id="{F533C957-3F34-D6A6-4FF0-38FF45EB8525}"/>
                    </a:ext>
                  </a:extLst>
                </p:cNvPr>
                <p:cNvSpPr/>
                <p:nvPr/>
              </p:nvSpPr>
              <p:spPr>
                <a:xfrm>
                  <a:off x="2639028" y="6518446"/>
                  <a:ext cx="686062" cy="17140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Rectangle 80">
                  <a:extLst>
                    <a:ext uri="{FF2B5EF4-FFF2-40B4-BE49-F238E27FC236}">
                      <a16:creationId xmlns:a16="http://schemas.microsoft.com/office/drawing/2014/main" id="{01A43D28-1C51-2E7C-FE60-C21831979129}"/>
                    </a:ext>
                  </a:extLst>
                </p:cNvPr>
                <p:cNvSpPr/>
                <p:nvPr/>
              </p:nvSpPr>
              <p:spPr>
                <a:xfrm>
                  <a:off x="4364182" y="3142419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2" name="Rectangle 81">
                  <a:extLst>
                    <a:ext uri="{FF2B5EF4-FFF2-40B4-BE49-F238E27FC236}">
                      <a16:creationId xmlns:a16="http://schemas.microsoft.com/office/drawing/2014/main" id="{34B1ECFD-6D3C-1DD3-3029-21E89B7B43D5}"/>
                    </a:ext>
                  </a:extLst>
                </p:cNvPr>
                <p:cNvSpPr/>
                <p:nvPr/>
              </p:nvSpPr>
              <p:spPr>
                <a:xfrm>
                  <a:off x="9442311" y="3117272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Rectangle 82">
                  <a:extLst>
                    <a:ext uri="{FF2B5EF4-FFF2-40B4-BE49-F238E27FC236}">
                      <a16:creationId xmlns:a16="http://schemas.microsoft.com/office/drawing/2014/main" id="{62B505A7-A262-9D77-1800-2C6C8732A12F}"/>
                    </a:ext>
                  </a:extLst>
                </p:cNvPr>
                <p:cNvSpPr/>
                <p:nvPr/>
              </p:nvSpPr>
              <p:spPr>
                <a:xfrm>
                  <a:off x="4519914" y="6440473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4" name="Rectangle 83">
                  <a:extLst>
                    <a:ext uri="{FF2B5EF4-FFF2-40B4-BE49-F238E27FC236}">
                      <a16:creationId xmlns:a16="http://schemas.microsoft.com/office/drawing/2014/main" id="{8390BEBB-3BBF-8E7F-A30F-6C4DF8ED4D05}"/>
                    </a:ext>
                  </a:extLst>
                </p:cNvPr>
                <p:cNvSpPr/>
                <p:nvPr/>
              </p:nvSpPr>
              <p:spPr>
                <a:xfrm>
                  <a:off x="9319550" y="6403011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5" name="Rectangle 84">
                  <a:extLst>
                    <a:ext uri="{FF2B5EF4-FFF2-40B4-BE49-F238E27FC236}">
                      <a16:creationId xmlns:a16="http://schemas.microsoft.com/office/drawing/2014/main" id="{1DA66977-1D7F-63CA-AC37-3FC6C3EA6C5C}"/>
                    </a:ext>
                  </a:extLst>
                </p:cNvPr>
                <p:cNvSpPr/>
                <p:nvPr/>
              </p:nvSpPr>
              <p:spPr>
                <a:xfrm>
                  <a:off x="7623420" y="6460266"/>
                  <a:ext cx="540151" cy="229589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6" name="Rectangle 85">
                  <a:extLst>
                    <a:ext uri="{FF2B5EF4-FFF2-40B4-BE49-F238E27FC236}">
                      <a16:creationId xmlns:a16="http://schemas.microsoft.com/office/drawing/2014/main" id="{D9F88662-6B5E-6C0E-C0F8-9791A3CD6730}"/>
                    </a:ext>
                  </a:extLst>
                </p:cNvPr>
                <p:cNvSpPr/>
                <p:nvPr/>
              </p:nvSpPr>
              <p:spPr>
                <a:xfrm>
                  <a:off x="7550465" y="3246220"/>
                  <a:ext cx="686063" cy="249382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TextBox 98">
                  <a:extLst>
                    <a:ext uri="{FF2B5EF4-FFF2-40B4-BE49-F238E27FC236}">
                      <a16:creationId xmlns:a16="http://schemas.microsoft.com/office/drawing/2014/main" id="{844C53EB-6141-2724-7705-F02896C1294D}"/>
                    </a:ext>
                  </a:extLst>
                </p:cNvPr>
                <p:cNvSpPr txBox="1"/>
                <p:nvPr/>
              </p:nvSpPr>
              <p:spPr>
                <a:xfrm rot="19702778">
                  <a:off x="4033817" y="2210888"/>
                  <a:ext cx="35997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Cs₃Bi₂I₉ (cm⁻³)</a:t>
                  </a:r>
                </a:p>
              </p:txBody>
            </p: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89FA18C5-4BDB-EBE0-D81F-B5F35271F874}"/>
                    </a:ext>
                  </a:extLst>
                </p:cNvPr>
                <p:cNvSpPr txBox="1"/>
                <p:nvPr/>
              </p:nvSpPr>
              <p:spPr>
                <a:xfrm rot="689383">
                  <a:off x="2179491" y="3316609"/>
                  <a:ext cx="44055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A79C9B0E-5570-BE9F-2DD3-CE552F1120F8}"/>
                    </a:ext>
                  </a:extLst>
                </p:cNvPr>
                <p:cNvSpPr txBox="1"/>
                <p:nvPr/>
              </p:nvSpPr>
              <p:spPr>
                <a:xfrm rot="617355">
                  <a:off x="6928628" y="6589741"/>
                  <a:ext cx="44055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1200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15B48399-BCCB-F094-EBCC-A8DA3B70B0A4}"/>
                    </a:ext>
                  </a:extLst>
                </p:cNvPr>
                <p:cNvSpPr txBox="1"/>
                <p:nvPr/>
              </p:nvSpPr>
              <p:spPr>
                <a:xfrm rot="540272">
                  <a:off x="2190575" y="6578999"/>
                  <a:ext cx="4405571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MASnI₃ (cm⁻³)</a:t>
                  </a:r>
                </a:p>
              </p:txBody>
            </p:sp>
            <p:sp>
              <p:nvSpPr>
                <p:cNvPr id="103" name="TextBox 102">
                  <a:extLst>
                    <a:ext uri="{FF2B5EF4-FFF2-40B4-BE49-F238E27FC236}">
                      <a16:creationId xmlns:a16="http://schemas.microsoft.com/office/drawing/2014/main" id="{981A77E9-AD8C-48EF-1B83-CBA5A93B9777}"/>
                    </a:ext>
                  </a:extLst>
                </p:cNvPr>
                <p:cNvSpPr txBox="1"/>
                <p:nvPr/>
              </p:nvSpPr>
              <p:spPr>
                <a:xfrm rot="19926261">
                  <a:off x="8958054" y="5543195"/>
                  <a:ext cx="35997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Cs₃Bi₂I₉ (cm⁻³)</a:t>
                  </a:r>
                </a:p>
              </p:txBody>
            </p:sp>
            <p:sp>
              <p:nvSpPr>
                <p:cNvPr id="104" name="TextBox 103">
                  <a:extLst>
                    <a:ext uri="{FF2B5EF4-FFF2-40B4-BE49-F238E27FC236}">
                      <a16:creationId xmlns:a16="http://schemas.microsoft.com/office/drawing/2014/main" id="{832C63E7-D981-14FF-37D1-B259816FB2FC}"/>
                    </a:ext>
                  </a:extLst>
                </p:cNvPr>
                <p:cNvSpPr txBox="1"/>
                <p:nvPr/>
              </p:nvSpPr>
              <p:spPr>
                <a:xfrm rot="19883884">
                  <a:off x="7096276" y="3245293"/>
                  <a:ext cx="35997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Cs₃Bi₂I₉ (cm⁻³)</a:t>
                  </a:r>
                </a:p>
              </p:txBody>
            </p:sp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72205B47-4CEC-18F6-3EB1-6DC7FE5126BA}"/>
                    </a:ext>
                  </a:extLst>
                </p:cNvPr>
                <p:cNvSpPr txBox="1"/>
                <p:nvPr/>
              </p:nvSpPr>
              <p:spPr>
                <a:xfrm rot="20011229">
                  <a:off x="4101345" y="5620475"/>
                  <a:ext cx="359972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Cs₃Bi₂I₉ (cm⁻³)</a:t>
                  </a:r>
                </a:p>
              </p:txBody>
            </p:sp>
          </p:grp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95A34AAE-8BFA-D814-ED68-B5810FA750BC}"/>
                  </a:ext>
                </a:extLst>
              </p:cNvPr>
              <p:cNvSpPr/>
              <p:nvPr/>
            </p:nvSpPr>
            <p:spPr>
              <a:xfrm>
                <a:off x="3333509" y="243068"/>
                <a:ext cx="426668" cy="196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472AE9C3-FF08-1459-C99B-BFD05267E194}"/>
                  </a:ext>
                </a:extLst>
              </p:cNvPr>
              <p:cNvSpPr/>
              <p:nvPr/>
            </p:nvSpPr>
            <p:spPr>
              <a:xfrm>
                <a:off x="8151327" y="3576195"/>
                <a:ext cx="426668" cy="196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A71CBDF1-7657-1C24-B2AE-BE2BD63377D8}"/>
                  </a:ext>
                </a:extLst>
              </p:cNvPr>
              <p:cNvSpPr/>
              <p:nvPr/>
            </p:nvSpPr>
            <p:spPr>
              <a:xfrm>
                <a:off x="3296231" y="3576195"/>
                <a:ext cx="426668" cy="196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Rectangle 111">
                <a:extLst>
                  <a:ext uri="{FF2B5EF4-FFF2-40B4-BE49-F238E27FC236}">
                    <a16:creationId xmlns:a16="http://schemas.microsoft.com/office/drawing/2014/main" id="{2C79FA81-CD1F-F713-DDA1-08B06CE03FD9}"/>
                  </a:ext>
                </a:extLst>
              </p:cNvPr>
              <p:cNvSpPr/>
              <p:nvPr/>
            </p:nvSpPr>
            <p:spPr>
              <a:xfrm>
                <a:off x="8155983" y="243068"/>
                <a:ext cx="426668" cy="19677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TextBox 112">
                <a:extLst>
                  <a:ext uri="{FF2B5EF4-FFF2-40B4-BE49-F238E27FC236}">
                    <a16:creationId xmlns:a16="http://schemas.microsoft.com/office/drawing/2014/main" id="{8871AAED-7A55-F0EE-6E3F-EA99E09D5FBF}"/>
                  </a:ext>
                </a:extLst>
              </p:cNvPr>
              <p:cNvSpPr txBox="1"/>
              <p:nvPr/>
            </p:nvSpPr>
            <p:spPr>
              <a:xfrm>
                <a:off x="1739363" y="124391"/>
                <a:ext cx="7691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</a:p>
            </p:txBody>
          </p:sp>
          <p:sp>
            <p:nvSpPr>
              <p:cNvPr id="114" name="TextBox 113">
                <a:extLst>
                  <a:ext uri="{FF2B5EF4-FFF2-40B4-BE49-F238E27FC236}">
                    <a16:creationId xmlns:a16="http://schemas.microsoft.com/office/drawing/2014/main" id="{F0D1F465-0018-A6D0-2A5F-4C33ED296338}"/>
                  </a:ext>
                </a:extLst>
              </p:cNvPr>
              <p:cNvSpPr txBox="1"/>
              <p:nvPr/>
            </p:nvSpPr>
            <p:spPr>
              <a:xfrm>
                <a:off x="6616675" y="3408935"/>
                <a:ext cx="1850592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</a:p>
            </p:txBody>
          </p:sp>
          <p:sp>
            <p:nvSpPr>
              <p:cNvPr id="115" name="TextBox 114">
                <a:extLst>
                  <a:ext uri="{FF2B5EF4-FFF2-40B4-BE49-F238E27FC236}">
                    <a16:creationId xmlns:a16="http://schemas.microsoft.com/office/drawing/2014/main" id="{FDA486DD-3A48-C196-65B2-46BD58A6F43F}"/>
                  </a:ext>
                </a:extLst>
              </p:cNvPr>
              <p:cNvSpPr txBox="1"/>
              <p:nvPr/>
            </p:nvSpPr>
            <p:spPr>
              <a:xfrm>
                <a:off x="1730101" y="3364342"/>
                <a:ext cx="7691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</a:p>
            </p:txBody>
          </p:sp>
          <p:sp>
            <p:nvSpPr>
              <p:cNvPr id="116" name="TextBox 115">
                <a:extLst>
                  <a:ext uri="{FF2B5EF4-FFF2-40B4-BE49-F238E27FC236}">
                    <a16:creationId xmlns:a16="http://schemas.microsoft.com/office/drawing/2014/main" id="{AFF1863E-B715-34AF-4950-803DCF2D786F}"/>
                  </a:ext>
                </a:extLst>
              </p:cNvPr>
              <p:cNvSpPr txBox="1"/>
              <p:nvPr/>
            </p:nvSpPr>
            <p:spPr>
              <a:xfrm>
                <a:off x="6569623" y="98156"/>
                <a:ext cx="76910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</a:t>
                </a:r>
              </a:p>
            </p:txBody>
          </p:sp>
        </p:grp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741E4E2-AE07-1917-6BB1-CEB54004E178}"/>
                </a:ext>
              </a:extLst>
            </p:cNvPr>
            <p:cNvSpPr/>
            <p:nvPr/>
          </p:nvSpPr>
          <p:spPr>
            <a:xfrm>
              <a:off x="7564582" y="3153125"/>
              <a:ext cx="438655" cy="2076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3FFCC69C-8FC3-B308-BA67-BED4C53DEEEB}"/>
                </a:ext>
              </a:extLst>
            </p:cNvPr>
            <p:cNvSpPr txBox="1"/>
            <p:nvPr/>
          </p:nvSpPr>
          <p:spPr>
            <a:xfrm rot="689383">
              <a:off x="6884120" y="3322225"/>
              <a:ext cx="440557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Nₜ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C51BC-87DF-7DFD-6864-E75F5B0F2CD7}"/>
              </a:ext>
            </a:extLst>
          </p:cNvPr>
          <p:cNvSpPr/>
          <p:nvPr/>
        </p:nvSpPr>
        <p:spPr>
          <a:xfrm>
            <a:off x="2036618" y="1485900"/>
            <a:ext cx="228600" cy="935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71DD02-CCC3-1401-CEBD-D17AD6314A9F}"/>
              </a:ext>
            </a:extLst>
          </p:cNvPr>
          <p:cNvSpPr/>
          <p:nvPr/>
        </p:nvSpPr>
        <p:spPr>
          <a:xfrm>
            <a:off x="6885146" y="4767033"/>
            <a:ext cx="228600" cy="935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9FDABFA-E56E-E9D8-667A-5E8AEC85F3B6}"/>
              </a:ext>
            </a:extLst>
          </p:cNvPr>
          <p:cNvSpPr/>
          <p:nvPr/>
        </p:nvSpPr>
        <p:spPr>
          <a:xfrm>
            <a:off x="6885146" y="1434726"/>
            <a:ext cx="228600" cy="935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E433B52-4651-0854-9079-7BE6A13DFEB1}"/>
              </a:ext>
            </a:extLst>
          </p:cNvPr>
          <p:cNvSpPr/>
          <p:nvPr/>
        </p:nvSpPr>
        <p:spPr>
          <a:xfrm>
            <a:off x="1960418" y="4669240"/>
            <a:ext cx="228600" cy="9358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653954A-73DA-C4E8-4DC2-E51CE4565F80}"/>
              </a:ext>
            </a:extLst>
          </p:cNvPr>
          <p:cNvSpPr txBox="1"/>
          <p:nvPr/>
        </p:nvSpPr>
        <p:spPr>
          <a:xfrm rot="16200000">
            <a:off x="-1088233" y="-1044611"/>
            <a:ext cx="6369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PCE(%)</a:t>
            </a:r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3FCC0B3-7DAB-692E-90AE-C744F5170D4D}"/>
              </a:ext>
            </a:extLst>
          </p:cNvPr>
          <p:cNvSpPr txBox="1"/>
          <p:nvPr/>
        </p:nvSpPr>
        <p:spPr>
          <a:xfrm rot="16200000">
            <a:off x="755108" y="4050494"/>
            <a:ext cx="267685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44825A3-8D90-54A3-42F9-1B3AF7F740FD}"/>
              </a:ext>
            </a:extLst>
          </p:cNvPr>
          <p:cNvSpPr txBox="1"/>
          <p:nvPr/>
        </p:nvSpPr>
        <p:spPr>
          <a:xfrm rot="16200000">
            <a:off x="3835832" y="2438209"/>
            <a:ext cx="6369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(mA/cm²)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455F70B-A3BF-9D5F-41DF-29784FDA2B58}"/>
              </a:ext>
            </a:extLst>
          </p:cNvPr>
          <p:cNvSpPr txBox="1"/>
          <p:nvPr/>
        </p:nvSpPr>
        <p:spPr>
          <a:xfrm rot="16200000">
            <a:off x="3862815" y="-1117480"/>
            <a:ext cx="63692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FF(%)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1390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3E4F7B8-E6FA-7A16-617D-8052B533B4A3}"/>
              </a:ext>
            </a:extLst>
          </p:cNvPr>
          <p:cNvGrpSpPr/>
          <p:nvPr/>
        </p:nvGrpSpPr>
        <p:grpSpPr>
          <a:xfrm>
            <a:off x="1208544" y="-3664527"/>
            <a:ext cx="10398011" cy="10255671"/>
            <a:chOff x="1208544" y="-3664527"/>
            <a:chExt cx="10398011" cy="1025567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6AEA7550-7EF0-AA45-F249-28AEF6539AE6}"/>
                </a:ext>
              </a:extLst>
            </p:cNvPr>
            <p:cNvGrpSpPr/>
            <p:nvPr/>
          </p:nvGrpSpPr>
          <p:grpSpPr>
            <a:xfrm>
              <a:off x="1208544" y="276110"/>
              <a:ext cx="10398011" cy="6315034"/>
              <a:chOff x="1208544" y="276110"/>
              <a:chExt cx="10398011" cy="6315034"/>
            </a:xfrm>
          </p:grpSpPr>
          <p:grpSp>
            <p:nvGrpSpPr>
              <p:cNvPr id="35" name="Group 34">
                <a:extLst>
                  <a:ext uri="{FF2B5EF4-FFF2-40B4-BE49-F238E27FC236}">
                    <a16:creationId xmlns:a16="http://schemas.microsoft.com/office/drawing/2014/main" id="{90216B8B-BECF-1DF5-C40F-E5C0F489876F}"/>
                  </a:ext>
                </a:extLst>
              </p:cNvPr>
              <p:cNvGrpSpPr/>
              <p:nvPr/>
            </p:nvGrpSpPr>
            <p:grpSpPr>
              <a:xfrm>
                <a:off x="1208544" y="276110"/>
                <a:ext cx="10398011" cy="6315034"/>
                <a:chOff x="456704" y="202622"/>
                <a:chExt cx="10398011" cy="6315034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EA0F4119-71D5-B7B1-99BD-4E3DDD30B68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456704" y="202622"/>
                  <a:ext cx="10106002" cy="6268935"/>
                </a:xfrm>
                <a:prstGeom prst="rect">
                  <a:avLst/>
                </a:prstGeom>
              </p:spPr>
            </p:pic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3721589D-7407-655E-93A0-C1E6E37A7875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903220" y="386443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0602D877-6619-FF6A-1A31-384BFA1C2EBF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680732" y="386443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18E1AD31-CCD8-87A9-DDAF-84462AE7F30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31237" y="6294912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F5A0E701-D184-D9BA-7817-77EC3D507297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213142" y="6294912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F43A75A5-E1D0-FB5E-4427-604A671CF4F2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8831237" y="3160444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88CDE3A9-B471-52AC-AB0B-9D8BEE3A4C73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189012" y="3204028"/>
                  <a:ext cx="467590" cy="221383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40EBF5C9-4AB3-9851-3D00-6A3FE5A8EF3E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19235" y="3204028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A4C6F149-B45C-94A7-63E0-3FE9E421D830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4061460" y="3160444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27D57F50-F994-94B1-7DC5-90DCF1403FDD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2435630" y="6294912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/>
                    <a:t>v</a:t>
                  </a:r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7FBCB76D-3736-7FC3-C17D-91FE7FBC2748}"/>
                    </a:ext>
                  </a:extLst>
                </p:cNvPr>
                <p:cNvSpPr>
                  <a:spLocks/>
                </p:cNvSpPr>
                <p:nvPr/>
              </p:nvSpPr>
              <p:spPr>
                <a:xfrm rot="458572">
                  <a:off x="2857894" y="3438508"/>
                  <a:ext cx="590320" cy="25197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DA20CBDB-F2ED-1C7D-8A3C-488C855923B4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7680732" y="3510753"/>
                  <a:ext cx="467590" cy="176645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B531266-5D7A-3C02-A622-EC2F25127C51}"/>
                    </a:ext>
                  </a:extLst>
                </p:cNvPr>
                <p:cNvSpPr>
                  <a:spLocks/>
                </p:cNvSpPr>
                <p:nvPr/>
              </p:nvSpPr>
              <p:spPr>
                <a:xfrm>
                  <a:off x="3921530" y="6197600"/>
                  <a:ext cx="467590" cy="27395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51EED474-ECA5-0C13-5DDA-97229CF01F5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697478">
                  <a:off x="1569858" y="3142135"/>
                  <a:ext cx="29057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₃ Thickness(µm</a:t>
                  </a:r>
                  <a:r>
                    <a:rPr lang="en-US" sz="1200" b="1" noProof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  <a:endParaRPr lang="en-US" sz="12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F4228A2E-9974-46BB-3774-75F55FBC6F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9907849">
                  <a:off x="3125928" y="2611442"/>
                  <a:ext cx="288966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Cs₃Bi₂I₉ Thickness(µm)</a:t>
                  </a:r>
                </a:p>
              </p:txBody>
            </p:sp>
            <p:sp>
              <p:nvSpPr>
                <p:cNvPr id="23" name="TextBox 22">
                  <a:extLst>
                    <a:ext uri="{FF2B5EF4-FFF2-40B4-BE49-F238E27FC236}">
                      <a16:creationId xmlns:a16="http://schemas.microsoft.com/office/drawing/2014/main" id="{A367EC46-958D-BE13-98A9-CDDD2E3899F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697478">
                  <a:off x="6359260" y="3153850"/>
                  <a:ext cx="29057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₃ Thickness(µm)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2B079DF2-B7EE-DA3D-EE4B-7B308982F15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692236">
                  <a:off x="6415898" y="6240657"/>
                  <a:ext cx="29057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₃ Thickness(µm)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BF560014-88F6-F07F-8CFD-7E60364E27F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659481">
                  <a:off x="1571505" y="6240657"/>
                  <a:ext cx="2905760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₃ Thickness(µm)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E213D789-0E82-D397-6C99-2932FFF0B0D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9907849">
                  <a:off x="3125928" y="5721491"/>
                  <a:ext cx="288966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Cs₃Bi₂I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₉ Thickness(µm)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42213182-32E3-9E9C-9723-FFF66E8C0C6A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19907849">
                  <a:off x="7913169" y="2611442"/>
                  <a:ext cx="288966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Cs₃Bi₂I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₉ Thickness(µm)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214EAFEE-C9CA-3D87-0150-E1843F7F4A60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 rot="20038142">
                  <a:off x="7965047" y="5742852"/>
                  <a:ext cx="2889668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 err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Cs₃Bi₂I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₉ Thickness(µm)</a:t>
                  </a:r>
                </a:p>
              </p:txBody>
            </p:sp>
          </p:grp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A1795CD-9BD5-7A63-6344-75547E71FA80}"/>
                  </a:ext>
                </a:extLst>
              </p:cNvPr>
              <p:cNvSpPr txBox="1"/>
              <p:nvPr/>
            </p:nvSpPr>
            <p:spPr>
              <a:xfrm>
                <a:off x="3486949" y="312976"/>
                <a:ext cx="5791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(a)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C4EE0E05-FC27-CF15-C355-3CEE39A43E55}"/>
                  </a:ext>
                </a:extLst>
              </p:cNvPr>
              <p:cNvSpPr txBox="1"/>
              <p:nvPr/>
            </p:nvSpPr>
            <p:spPr>
              <a:xfrm>
                <a:off x="8285279" y="330854"/>
                <a:ext cx="6050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(d)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A3A9FCB4-3AC3-1245-EEBA-D8CA42BD8F55}"/>
                  </a:ext>
                </a:extLst>
              </p:cNvPr>
              <p:cNvSpPr txBox="1"/>
              <p:nvPr/>
            </p:nvSpPr>
            <p:spPr>
              <a:xfrm>
                <a:off x="3432762" y="3444344"/>
                <a:ext cx="12177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(b)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1E897EF-2D41-DC1B-45EE-F52195E032CE}"/>
                  </a:ext>
                </a:extLst>
              </p:cNvPr>
              <p:cNvSpPr txBox="1"/>
              <p:nvPr/>
            </p:nvSpPr>
            <p:spPr>
              <a:xfrm>
                <a:off x="8295111" y="3448244"/>
                <a:ext cx="115050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(c)</a:t>
                </a:r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E750C0F-05D9-2C73-B47A-AC4D57869879}"/>
                </a:ext>
              </a:extLst>
            </p:cNvPr>
            <p:cNvSpPr/>
            <p:nvPr/>
          </p:nvSpPr>
          <p:spPr>
            <a:xfrm>
              <a:off x="2150918" y="1683327"/>
              <a:ext cx="172672" cy="74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F188321-9677-0DBB-FDD3-C7E47715C5B9}"/>
                </a:ext>
              </a:extLst>
            </p:cNvPr>
            <p:cNvSpPr/>
            <p:nvPr/>
          </p:nvSpPr>
          <p:spPr>
            <a:xfrm>
              <a:off x="6944126" y="4673703"/>
              <a:ext cx="172672" cy="74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E403D36-07F1-ACBF-4706-3CAE09E2EA4A}"/>
                </a:ext>
              </a:extLst>
            </p:cNvPr>
            <p:cNvSpPr/>
            <p:nvPr/>
          </p:nvSpPr>
          <p:spPr>
            <a:xfrm>
              <a:off x="6940320" y="1557203"/>
              <a:ext cx="172672" cy="74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1F32ED6-C262-369B-F261-860F879E377A}"/>
                </a:ext>
              </a:extLst>
            </p:cNvPr>
            <p:cNvSpPr/>
            <p:nvPr/>
          </p:nvSpPr>
          <p:spPr>
            <a:xfrm>
              <a:off x="2057877" y="4631479"/>
              <a:ext cx="172672" cy="74814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21DBEF37-9D95-E441-A11A-D428F3C0C10C}"/>
                </a:ext>
              </a:extLst>
            </p:cNvPr>
            <p:cNvSpPr txBox="1"/>
            <p:nvPr/>
          </p:nvSpPr>
          <p:spPr>
            <a:xfrm rot="16200000">
              <a:off x="-839904" y="-732696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PCE(%)</a:t>
              </a:r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199C2CF-1278-0865-72C6-B870FDCF1BAE}"/>
                </a:ext>
              </a:extLst>
            </p:cNvPr>
            <p:cNvSpPr txBox="1"/>
            <p:nvPr/>
          </p:nvSpPr>
          <p:spPr>
            <a:xfrm rot="16200000">
              <a:off x="3935490" y="-801193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FF(%)</a:t>
              </a:r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88C3A41-27D5-6BF9-31DA-23A208240317}"/>
                </a:ext>
              </a:extLst>
            </p:cNvPr>
            <p:cNvSpPr txBox="1"/>
            <p:nvPr/>
          </p:nvSpPr>
          <p:spPr>
            <a:xfrm rot="16200000">
              <a:off x="-891874" y="2283774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8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</a:t>
              </a:r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endParaRPr lang="en-US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34200D1-F4EC-6D3E-4F62-DE5BD0C7CA37}"/>
                </a:ext>
              </a:extLst>
            </p:cNvPr>
            <p:cNvSpPr txBox="1"/>
            <p:nvPr/>
          </p:nvSpPr>
          <p:spPr>
            <a:xfrm rot="16200000">
              <a:off x="3981280" y="2449298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8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(mA/cm²)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648072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roup 56">
            <a:extLst>
              <a:ext uri="{FF2B5EF4-FFF2-40B4-BE49-F238E27FC236}">
                <a16:creationId xmlns:a16="http://schemas.microsoft.com/office/drawing/2014/main" id="{5E689B93-EEB3-CF67-6AA9-7D2E715DC0CF}"/>
              </a:ext>
            </a:extLst>
          </p:cNvPr>
          <p:cNvGrpSpPr/>
          <p:nvPr/>
        </p:nvGrpSpPr>
        <p:grpSpPr>
          <a:xfrm>
            <a:off x="1166614" y="-754989"/>
            <a:ext cx="13025960" cy="7323429"/>
            <a:chOff x="1786374" y="-978509"/>
            <a:chExt cx="13025960" cy="732342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6412336-C843-30F3-768A-BB8CE6E4548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59280" y="376104"/>
              <a:ext cx="8910663" cy="5862136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D30765C-DF00-3073-A526-D0E99EACC5C7}"/>
                </a:ext>
              </a:extLst>
            </p:cNvPr>
            <p:cNvSpPr/>
            <p:nvPr/>
          </p:nvSpPr>
          <p:spPr>
            <a:xfrm>
              <a:off x="1899920" y="1361440"/>
              <a:ext cx="172720" cy="731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745131C-8A8B-8420-1B24-678BE9B82E37}"/>
                </a:ext>
              </a:extLst>
            </p:cNvPr>
            <p:cNvSpPr/>
            <p:nvPr/>
          </p:nvSpPr>
          <p:spPr>
            <a:xfrm>
              <a:off x="6817360" y="4368801"/>
              <a:ext cx="172720" cy="731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2F9EF866-249E-C5E9-5C4C-0F0642FAA691}"/>
                </a:ext>
              </a:extLst>
            </p:cNvPr>
            <p:cNvSpPr/>
            <p:nvPr/>
          </p:nvSpPr>
          <p:spPr>
            <a:xfrm>
              <a:off x="6817360" y="1513840"/>
              <a:ext cx="172720" cy="731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E6404F60-F3F1-591A-D325-BB008A4DBF50}"/>
                </a:ext>
              </a:extLst>
            </p:cNvPr>
            <p:cNvSpPr/>
            <p:nvPr/>
          </p:nvSpPr>
          <p:spPr>
            <a:xfrm>
              <a:off x="1859280" y="4389121"/>
              <a:ext cx="213360" cy="7315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/>
                <a:t>(c) Jsc(</a:t>
              </a:r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Jsc(mA/cm²) </a:t>
              </a:r>
              <a:r>
                <a:rPr lang="en-US"/>
                <a:t>mA/cm²)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6F4CE2E-9AE2-F28D-E9D5-3835D3F8F3D4}"/>
                </a:ext>
              </a:extLst>
            </p:cNvPr>
            <p:cNvSpPr/>
            <p:nvPr/>
          </p:nvSpPr>
          <p:spPr>
            <a:xfrm>
              <a:off x="2875280" y="3078480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25640E5B-53D8-8353-6D50-F671DB330828}"/>
                </a:ext>
              </a:extLst>
            </p:cNvPr>
            <p:cNvSpPr/>
            <p:nvPr/>
          </p:nvSpPr>
          <p:spPr>
            <a:xfrm>
              <a:off x="4861560" y="6106160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5EC4E6C-A0AE-6BFA-98EF-6DD6C17E9EB9}"/>
                </a:ext>
              </a:extLst>
            </p:cNvPr>
            <p:cNvSpPr/>
            <p:nvPr/>
          </p:nvSpPr>
          <p:spPr>
            <a:xfrm>
              <a:off x="2956560" y="6101080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2D0D49C-1AFA-1EA3-7A80-09872EC0E19F}"/>
                </a:ext>
              </a:extLst>
            </p:cNvPr>
            <p:cNvSpPr/>
            <p:nvPr/>
          </p:nvSpPr>
          <p:spPr>
            <a:xfrm>
              <a:off x="4876800" y="3083652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8596330-7597-DFC5-CFE2-483789C67755}"/>
                </a:ext>
              </a:extLst>
            </p:cNvPr>
            <p:cNvSpPr/>
            <p:nvPr/>
          </p:nvSpPr>
          <p:spPr>
            <a:xfrm>
              <a:off x="3891280" y="3317332"/>
              <a:ext cx="416560" cy="131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E914C0C-AC69-C9D6-2CF7-89C282579E60}"/>
                </a:ext>
              </a:extLst>
            </p:cNvPr>
            <p:cNvSpPr/>
            <p:nvPr/>
          </p:nvSpPr>
          <p:spPr>
            <a:xfrm>
              <a:off x="8793482" y="3332572"/>
              <a:ext cx="416560" cy="1168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E8E983C-AD70-E789-FC81-B337DA164711}"/>
                </a:ext>
              </a:extLst>
            </p:cNvPr>
            <p:cNvSpPr/>
            <p:nvPr/>
          </p:nvSpPr>
          <p:spPr>
            <a:xfrm>
              <a:off x="9733282" y="3098892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9EC1787D-F332-F652-B9F0-CFB4DE938A54}"/>
                </a:ext>
              </a:extLst>
            </p:cNvPr>
            <p:cNvSpPr/>
            <p:nvPr/>
          </p:nvSpPr>
          <p:spPr>
            <a:xfrm>
              <a:off x="7884162" y="3078480"/>
              <a:ext cx="416560" cy="3200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D27F43D-0E8F-709D-4D46-4D9054461D50}"/>
                </a:ext>
              </a:extLst>
            </p:cNvPr>
            <p:cNvSpPr/>
            <p:nvPr/>
          </p:nvSpPr>
          <p:spPr>
            <a:xfrm>
              <a:off x="9789162" y="6131560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BC3B9C0-9265-85B5-AD22-16B9403BEED8}"/>
                </a:ext>
              </a:extLst>
            </p:cNvPr>
            <p:cNvSpPr/>
            <p:nvPr/>
          </p:nvSpPr>
          <p:spPr>
            <a:xfrm>
              <a:off x="7884162" y="6100896"/>
              <a:ext cx="416560" cy="2133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1FB7E5E-2F91-7392-F9E7-EDA8F5CB1BBB}"/>
                </a:ext>
              </a:extLst>
            </p:cNvPr>
            <p:cNvSpPr/>
            <p:nvPr/>
          </p:nvSpPr>
          <p:spPr>
            <a:xfrm>
              <a:off x="3891280" y="259264"/>
              <a:ext cx="1066800" cy="2133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389A1106-8D66-2512-7E83-81A116627250}"/>
                </a:ext>
              </a:extLst>
            </p:cNvPr>
            <p:cNvSpPr/>
            <p:nvPr/>
          </p:nvSpPr>
          <p:spPr>
            <a:xfrm>
              <a:off x="8676642" y="259264"/>
              <a:ext cx="1066800" cy="21335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8717CE6-FA23-444A-3644-55A22D6A27F5}"/>
                </a:ext>
              </a:extLst>
            </p:cNvPr>
            <p:cNvSpPr txBox="1"/>
            <p:nvPr/>
          </p:nvSpPr>
          <p:spPr>
            <a:xfrm rot="16046894">
              <a:off x="1203327" y="4460387"/>
              <a:ext cx="16148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8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(mA/cm²)</a:t>
              </a:r>
              <a:endParaRPr lang="en-US"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9EE678CF-B32D-B01B-6A4A-593022EFBA4E}"/>
                </a:ext>
              </a:extLst>
            </p:cNvPr>
            <p:cNvSpPr txBox="1"/>
            <p:nvPr/>
          </p:nvSpPr>
          <p:spPr>
            <a:xfrm rot="15982441">
              <a:off x="1127667" y="1139926"/>
              <a:ext cx="1686745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PCE(%)</a:t>
              </a:r>
              <a:endParaRPr lang="en-US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6C8D3BD9-73AA-9358-63C3-FC18076F9B3F}"/>
                </a:ext>
              </a:extLst>
            </p:cNvPr>
            <p:cNvSpPr txBox="1"/>
            <p:nvPr/>
          </p:nvSpPr>
          <p:spPr>
            <a:xfrm rot="16200000">
              <a:off x="3870264" y="1884825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sz="18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</a:t>
              </a:r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endParaRPr lang="en-US"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918FE6AF-CE1C-BA54-69E7-7520C8FDD265}"/>
                </a:ext>
              </a:extLst>
            </p:cNvPr>
            <p:cNvSpPr txBox="1"/>
            <p:nvPr/>
          </p:nvSpPr>
          <p:spPr>
            <a:xfrm rot="16045312">
              <a:off x="6467962" y="1527293"/>
              <a:ext cx="97535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FF(%)</a:t>
              </a:r>
              <a:endParaRPr lang="en-US"/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D39D2632-8829-75E6-0068-FA9CAA927FFD}"/>
                </a:ext>
              </a:extLst>
            </p:cNvPr>
            <p:cNvSpPr txBox="1"/>
            <p:nvPr/>
          </p:nvSpPr>
          <p:spPr>
            <a:xfrm rot="1525215">
              <a:off x="1801500" y="2839124"/>
              <a:ext cx="23302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/ MASnI₃ interface 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5A97152-8C37-2D69-F8DB-202C7BEA29A9}"/>
                </a:ext>
              </a:extLst>
            </p:cNvPr>
            <p:cNvSpPr txBox="1"/>
            <p:nvPr/>
          </p:nvSpPr>
          <p:spPr>
            <a:xfrm rot="20003587">
              <a:off x="3812700" y="1957681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 / Cs₂TiBr₆ interface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E97C290D-3BB5-6CFB-9C40-79C690359EA5}"/>
                </a:ext>
              </a:extLst>
            </p:cNvPr>
            <p:cNvSpPr txBox="1"/>
            <p:nvPr/>
          </p:nvSpPr>
          <p:spPr>
            <a:xfrm rot="1525215">
              <a:off x="6799220" y="2878167"/>
              <a:ext cx="23302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/ MASnI₃ interface 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271E0890-D479-22F3-EFD5-E7461289671E}"/>
                </a:ext>
              </a:extLst>
            </p:cNvPr>
            <p:cNvSpPr txBox="1"/>
            <p:nvPr/>
          </p:nvSpPr>
          <p:spPr>
            <a:xfrm rot="1525215">
              <a:off x="6853895" y="5900096"/>
              <a:ext cx="23302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/ MASnI₃ interface 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B21A0DD-5037-2184-577A-886A452CE63D}"/>
                </a:ext>
              </a:extLst>
            </p:cNvPr>
            <p:cNvSpPr txBox="1"/>
            <p:nvPr/>
          </p:nvSpPr>
          <p:spPr>
            <a:xfrm rot="1525215">
              <a:off x="1934455" y="5905507"/>
              <a:ext cx="233022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/ MASnI₃ interface 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55F87CED-0C09-1C24-9214-CDFA10DC65F4}"/>
                </a:ext>
              </a:extLst>
            </p:cNvPr>
            <p:cNvSpPr txBox="1"/>
            <p:nvPr/>
          </p:nvSpPr>
          <p:spPr>
            <a:xfrm rot="20003587">
              <a:off x="8716334" y="1990081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 / Cs₂TiBr₆ interface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F40F3DD-C5E8-3A1B-27D9-C0E78C590C33}"/>
                </a:ext>
              </a:extLst>
            </p:cNvPr>
            <p:cNvSpPr txBox="1"/>
            <p:nvPr/>
          </p:nvSpPr>
          <p:spPr>
            <a:xfrm rot="20003587">
              <a:off x="8621295" y="5016819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 / Cs₂TiBr₆ interface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3F42469E-FD01-5DBD-D297-B23B014E9CB5}"/>
                </a:ext>
              </a:extLst>
            </p:cNvPr>
            <p:cNvSpPr txBox="1"/>
            <p:nvPr/>
          </p:nvSpPr>
          <p:spPr>
            <a:xfrm rot="20003587">
              <a:off x="3729518" y="5001580"/>
              <a:ext cx="6096000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 / Cs₂TiBr₆ interface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7C312D08-FCAD-2693-9E55-319B760D1DD6}"/>
                </a:ext>
              </a:extLst>
            </p:cNvPr>
            <p:cNvSpPr txBox="1"/>
            <p:nvPr/>
          </p:nvSpPr>
          <p:spPr>
            <a:xfrm>
              <a:off x="2160060" y="416560"/>
              <a:ext cx="7138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(a)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97B61217-7F18-3A49-FAAC-CBE0BDCA3084}"/>
                </a:ext>
              </a:extLst>
            </p:cNvPr>
            <p:cNvSpPr txBox="1"/>
            <p:nvPr/>
          </p:nvSpPr>
          <p:spPr>
            <a:xfrm>
              <a:off x="7102930" y="426350"/>
              <a:ext cx="7138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(d)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AFF975C8-18E8-30D9-05F3-67F2E381D573}"/>
                </a:ext>
              </a:extLst>
            </p:cNvPr>
            <p:cNvSpPr txBox="1"/>
            <p:nvPr/>
          </p:nvSpPr>
          <p:spPr>
            <a:xfrm>
              <a:off x="2242216" y="3497471"/>
              <a:ext cx="7138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(c)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3047FC1B-B338-230F-0654-24E9FC5050C1}"/>
                </a:ext>
              </a:extLst>
            </p:cNvPr>
            <p:cNvSpPr txBox="1"/>
            <p:nvPr/>
          </p:nvSpPr>
          <p:spPr>
            <a:xfrm>
              <a:off x="7142744" y="3496554"/>
              <a:ext cx="71388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0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(b)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83718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7" name="Group 96">
            <a:extLst>
              <a:ext uri="{FF2B5EF4-FFF2-40B4-BE49-F238E27FC236}">
                <a16:creationId xmlns:a16="http://schemas.microsoft.com/office/drawing/2014/main" id="{B8FFDF0C-D60C-2F12-95F2-BAD3459DA589}"/>
              </a:ext>
            </a:extLst>
          </p:cNvPr>
          <p:cNvGrpSpPr/>
          <p:nvPr/>
        </p:nvGrpSpPr>
        <p:grpSpPr>
          <a:xfrm>
            <a:off x="1323380" y="-157728"/>
            <a:ext cx="14511133" cy="6986825"/>
            <a:chOff x="818883" y="-64413"/>
            <a:chExt cx="14511133" cy="6986825"/>
          </a:xfrm>
        </p:grpSpPr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3EBA96F3-7CA2-A869-9397-CE0A0CF2CFCA}"/>
                </a:ext>
              </a:extLst>
            </p:cNvPr>
            <p:cNvGrpSpPr/>
            <p:nvPr/>
          </p:nvGrpSpPr>
          <p:grpSpPr>
            <a:xfrm>
              <a:off x="818883" y="-64413"/>
              <a:ext cx="9441341" cy="6986825"/>
              <a:chOff x="832979" y="-122988"/>
              <a:chExt cx="9441341" cy="6986825"/>
            </a:xfrm>
          </p:grpSpPr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58C4A582-6014-E1E2-2F19-7AD40F7624E5}"/>
                  </a:ext>
                </a:extLst>
              </p:cNvPr>
              <p:cNvGrpSpPr/>
              <p:nvPr/>
            </p:nvGrpSpPr>
            <p:grpSpPr>
              <a:xfrm>
                <a:off x="832979" y="-122988"/>
                <a:ext cx="9441341" cy="6986825"/>
                <a:chOff x="897104" y="-112478"/>
                <a:chExt cx="9441341" cy="6986825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3B33D520-E324-0FCA-18EA-ABFDA645B9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7104" y="16347"/>
                  <a:ext cx="9429750" cy="68580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</p:pic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7E5793EF-C6F8-368D-59A8-E4ABEF71D171}"/>
                    </a:ext>
                  </a:extLst>
                </p:cNvPr>
                <p:cNvSpPr/>
                <p:nvPr/>
              </p:nvSpPr>
              <p:spPr>
                <a:xfrm>
                  <a:off x="1595120" y="1310640"/>
                  <a:ext cx="243205" cy="802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73FFB800-537A-472C-02B6-FA25DFA78ECD}"/>
                    </a:ext>
                  </a:extLst>
                </p:cNvPr>
                <p:cNvSpPr/>
                <p:nvPr/>
              </p:nvSpPr>
              <p:spPr>
                <a:xfrm>
                  <a:off x="5852160" y="1310640"/>
                  <a:ext cx="243205" cy="802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53B17424-9D93-8C5C-0241-B3E3BD78E7AF}"/>
                    </a:ext>
                  </a:extLst>
                </p:cNvPr>
                <p:cNvSpPr/>
                <p:nvPr/>
              </p:nvSpPr>
              <p:spPr>
                <a:xfrm>
                  <a:off x="5811837" y="4592320"/>
                  <a:ext cx="243205" cy="802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" name="Rectangle 6">
                  <a:extLst>
                    <a:ext uri="{FF2B5EF4-FFF2-40B4-BE49-F238E27FC236}">
                      <a16:creationId xmlns:a16="http://schemas.microsoft.com/office/drawing/2014/main" id="{E87D709B-811B-0EFE-AE53-8D33387B71C6}"/>
                    </a:ext>
                  </a:extLst>
                </p:cNvPr>
                <p:cNvSpPr/>
                <p:nvPr/>
              </p:nvSpPr>
              <p:spPr>
                <a:xfrm>
                  <a:off x="1584325" y="4592320"/>
                  <a:ext cx="243205" cy="80264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A6D10336-3213-B8B3-AA42-19D028523C4E}"/>
                    </a:ext>
                  </a:extLst>
                </p:cNvPr>
                <p:cNvSpPr/>
                <p:nvPr/>
              </p:nvSpPr>
              <p:spPr>
                <a:xfrm>
                  <a:off x="2265680" y="283464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ECAB52AA-643B-3E8A-2DB4-3D54F68805BE}"/>
                    </a:ext>
                  </a:extLst>
                </p:cNvPr>
                <p:cNvSpPr/>
                <p:nvPr/>
              </p:nvSpPr>
              <p:spPr>
                <a:xfrm>
                  <a:off x="8611553" y="286512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CBBE6E69-7B9D-F170-8EAF-4B13ADF776BA}"/>
                    </a:ext>
                  </a:extLst>
                </p:cNvPr>
                <p:cNvSpPr/>
                <p:nvPr/>
              </p:nvSpPr>
              <p:spPr>
                <a:xfrm>
                  <a:off x="4401979" y="287528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9C8DDC82-7DEC-DCA4-2B4D-A43AE94282B7}"/>
                    </a:ext>
                  </a:extLst>
                </p:cNvPr>
                <p:cNvSpPr/>
                <p:nvPr/>
              </p:nvSpPr>
              <p:spPr>
                <a:xfrm>
                  <a:off x="6446837" y="283464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CF9EDFE-A164-5753-6B37-BBC997DD8163}"/>
                    </a:ext>
                  </a:extLst>
                </p:cNvPr>
                <p:cNvSpPr/>
                <p:nvPr/>
              </p:nvSpPr>
              <p:spPr>
                <a:xfrm>
                  <a:off x="8575039" y="619760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99E2BC5A-D2DA-6611-B5A4-636790A14EB2}"/>
                    </a:ext>
                  </a:extLst>
                </p:cNvPr>
                <p:cNvSpPr/>
                <p:nvPr/>
              </p:nvSpPr>
              <p:spPr>
                <a:xfrm>
                  <a:off x="6446837" y="608584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04AA8A11-7D8F-7053-6C26-5FA145F706D6}"/>
                    </a:ext>
                  </a:extLst>
                </p:cNvPr>
                <p:cNvSpPr/>
                <p:nvPr/>
              </p:nvSpPr>
              <p:spPr>
                <a:xfrm>
                  <a:off x="2943525" y="630936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E9374199-4CEF-38DF-6BDD-1D0EE212EB8E}"/>
                    </a:ext>
                  </a:extLst>
                </p:cNvPr>
                <p:cNvSpPr/>
                <p:nvPr/>
              </p:nvSpPr>
              <p:spPr>
                <a:xfrm>
                  <a:off x="2255520" y="6197600"/>
                  <a:ext cx="731520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C465F731-23BA-C7D9-C454-FC5109263BF1}"/>
                    </a:ext>
                  </a:extLst>
                </p:cNvPr>
                <p:cNvSpPr txBox="1"/>
                <p:nvPr/>
              </p:nvSpPr>
              <p:spPr>
                <a:xfrm rot="994374">
                  <a:off x="1871115" y="2835738"/>
                  <a:ext cx="20790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Cs₂TiBr₆(µm)</a:t>
                  </a:r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011A8EFC-9696-007B-8243-B3896160688E}"/>
                    </a:ext>
                  </a:extLst>
                </p:cNvPr>
                <p:cNvSpPr txBox="1"/>
                <p:nvPr/>
              </p:nvSpPr>
              <p:spPr>
                <a:xfrm rot="20289942">
                  <a:off x="3568862" y="2647659"/>
                  <a:ext cx="24853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MASnI₃(µm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25" name="TextBox 24">
                  <a:extLst>
                    <a:ext uri="{FF2B5EF4-FFF2-40B4-BE49-F238E27FC236}">
                      <a16:creationId xmlns:a16="http://schemas.microsoft.com/office/drawing/2014/main" id="{27436D93-9857-D051-360B-D04EE5AEB47F}"/>
                    </a:ext>
                  </a:extLst>
                </p:cNvPr>
                <p:cNvSpPr txBox="1"/>
                <p:nvPr/>
              </p:nvSpPr>
              <p:spPr>
                <a:xfrm rot="16200000">
                  <a:off x="299704" y="1173010"/>
                  <a:ext cx="26884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 of Cs₃Bi₂I₉(µm)</a:t>
                  </a:r>
                </a:p>
              </p:txBody>
            </p:sp>
            <p:sp>
              <p:nvSpPr>
                <p:cNvPr id="26" name="TextBox 25">
                  <a:extLst>
                    <a:ext uri="{FF2B5EF4-FFF2-40B4-BE49-F238E27FC236}">
                      <a16:creationId xmlns:a16="http://schemas.microsoft.com/office/drawing/2014/main" id="{85A5C17A-16E4-6954-73E0-1E2AF21490F1}"/>
                    </a:ext>
                  </a:extLst>
                </p:cNvPr>
                <p:cNvSpPr txBox="1"/>
                <p:nvPr/>
              </p:nvSpPr>
              <p:spPr>
                <a:xfrm rot="16200000">
                  <a:off x="4610781" y="1047084"/>
                  <a:ext cx="26884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 of Cs₃Bi₂I₉(µm)</a:t>
                  </a:r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63D7A3A-4A58-C4F4-D682-FAD8F6AD32EC}"/>
                    </a:ext>
                  </a:extLst>
                </p:cNvPr>
                <p:cNvSpPr txBox="1"/>
                <p:nvPr/>
              </p:nvSpPr>
              <p:spPr>
                <a:xfrm rot="16200000">
                  <a:off x="4629535" y="4407653"/>
                  <a:ext cx="26884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 of Cs₃Bi₂I₉(µm)</a:t>
                  </a:r>
                </a:p>
              </p:txBody>
            </p:sp>
            <p:sp>
              <p:nvSpPr>
                <p:cNvPr id="28" name="TextBox 27">
                  <a:extLst>
                    <a:ext uri="{FF2B5EF4-FFF2-40B4-BE49-F238E27FC236}">
                      <a16:creationId xmlns:a16="http://schemas.microsoft.com/office/drawing/2014/main" id="{EA087B46-D581-001B-113F-BFB9B4C40713}"/>
                    </a:ext>
                  </a:extLst>
                </p:cNvPr>
                <p:cNvSpPr txBox="1"/>
                <p:nvPr/>
              </p:nvSpPr>
              <p:spPr>
                <a:xfrm rot="16200000">
                  <a:off x="250893" y="4409482"/>
                  <a:ext cx="268845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/>
                    <a:t> 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 of Cs₃Bi₂I₉(µm)</a:t>
                  </a:r>
                </a:p>
              </p:txBody>
            </p:sp>
            <p:sp>
              <p:nvSpPr>
                <p:cNvPr id="29" name="TextBox 28">
                  <a:extLst>
                    <a:ext uri="{FF2B5EF4-FFF2-40B4-BE49-F238E27FC236}">
                      <a16:creationId xmlns:a16="http://schemas.microsoft.com/office/drawing/2014/main" id="{9DCD4897-A41B-4CD0-46B1-7351D09B3B9A}"/>
                    </a:ext>
                  </a:extLst>
                </p:cNvPr>
                <p:cNvSpPr txBox="1"/>
                <p:nvPr/>
              </p:nvSpPr>
              <p:spPr>
                <a:xfrm rot="1028407">
                  <a:off x="6134323" y="2865007"/>
                  <a:ext cx="20790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Cs₂TiBr₆(µm)</a:t>
                  </a:r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313ED656-8F10-244D-AE2F-7C6D2D710F46}"/>
                    </a:ext>
                  </a:extLst>
                </p:cNvPr>
                <p:cNvSpPr txBox="1"/>
                <p:nvPr/>
              </p:nvSpPr>
              <p:spPr>
                <a:xfrm rot="994374">
                  <a:off x="6107662" y="6114186"/>
                  <a:ext cx="20790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Cs₂TiBr₆(µm)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D2759541-A745-B63C-6E9A-77AC9F169C23}"/>
                    </a:ext>
                  </a:extLst>
                </p:cNvPr>
                <p:cNvSpPr txBox="1"/>
                <p:nvPr/>
              </p:nvSpPr>
              <p:spPr>
                <a:xfrm rot="994374">
                  <a:off x="1785635" y="6111432"/>
                  <a:ext cx="20790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Cs₂TiBr₆(µm)</a:t>
                  </a:r>
                </a:p>
              </p:txBody>
            </p:sp>
            <p:sp>
              <p:nvSpPr>
                <p:cNvPr id="32" name="Rectangle 31">
                  <a:extLst>
                    <a:ext uri="{FF2B5EF4-FFF2-40B4-BE49-F238E27FC236}">
                      <a16:creationId xmlns:a16="http://schemas.microsoft.com/office/drawing/2014/main" id="{73075DBB-1EB5-5F6C-B79C-74760D24BB23}"/>
                    </a:ext>
                  </a:extLst>
                </p:cNvPr>
                <p:cNvSpPr/>
                <p:nvPr/>
              </p:nvSpPr>
              <p:spPr>
                <a:xfrm>
                  <a:off x="4318000" y="6197600"/>
                  <a:ext cx="815499" cy="22352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D0D8800-AFF4-440A-22EB-6DC583D69433}"/>
                    </a:ext>
                  </a:extLst>
                </p:cNvPr>
                <p:cNvSpPr txBox="1"/>
                <p:nvPr/>
              </p:nvSpPr>
              <p:spPr>
                <a:xfrm rot="20289942">
                  <a:off x="3572932" y="5896842"/>
                  <a:ext cx="24853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MASnI₃(µm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483039D7-85F4-C067-7616-5AFD785CCE1A}"/>
                    </a:ext>
                  </a:extLst>
                </p:cNvPr>
                <p:cNvSpPr txBox="1"/>
                <p:nvPr/>
              </p:nvSpPr>
              <p:spPr>
                <a:xfrm rot="20289942">
                  <a:off x="7853083" y="5905631"/>
                  <a:ext cx="24853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MASnI₃(µm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A73DA2D9-F005-A84A-3DD9-0632234B4162}"/>
                    </a:ext>
                  </a:extLst>
                </p:cNvPr>
                <p:cNvSpPr txBox="1"/>
                <p:nvPr/>
              </p:nvSpPr>
              <p:spPr>
                <a:xfrm rot="20289942">
                  <a:off x="7811706" y="2667060"/>
                  <a:ext cx="248536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Thickness of MASnI₃(µm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p:grpSp>
          <p:sp>
            <p:nvSpPr>
              <p:cNvPr id="2" name="Rectangle 1">
                <a:extLst>
                  <a:ext uri="{FF2B5EF4-FFF2-40B4-BE49-F238E27FC236}">
                    <a16:creationId xmlns:a16="http://schemas.microsoft.com/office/drawing/2014/main" id="{FA51CFBE-1D7B-1344-7EB2-41342CEF59E8}"/>
                  </a:ext>
                </a:extLst>
              </p:cNvPr>
              <p:cNvSpPr/>
              <p:nvPr/>
            </p:nvSpPr>
            <p:spPr>
              <a:xfrm>
                <a:off x="2794797" y="353410"/>
                <a:ext cx="1480098" cy="10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852049B-10E7-4683-66ED-1D242014CFE9}"/>
                  </a:ext>
                </a:extLst>
              </p:cNvPr>
              <p:cNvSpPr/>
              <p:nvPr/>
            </p:nvSpPr>
            <p:spPr>
              <a:xfrm>
                <a:off x="7056729" y="3637881"/>
                <a:ext cx="1480098" cy="10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A420686-BC8C-8A7B-48D2-56B6FF398FE4}"/>
                  </a:ext>
                </a:extLst>
              </p:cNvPr>
              <p:cNvSpPr/>
              <p:nvPr/>
            </p:nvSpPr>
            <p:spPr>
              <a:xfrm>
                <a:off x="2952457" y="3632627"/>
                <a:ext cx="1480098" cy="10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05B84916-0FDD-7072-3E54-B02600756DB1}"/>
                  </a:ext>
                </a:extLst>
              </p:cNvPr>
              <p:cNvSpPr/>
              <p:nvPr/>
            </p:nvSpPr>
            <p:spPr>
              <a:xfrm>
                <a:off x="7232920" y="373023"/>
                <a:ext cx="1480098" cy="10437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1A5E9EA3-5B51-1D2B-598D-E5D87742664D}"/>
                  </a:ext>
                </a:extLst>
              </p:cNvPr>
              <p:cNvSpPr txBox="1"/>
              <p:nvPr/>
            </p:nvSpPr>
            <p:spPr>
              <a:xfrm>
                <a:off x="7433708" y="3415541"/>
                <a:ext cx="5699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(h)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64767CF-9E82-5B14-AD3F-04A04EF64781}"/>
                  </a:ext>
                </a:extLst>
              </p:cNvPr>
              <p:cNvSpPr txBox="1"/>
              <p:nvPr/>
            </p:nvSpPr>
            <p:spPr>
              <a:xfrm>
                <a:off x="3253704" y="3398444"/>
                <a:ext cx="163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72311E3-B430-6DB9-27B4-3228DA7A5122}"/>
                  </a:ext>
                </a:extLst>
              </p:cNvPr>
              <p:cNvSpPr txBox="1"/>
              <p:nvPr/>
            </p:nvSpPr>
            <p:spPr>
              <a:xfrm>
                <a:off x="7475625" y="153712"/>
                <a:ext cx="163005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(f)</a:t>
                </a:r>
              </a:p>
            </p:txBody>
          </p:sp>
        </p:grp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531AFA9-0525-1BA6-B08A-69988D0A2E98}"/>
                </a:ext>
              </a:extLst>
            </p:cNvPr>
            <p:cNvSpPr txBox="1"/>
            <p:nvPr/>
          </p:nvSpPr>
          <p:spPr>
            <a:xfrm>
              <a:off x="4987950" y="190051"/>
              <a:ext cx="1035047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PCE(%)</a:t>
              </a:r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0801C08-A0A7-E0F1-512D-24D665A7E89C}"/>
                </a:ext>
              </a:extLst>
            </p:cNvPr>
            <p:cNvSpPr txBox="1"/>
            <p:nvPr/>
          </p:nvSpPr>
          <p:spPr>
            <a:xfrm>
              <a:off x="9234016" y="186313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</a:t>
              </a:r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endParaRPr lang="en-US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29020901-0CC1-174F-2741-47CB0937939C}"/>
                </a:ext>
              </a:extLst>
            </p:cNvPr>
            <p:cNvSpPr txBox="1"/>
            <p:nvPr/>
          </p:nvSpPr>
          <p:spPr>
            <a:xfrm>
              <a:off x="4651062" y="3460114"/>
              <a:ext cx="137193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(mA/cm²)</a:t>
              </a:r>
              <a:endParaRPr lang="en-US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70F28456-E840-B5D6-C292-29A2A50C5957}"/>
                </a:ext>
              </a:extLst>
            </p:cNvPr>
            <p:cNvSpPr txBox="1"/>
            <p:nvPr/>
          </p:nvSpPr>
          <p:spPr>
            <a:xfrm>
              <a:off x="9304182" y="3489839"/>
              <a:ext cx="101324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FF(%)</a:t>
              </a:r>
              <a:endParaRPr lang="en-US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5C15AC37-D42A-4E1D-40B1-5C27BD7A1B7D}"/>
                </a:ext>
              </a:extLst>
            </p:cNvPr>
            <p:cNvSpPr/>
            <p:nvPr/>
          </p:nvSpPr>
          <p:spPr>
            <a:xfrm>
              <a:off x="2742245" y="3699376"/>
              <a:ext cx="363900" cy="15979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3D8068B-66D5-836B-5855-F9308C21F606}"/>
                </a:ext>
              </a:extLst>
            </p:cNvPr>
            <p:cNvSpPr/>
            <p:nvPr/>
          </p:nvSpPr>
          <p:spPr>
            <a:xfrm>
              <a:off x="6868391" y="370979"/>
              <a:ext cx="524340" cy="2106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E140B83-65B5-4927-C1E2-67EB2FD0A2BE}"/>
                </a:ext>
              </a:extLst>
            </p:cNvPr>
            <p:cNvSpPr/>
            <p:nvPr/>
          </p:nvSpPr>
          <p:spPr>
            <a:xfrm>
              <a:off x="2554014" y="207333"/>
              <a:ext cx="1864445" cy="32100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52D4B9B8-E75D-D689-51D0-A4FFC99513C4}"/>
                </a:ext>
              </a:extLst>
            </p:cNvPr>
            <p:cNvSpPr/>
            <p:nvPr/>
          </p:nvSpPr>
          <p:spPr>
            <a:xfrm>
              <a:off x="2165131" y="207333"/>
              <a:ext cx="773230" cy="37614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D3E5F077-69AA-137E-DB5E-65F6321D0923}"/>
                </a:ext>
              </a:extLst>
            </p:cNvPr>
            <p:cNvSpPr/>
            <p:nvPr/>
          </p:nvSpPr>
          <p:spPr>
            <a:xfrm>
              <a:off x="6823676" y="3536717"/>
              <a:ext cx="595936" cy="3495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D8B2DE65-FE6E-137C-E483-06652D1346D3}"/>
                </a:ext>
              </a:extLst>
            </p:cNvPr>
            <p:cNvSpPr txBox="1"/>
            <p:nvPr/>
          </p:nvSpPr>
          <p:spPr>
            <a:xfrm>
              <a:off x="3152173" y="215395"/>
              <a:ext cx="332355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  <a:endParaRPr lang="en-US" sz="16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617376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DCB967E-08EB-04A5-ED30-92EB71B36B26}"/>
              </a:ext>
            </a:extLst>
          </p:cNvPr>
          <p:cNvGrpSpPr/>
          <p:nvPr/>
        </p:nvGrpSpPr>
        <p:grpSpPr>
          <a:xfrm>
            <a:off x="1570840" y="-766438"/>
            <a:ext cx="9199756" cy="7624438"/>
            <a:chOff x="1478242" y="-746118"/>
            <a:chExt cx="9199756" cy="762443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1DAEBCE-83D9-6630-414E-AB787AEE08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78242" y="0"/>
              <a:ext cx="9199756" cy="6858000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6290D14-749B-E79B-B9CB-23199755BDC9}"/>
                </a:ext>
              </a:extLst>
            </p:cNvPr>
            <p:cNvSpPr/>
            <p:nvPr/>
          </p:nvSpPr>
          <p:spPr>
            <a:xfrm>
              <a:off x="3373120" y="91440"/>
              <a:ext cx="386080" cy="203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963C92E3-8E2E-5766-ED72-3D28CD2BF8B6}"/>
                </a:ext>
              </a:extLst>
            </p:cNvPr>
            <p:cNvSpPr/>
            <p:nvPr/>
          </p:nvSpPr>
          <p:spPr>
            <a:xfrm>
              <a:off x="7965442" y="3373120"/>
              <a:ext cx="50800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F905FCDB-83BD-5501-5661-EAEA3C63114C}"/>
                </a:ext>
              </a:extLst>
            </p:cNvPr>
            <p:cNvSpPr/>
            <p:nvPr/>
          </p:nvSpPr>
          <p:spPr>
            <a:xfrm>
              <a:off x="3332480" y="3373120"/>
              <a:ext cx="508000" cy="3352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554212-FBF4-F12A-C3F4-564FB899F165}"/>
                </a:ext>
              </a:extLst>
            </p:cNvPr>
            <p:cNvSpPr/>
            <p:nvPr/>
          </p:nvSpPr>
          <p:spPr>
            <a:xfrm>
              <a:off x="7965442" y="91440"/>
              <a:ext cx="386080" cy="2032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18BC430-6ABE-5D3C-67B7-D16C293505FB}"/>
                </a:ext>
              </a:extLst>
            </p:cNvPr>
            <p:cNvSpPr/>
            <p:nvPr/>
          </p:nvSpPr>
          <p:spPr>
            <a:xfrm>
              <a:off x="1496122" y="1341120"/>
              <a:ext cx="200598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15C1136-862C-D82D-075D-9EA9306B23F7}"/>
                </a:ext>
              </a:extLst>
            </p:cNvPr>
            <p:cNvSpPr/>
            <p:nvPr/>
          </p:nvSpPr>
          <p:spPr>
            <a:xfrm>
              <a:off x="6116320" y="4754880"/>
              <a:ext cx="200598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31BD2E5-1EBA-381C-B2FF-6ECEC6D19BAD}"/>
                </a:ext>
              </a:extLst>
            </p:cNvPr>
            <p:cNvSpPr/>
            <p:nvPr/>
          </p:nvSpPr>
          <p:spPr>
            <a:xfrm>
              <a:off x="6172200" y="1290320"/>
              <a:ext cx="200598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C7DF6DF-2836-D0AE-A3F0-7D16C677653C}"/>
                </a:ext>
              </a:extLst>
            </p:cNvPr>
            <p:cNvSpPr/>
            <p:nvPr/>
          </p:nvSpPr>
          <p:spPr>
            <a:xfrm>
              <a:off x="1548223" y="4754880"/>
              <a:ext cx="200598" cy="6096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04F263E-DE00-DB12-CF6D-63CA70AA093F}"/>
                </a:ext>
              </a:extLst>
            </p:cNvPr>
            <p:cNvSpPr/>
            <p:nvPr/>
          </p:nvSpPr>
          <p:spPr>
            <a:xfrm>
              <a:off x="3190240" y="6746240"/>
              <a:ext cx="650240" cy="111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CF22B8D-7369-AF1D-8121-09D14FC1AF60}"/>
                </a:ext>
              </a:extLst>
            </p:cNvPr>
            <p:cNvSpPr/>
            <p:nvPr/>
          </p:nvSpPr>
          <p:spPr>
            <a:xfrm>
              <a:off x="7701282" y="6766560"/>
              <a:ext cx="650240" cy="11176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FD2872AA-FA8A-9D6D-A9C9-BAF6EBB4122C}"/>
                </a:ext>
              </a:extLst>
            </p:cNvPr>
            <p:cNvSpPr txBox="1"/>
            <p:nvPr/>
          </p:nvSpPr>
          <p:spPr>
            <a:xfrm>
              <a:off x="2743137" y="3219228"/>
              <a:ext cx="267208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(cm⁻³)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2B30B2C4-6784-B188-1C87-F38F40EA93C2}"/>
                </a:ext>
              </a:extLst>
            </p:cNvPr>
            <p:cNvSpPr txBox="1"/>
            <p:nvPr/>
          </p:nvSpPr>
          <p:spPr>
            <a:xfrm rot="16200000">
              <a:off x="16578" y="746706"/>
              <a:ext cx="3251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2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EBB11B31-3DDF-7EBC-B9FE-4B61D080FF75}"/>
                </a:ext>
              </a:extLst>
            </p:cNvPr>
            <p:cNvSpPr txBox="1"/>
            <p:nvPr/>
          </p:nvSpPr>
          <p:spPr>
            <a:xfrm rot="16200000">
              <a:off x="16579" y="4125777"/>
              <a:ext cx="3251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2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  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269077EE-DA41-0438-606E-58CD1EF896BA}"/>
                </a:ext>
              </a:extLst>
            </p:cNvPr>
            <p:cNvSpPr txBox="1"/>
            <p:nvPr/>
          </p:nvSpPr>
          <p:spPr>
            <a:xfrm rot="16200000">
              <a:off x="4591020" y="740982"/>
              <a:ext cx="3251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MASnI₃ (cm⁻³)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8F141E-06DA-DFF2-96B5-9B84519692EA}"/>
                </a:ext>
              </a:extLst>
            </p:cNvPr>
            <p:cNvSpPr txBox="1"/>
            <p:nvPr/>
          </p:nvSpPr>
          <p:spPr>
            <a:xfrm rot="16200000">
              <a:off x="4651916" y="4159824"/>
              <a:ext cx="3251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2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MASnI₃ (cm⁻³)</a:t>
              </a:r>
            </a:p>
          </p:txBody>
        </p:sp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18A37D6C-727E-C307-55D2-D4B7F22C81BB}"/>
              </a:ext>
            </a:extLst>
          </p:cNvPr>
          <p:cNvSpPr txBox="1"/>
          <p:nvPr/>
        </p:nvSpPr>
        <p:spPr>
          <a:xfrm>
            <a:off x="7409118" y="3219228"/>
            <a:ext cx="267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Cs₃Bi₂I₉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(cm⁻³)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ADE4D0A-5A10-3773-4D79-D135E7D042C5}"/>
              </a:ext>
            </a:extLst>
          </p:cNvPr>
          <p:cNvSpPr txBox="1"/>
          <p:nvPr/>
        </p:nvSpPr>
        <p:spPr>
          <a:xfrm>
            <a:off x="7441392" y="6598532"/>
            <a:ext cx="267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Cs₃Bi₂I₉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(cm⁻³)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9C25A3B2-8875-5588-9AE1-6E7CCD7FD1A2}"/>
              </a:ext>
            </a:extLst>
          </p:cNvPr>
          <p:cNvSpPr txBox="1"/>
          <p:nvPr/>
        </p:nvSpPr>
        <p:spPr>
          <a:xfrm>
            <a:off x="2675667" y="6578980"/>
            <a:ext cx="26720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en-US" sz="14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sz="1200" b="1">
                <a:latin typeface="Times New Roman" panose="02020603050405020304" pitchFamily="18" charset="0"/>
                <a:cs typeface="Times New Roman" panose="02020603050405020304" pitchFamily="18" charset="0"/>
              </a:rPr>
              <a:t>Cs₃Bi₂I₉ </a:t>
            </a:r>
            <a:r>
              <a:rPr lang="en-US" sz="1400" b="1">
                <a:latin typeface="Times New Roman" panose="02020603050405020304" pitchFamily="18" charset="0"/>
                <a:cs typeface="Times New Roman" panose="02020603050405020304" pitchFamily="18" charset="0"/>
              </a:rPr>
              <a:t>(cm⁻³)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FD2931-D58D-9F84-46FE-1034C897B177}"/>
              </a:ext>
            </a:extLst>
          </p:cNvPr>
          <p:cNvSpPr/>
          <p:nvPr/>
        </p:nvSpPr>
        <p:spPr>
          <a:xfrm>
            <a:off x="5798127" y="1270000"/>
            <a:ext cx="223156" cy="797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6AF906F-55F6-44F1-7E1E-EA9300800670}"/>
              </a:ext>
            </a:extLst>
          </p:cNvPr>
          <p:cNvSpPr/>
          <p:nvPr/>
        </p:nvSpPr>
        <p:spPr>
          <a:xfrm>
            <a:off x="10432297" y="4567390"/>
            <a:ext cx="211120" cy="89188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E055BFF-8896-6DE6-84D0-3C0D7A8C08DC}"/>
              </a:ext>
            </a:extLst>
          </p:cNvPr>
          <p:cNvSpPr/>
          <p:nvPr/>
        </p:nvSpPr>
        <p:spPr>
          <a:xfrm>
            <a:off x="5882334" y="4546369"/>
            <a:ext cx="223156" cy="797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064835-D75B-393B-4806-4B1A75C774C9}"/>
              </a:ext>
            </a:extLst>
          </p:cNvPr>
          <p:cNvSpPr/>
          <p:nvPr/>
        </p:nvSpPr>
        <p:spPr>
          <a:xfrm>
            <a:off x="10422560" y="1288274"/>
            <a:ext cx="223156" cy="797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473692F-EEEB-44FB-71B1-A5082E38F563}"/>
              </a:ext>
            </a:extLst>
          </p:cNvPr>
          <p:cNvSpPr txBox="1"/>
          <p:nvPr/>
        </p:nvSpPr>
        <p:spPr>
          <a:xfrm rot="16200000">
            <a:off x="2874992" y="-1234747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PCE(%)</a:t>
            </a:r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D7DC920-CB11-52D1-75E0-A59E3505EA83}"/>
              </a:ext>
            </a:extLst>
          </p:cNvPr>
          <p:cNvSpPr txBox="1"/>
          <p:nvPr/>
        </p:nvSpPr>
        <p:spPr>
          <a:xfrm rot="16200000">
            <a:off x="5260043" y="4465503"/>
            <a:ext cx="14596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C925E9-F850-39D1-36D5-761B01561A69}"/>
              </a:ext>
            </a:extLst>
          </p:cNvPr>
          <p:cNvSpPr txBox="1"/>
          <p:nvPr/>
        </p:nvSpPr>
        <p:spPr>
          <a:xfrm rot="16200000">
            <a:off x="7503399" y="24126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(mA/cm²)</a:t>
            </a:r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370B171-55BD-C505-A56E-7152E880A6BC}"/>
              </a:ext>
            </a:extLst>
          </p:cNvPr>
          <p:cNvSpPr txBox="1"/>
          <p:nvPr/>
        </p:nvSpPr>
        <p:spPr>
          <a:xfrm rot="16200000">
            <a:off x="7517333" y="-127022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FF(%)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5344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roup 81">
            <a:extLst>
              <a:ext uri="{FF2B5EF4-FFF2-40B4-BE49-F238E27FC236}">
                <a16:creationId xmlns:a16="http://schemas.microsoft.com/office/drawing/2014/main" id="{53B55DBA-A9B5-7997-65A7-97FF840203E0}"/>
              </a:ext>
            </a:extLst>
          </p:cNvPr>
          <p:cNvGrpSpPr/>
          <p:nvPr/>
        </p:nvGrpSpPr>
        <p:grpSpPr>
          <a:xfrm>
            <a:off x="1592195" y="736551"/>
            <a:ext cx="10042759" cy="5874456"/>
            <a:chOff x="1108719" y="117599"/>
            <a:chExt cx="10362304" cy="6750561"/>
          </a:xfrm>
        </p:grpSpPr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BD7011D7-5B6D-8386-50A3-68BE382C2707}"/>
                </a:ext>
              </a:extLst>
            </p:cNvPr>
            <p:cNvGrpSpPr/>
            <p:nvPr/>
          </p:nvGrpSpPr>
          <p:grpSpPr>
            <a:xfrm>
              <a:off x="1108719" y="132956"/>
              <a:ext cx="9685348" cy="6735204"/>
              <a:chOff x="1095729" y="136633"/>
              <a:chExt cx="9685348" cy="6735204"/>
            </a:xfrm>
            <a:solidFill>
              <a:schemeClr val="bg1"/>
            </a:solidFill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8992726-8A38-F4B2-77AD-BF0F8D9D8AC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099194" y="136633"/>
                <a:ext cx="9681883" cy="6721366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D8B5E78D-053B-FC19-133C-4A9F9E11E9D7}"/>
                  </a:ext>
                </a:extLst>
              </p:cNvPr>
              <p:cNvSpPr/>
              <p:nvPr/>
            </p:nvSpPr>
            <p:spPr>
              <a:xfrm>
                <a:off x="1099194" y="1388962"/>
                <a:ext cx="311729" cy="89125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58BBA6BD-6406-EFAD-C767-A4A1FEA270E9}"/>
                  </a:ext>
                </a:extLst>
              </p:cNvPr>
              <p:cNvSpPr/>
              <p:nvPr/>
            </p:nvSpPr>
            <p:spPr>
              <a:xfrm>
                <a:off x="5865667" y="1540230"/>
                <a:ext cx="311729" cy="89125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791A6E11-29CE-A257-60F5-99A024F16811}"/>
                  </a:ext>
                </a:extLst>
              </p:cNvPr>
              <p:cNvSpPr/>
              <p:nvPr/>
            </p:nvSpPr>
            <p:spPr>
              <a:xfrm>
                <a:off x="1095729" y="4680030"/>
                <a:ext cx="311729" cy="89125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E044D819-41D7-28A5-829A-B13A340CE145}"/>
                  </a:ext>
                </a:extLst>
              </p:cNvPr>
              <p:cNvSpPr/>
              <p:nvPr/>
            </p:nvSpPr>
            <p:spPr>
              <a:xfrm flipH="1">
                <a:off x="6021532" y="4726329"/>
                <a:ext cx="145471" cy="891251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D3F9A52-08DA-59A7-4A07-2F0B66D109D3}"/>
                  </a:ext>
                </a:extLst>
              </p:cNvPr>
              <p:cNvSpPr/>
              <p:nvPr/>
            </p:nvSpPr>
            <p:spPr>
              <a:xfrm>
                <a:off x="2060294" y="3264061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F95E9F-D824-43EE-3E71-F75C198FF696}"/>
                  </a:ext>
                </a:extLst>
              </p:cNvPr>
              <p:cNvSpPr/>
              <p:nvPr/>
            </p:nvSpPr>
            <p:spPr>
              <a:xfrm>
                <a:off x="2060294" y="6570895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831716F9-F998-9B67-566E-CFE528AABCD4}"/>
                  </a:ext>
                </a:extLst>
              </p:cNvPr>
              <p:cNvSpPr/>
              <p:nvPr/>
            </p:nvSpPr>
            <p:spPr>
              <a:xfrm>
                <a:off x="4263341" y="3278529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/>
                  <a:t>Nₐ of MASnI₃ (cm⁻³)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A0E73D94-5C57-271E-1DF8-576FF474A36A}"/>
                  </a:ext>
                </a:extLst>
              </p:cNvPr>
              <p:cNvSpPr/>
              <p:nvPr/>
            </p:nvSpPr>
            <p:spPr>
              <a:xfrm>
                <a:off x="6915873" y="3278529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D760320-9E3F-380E-CCC0-2A597ACB8171}"/>
                  </a:ext>
                </a:extLst>
              </p:cNvPr>
              <p:cNvSpPr/>
              <p:nvPr/>
            </p:nvSpPr>
            <p:spPr>
              <a:xfrm>
                <a:off x="6869574" y="6563977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B71DE297-C779-EE63-A3A2-FF498C226BFF}"/>
                  </a:ext>
                </a:extLst>
              </p:cNvPr>
              <p:cNvSpPr/>
              <p:nvPr/>
            </p:nvSpPr>
            <p:spPr>
              <a:xfrm>
                <a:off x="9066836" y="3262465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95F0A9AA-3A2E-EB24-4B88-FD956D79685D}"/>
                  </a:ext>
                </a:extLst>
              </p:cNvPr>
              <p:cNvSpPr/>
              <p:nvPr/>
            </p:nvSpPr>
            <p:spPr>
              <a:xfrm>
                <a:off x="4257553" y="6482323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0F61966-6285-2A1D-A856-4E76EBF15862}"/>
                  </a:ext>
                </a:extLst>
              </p:cNvPr>
              <p:cNvSpPr/>
              <p:nvPr/>
            </p:nvSpPr>
            <p:spPr>
              <a:xfrm>
                <a:off x="9001243" y="6482323"/>
                <a:ext cx="601883" cy="300942"/>
              </a:xfrm>
              <a:prstGeom prst="rect">
                <a:avLst/>
              </a:prstGeom>
              <a:grp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9C2A8CC-37AB-5306-C2F3-39585C816181}"/>
                </a:ext>
              </a:extLst>
            </p:cNvPr>
            <p:cNvSpPr/>
            <p:nvPr/>
          </p:nvSpPr>
          <p:spPr>
            <a:xfrm>
              <a:off x="2543979" y="127759"/>
              <a:ext cx="1586932" cy="196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142B4676-D497-4CE3-1EAE-7F6013C94B88}"/>
                </a:ext>
              </a:extLst>
            </p:cNvPr>
            <p:cNvSpPr/>
            <p:nvPr/>
          </p:nvSpPr>
          <p:spPr>
            <a:xfrm>
              <a:off x="7574982" y="3528074"/>
              <a:ext cx="1122161" cy="11062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7BE4E76-A65A-305A-0467-899AF3B3EC24}"/>
                </a:ext>
              </a:extLst>
            </p:cNvPr>
            <p:cNvSpPr/>
            <p:nvPr/>
          </p:nvSpPr>
          <p:spPr>
            <a:xfrm>
              <a:off x="2669079" y="3513897"/>
              <a:ext cx="1362416" cy="13373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9BED78D1-D278-496F-AD70-DB13FEFEC817}"/>
                </a:ext>
              </a:extLst>
            </p:cNvPr>
            <p:cNvSpPr/>
            <p:nvPr/>
          </p:nvSpPr>
          <p:spPr>
            <a:xfrm>
              <a:off x="7494607" y="117599"/>
              <a:ext cx="1187091" cy="196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DE6D4331-CDB8-FC47-6F64-F7FDEF68DE66}"/>
                </a:ext>
              </a:extLst>
            </p:cNvPr>
            <p:cNvSpPr/>
            <p:nvPr/>
          </p:nvSpPr>
          <p:spPr>
            <a:xfrm>
              <a:off x="5670205" y="1375125"/>
              <a:ext cx="280497" cy="89125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B94D5446-6C81-1CDC-B923-2541EA092DCA}"/>
                </a:ext>
              </a:extLst>
            </p:cNvPr>
            <p:cNvSpPr/>
            <p:nvPr/>
          </p:nvSpPr>
          <p:spPr>
            <a:xfrm>
              <a:off x="5750560" y="4666193"/>
              <a:ext cx="200142" cy="79988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68F1D840-F19E-8EA7-E782-31C17990AF3B}"/>
                </a:ext>
              </a:extLst>
            </p:cNvPr>
            <p:cNvSpPr/>
            <p:nvPr/>
          </p:nvSpPr>
          <p:spPr>
            <a:xfrm>
              <a:off x="10556240" y="1526393"/>
              <a:ext cx="163262" cy="6580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797EA531-8A61-17D1-792D-33F0A53DAFC2}"/>
                </a:ext>
              </a:extLst>
            </p:cNvPr>
            <p:cNvSpPr/>
            <p:nvPr/>
          </p:nvSpPr>
          <p:spPr>
            <a:xfrm>
              <a:off x="10444480" y="4836160"/>
              <a:ext cx="111760" cy="54204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97304E4-1F24-C6D9-1F48-C364263D0CAA}"/>
                </a:ext>
              </a:extLst>
            </p:cNvPr>
            <p:cNvSpPr txBox="1"/>
            <p:nvPr/>
          </p:nvSpPr>
          <p:spPr>
            <a:xfrm>
              <a:off x="1527367" y="155286"/>
              <a:ext cx="861509" cy="671987"/>
            </a:xfrm>
            <a:prstGeom prst="rect">
              <a:avLst/>
            </a:prstGeom>
            <a:noFill/>
            <a:ln>
              <a:solidFill>
                <a:schemeClr val="bg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(e)</a:t>
              </a:r>
            </a:p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5CF3865B-4B30-163D-CBB8-282E555D41B9}"/>
                </a:ext>
              </a:extLst>
            </p:cNvPr>
            <p:cNvSpPr txBox="1"/>
            <p:nvPr/>
          </p:nvSpPr>
          <p:spPr>
            <a:xfrm>
              <a:off x="6299379" y="145068"/>
              <a:ext cx="1011498" cy="424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(f)</a:t>
              </a:r>
              <a:endParaRPr 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A1FF80F-06AD-962D-5653-0DD972EC746C}"/>
                </a:ext>
              </a:extLst>
            </p:cNvPr>
            <p:cNvSpPr txBox="1"/>
            <p:nvPr/>
          </p:nvSpPr>
          <p:spPr>
            <a:xfrm>
              <a:off x="1508320" y="3470401"/>
              <a:ext cx="1630056" cy="424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(g)</a:t>
              </a:r>
              <a:endParaRPr 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0FB05C66-75C5-F8A1-6D3D-F3848D1D9685}"/>
                </a:ext>
              </a:extLst>
            </p:cNvPr>
            <p:cNvSpPr txBox="1"/>
            <p:nvPr/>
          </p:nvSpPr>
          <p:spPr>
            <a:xfrm rot="882392">
              <a:off x="6375371" y="6519461"/>
              <a:ext cx="26158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Cs₂TiBr₆ (cm⁻³)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0D5CA3B1-5CA1-081B-DFA8-932C6ADC93C1}"/>
                </a:ext>
              </a:extLst>
            </p:cNvPr>
            <p:cNvSpPr txBox="1"/>
            <p:nvPr/>
          </p:nvSpPr>
          <p:spPr>
            <a:xfrm rot="969445">
              <a:off x="1531000" y="6519461"/>
              <a:ext cx="26158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Cs₂TiBr₆ (cm⁻³)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760613FD-84AF-E450-DA0A-429C6D311D78}"/>
                </a:ext>
              </a:extLst>
            </p:cNvPr>
            <p:cNvSpPr txBox="1"/>
            <p:nvPr/>
          </p:nvSpPr>
          <p:spPr>
            <a:xfrm rot="20344210">
              <a:off x="8392157" y="6016269"/>
              <a:ext cx="3078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7D66333-015B-C34F-5145-54E3EBC95237}"/>
                </a:ext>
              </a:extLst>
            </p:cNvPr>
            <p:cNvSpPr txBox="1"/>
            <p:nvPr/>
          </p:nvSpPr>
          <p:spPr>
            <a:xfrm rot="20320582">
              <a:off x="8362665" y="2693334"/>
              <a:ext cx="3078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A0639C0F-5A3C-E60D-9685-4E1D5FF10FD4}"/>
                </a:ext>
              </a:extLst>
            </p:cNvPr>
            <p:cNvSpPr txBox="1"/>
            <p:nvPr/>
          </p:nvSpPr>
          <p:spPr>
            <a:xfrm rot="20223788">
              <a:off x="3457910" y="6057780"/>
              <a:ext cx="3078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52186A73-F749-B228-7DA0-F2813224C92A}"/>
                </a:ext>
              </a:extLst>
            </p:cNvPr>
            <p:cNvSpPr txBox="1"/>
            <p:nvPr/>
          </p:nvSpPr>
          <p:spPr>
            <a:xfrm rot="16200000">
              <a:off x="235897" y="1612015"/>
              <a:ext cx="2186215" cy="317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Cs₃Bi₂I₉ (cm⁻³)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4EF2575-4537-F7F3-C910-87E96C861F90}"/>
                </a:ext>
              </a:extLst>
            </p:cNvPr>
            <p:cNvSpPr txBox="1"/>
            <p:nvPr/>
          </p:nvSpPr>
          <p:spPr>
            <a:xfrm rot="16200000">
              <a:off x="4510457" y="4366049"/>
              <a:ext cx="3217119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Cs₃Bi₂I₉ (cm⁻³)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C1912E5D-D760-9281-05D7-36A720593B9C}"/>
                </a:ext>
              </a:extLst>
            </p:cNvPr>
            <p:cNvSpPr txBox="1"/>
            <p:nvPr/>
          </p:nvSpPr>
          <p:spPr>
            <a:xfrm rot="16200000">
              <a:off x="126251" y="4779210"/>
              <a:ext cx="2372847" cy="317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</a:t>
              </a:r>
              <a:r>
                <a:rPr lang="en-US" sz="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Cs₃Bi₂I₉ (cm⁻³)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FD493D74-CAF5-8CEB-9C5E-F6E63E3D0F32}"/>
                </a:ext>
              </a:extLst>
            </p:cNvPr>
            <p:cNvSpPr txBox="1"/>
            <p:nvPr/>
          </p:nvSpPr>
          <p:spPr>
            <a:xfrm>
              <a:off x="6277177" y="3528074"/>
              <a:ext cx="735427" cy="4244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(h)</a:t>
              </a:r>
              <a:endParaRPr lang="en-US" sz="1400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5" name="Rectangle 64">
              <a:extLst>
                <a:ext uri="{FF2B5EF4-FFF2-40B4-BE49-F238E27FC236}">
                  <a16:creationId xmlns:a16="http://schemas.microsoft.com/office/drawing/2014/main" id="{4F3BDB3E-A77E-224E-338F-A1B5287883A7}"/>
                </a:ext>
              </a:extLst>
            </p:cNvPr>
            <p:cNvSpPr/>
            <p:nvPr/>
          </p:nvSpPr>
          <p:spPr>
            <a:xfrm rot="20265707">
              <a:off x="7564822" y="3507754"/>
              <a:ext cx="257382" cy="196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6" name="Rectangle 65">
              <a:extLst>
                <a:ext uri="{FF2B5EF4-FFF2-40B4-BE49-F238E27FC236}">
                  <a16:creationId xmlns:a16="http://schemas.microsoft.com/office/drawing/2014/main" id="{BC475C0B-0F2C-F966-D819-D71B1D71B686}"/>
                </a:ext>
              </a:extLst>
            </p:cNvPr>
            <p:cNvSpPr/>
            <p:nvPr/>
          </p:nvSpPr>
          <p:spPr>
            <a:xfrm>
              <a:off x="8128000" y="3637996"/>
              <a:ext cx="859468" cy="5015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Isosceles Triangle 67">
              <a:extLst>
                <a:ext uri="{FF2B5EF4-FFF2-40B4-BE49-F238E27FC236}">
                  <a16:creationId xmlns:a16="http://schemas.microsoft.com/office/drawing/2014/main" id="{38132482-0089-7ED3-D9B6-8142569A6EFD}"/>
                </a:ext>
              </a:extLst>
            </p:cNvPr>
            <p:cNvSpPr/>
            <p:nvPr/>
          </p:nvSpPr>
          <p:spPr>
            <a:xfrm>
              <a:off x="7762240" y="3580766"/>
              <a:ext cx="185265" cy="66870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Isosceles Triangle 69">
              <a:extLst>
                <a:ext uri="{FF2B5EF4-FFF2-40B4-BE49-F238E27FC236}">
                  <a16:creationId xmlns:a16="http://schemas.microsoft.com/office/drawing/2014/main" id="{1FF0F3FE-9717-416A-6D35-FAD5A6DDB0D4}"/>
                </a:ext>
              </a:extLst>
            </p:cNvPr>
            <p:cNvSpPr/>
            <p:nvPr/>
          </p:nvSpPr>
          <p:spPr>
            <a:xfrm>
              <a:off x="8117840" y="226206"/>
              <a:ext cx="717063" cy="10860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Isosceles Triangle 71">
              <a:extLst>
                <a:ext uri="{FF2B5EF4-FFF2-40B4-BE49-F238E27FC236}">
                  <a16:creationId xmlns:a16="http://schemas.microsoft.com/office/drawing/2014/main" id="{7B6A3418-A949-807C-2360-8AE6E9BEAC1C}"/>
                </a:ext>
              </a:extLst>
            </p:cNvPr>
            <p:cNvSpPr/>
            <p:nvPr/>
          </p:nvSpPr>
          <p:spPr>
            <a:xfrm>
              <a:off x="7380515" y="289094"/>
              <a:ext cx="556830" cy="45719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C2A2CAD8-C4ED-8161-B175-FF22BDD54E7A}"/>
                </a:ext>
              </a:extLst>
            </p:cNvPr>
            <p:cNvSpPr/>
            <p:nvPr/>
          </p:nvSpPr>
          <p:spPr>
            <a:xfrm>
              <a:off x="7390675" y="226206"/>
              <a:ext cx="371565" cy="19689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Isosceles Triangle 73">
              <a:extLst>
                <a:ext uri="{FF2B5EF4-FFF2-40B4-BE49-F238E27FC236}">
                  <a16:creationId xmlns:a16="http://schemas.microsoft.com/office/drawing/2014/main" id="{D46A865E-B44A-4B20-8376-AA9F91AB1BEE}"/>
                </a:ext>
              </a:extLst>
            </p:cNvPr>
            <p:cNvSpPr/>
            <p:nvPr/>
          </p:nvSpPr>
          <p:spPr>
            <a:xfrm>
              <a:off x="7937345" y="236366"/>
              <a:ext cx="355600" cy="8828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6BB8AC7D-5C13-97B4-0B7F-AF41E8F4D477}"/>
                </a:ext>
              </a:extLst>
            </p:cNvPr>
            <p:cNvSpPr/>
            <p:nvPr/>
          </p:nvSpPr>
          <p:spPr>
            <a:xfrm>
              <a:off x="2669079" y="289094"/>
              <a:ext cx="511596" cy="5091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Isosceles Triangle 75">
              <a:extLst>
                <a:ext uri="{FF2B5EF4-FFF2-40B4-BE49-F238E27FC236}">
                  <a16:creationId xmlns:a16="http://schemas.microsoft.com/office/drawing/2014/main" id="{BEFD02BD-7A04-780C-A360-B57BAA48CAF4}"/>
                </a:ext>
              </a:extLst>
            </p:cNvPr>
            <p:cNvSpPr/>
            <p:nvPr/>
          </p:nvSpPr>
          <p:spPr>
            <a:xfrm>
              <a:off x="3261360" y="304333"/>
              <a:ext cx="839071" cy="5091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D77C2C59-F662-804F-4C8E-E52403671D8C}"/>
                </a:ext>
              </a:extLst>
            </p:cNvPr>
            <p:cNvSpPr/>
            <p:nvPr/>
          </p:nvSpPr>
          <p:spPr>
            <a:xfrm>
              <a:off x="2179048" y="333985"/>
              <a:ext cx="627247" cy="18673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Rectangle 77">
              <a:extLst>
                <a:ext uri="{FF2B5EF4-FFF2-40B4-BE49-F238E27FC236}">
                  <a16:creationId xmlns:a16="http://schemas.microsoft.com/office/drawing/2014/main" id="{687F00EF-B043-311D-F535-F6C5DC6D83CC}"/>
                </a:ext>
              </a:extLst>
            </p:cNvPr>
            <p:cNvSpPr/>
            <p:nvPr/>
          </p:nvSpPr>
          <p:spPr>
            <a:xfrm>
              <a:off x="2669079" y="3528074"/>
              <a:ext cx="389081" cy="1600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DEFDA8AF-8F96-6925-03E2-CFDD9A9A3736}"/>
                </a:ext>
              </a:extLst>
            </p:cNvPr>
            <p:cNvSpPr txBox="1"/>
            <p:nvPr/>
          </p:nvSpPr>
          <p:spPr>
            <a:xfrm rot="20326894">
              <a:off x="3450090" y="2746377"/>
              <a:ext cx="307886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MASnI₃ (cm⁻³)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AA9F7623-4985-8004-775B-306B2DE87630}"/>
                </a:ext>
              </a:extLst>
            </p:cNvPr>
            <p:cNvSpPr txBox="1"/>
            <p:nvPr/>
          </p:nvSpPr>
          <p:spPr>
            <a:xfrm rot="1008259">
              <a:off x="1561657" y="3214283"/>
              <a:ext cx="26158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Cs₂TiBr₆ (cm⁻³)</a:t>
              </a:r>
            </a:p>
          </p:txBody>
        </p:sp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C9F04A7D-FD4C-B444-CF83-B3FE63FDA2CB}"/>
                </a:ext>
              </a:extLst>
            </p:cNvPr>
            <p:cNvSpPr txBox="1"/>
            <p:nvPr/>
          </p:nvSpPr>
          <p:spPr>
            <a:xfrm rot="16200000">
              <a:off x="4717823" y="1338146"/>
              <a:ext cx="2683290" cy="31757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 of Cs₃Bi₂I₉ (cm⁻³)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DF79F84B-D64B-C809-DFEB-FED7BD519E29}"/>
                </a:ext>
              </a:extLst>
            </p:cNvPr>
            <p:cNvSpPr txBox="1"/>
            <p:nvPr/>
          </p:nvSpPr>
          <p:spPr>
            <a:xfrm rot="1024587">
              <a:off x="6400318" y="3231050"/>
              <a:ext cx="261587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sz="14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D </a:t>
              </a:r>
              <a:r>
                <a:rPr lang="en-US" sz="14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of Cs₂TiBr₆ (cm⁻³)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9BD78002-F3FD-77C3-B716-300B09C6EB6F}"/>
              </a:ext>
            </a:extLst>
          </p:cNvPr>
          <p:cNvSpPr txBox="1"/>
          <p:nvPr/>
        </p:nvSpPr>
        <p:spPr>
          <a:xfrm rot="16200000">
            <a:off x="5493317" y="1897875"/>
            <a:ext cx="1106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PCE(%)</a:t>
            </a:r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6890473-295B-87F1-5458-E3F66E0276C8}"/>
              </a:ext>
            </a:extLst>
          </p:cNvPr>
          <p:cNvSpPr txBox="1"/>
          <p:nvPr/>
        </p:nvSpPr>
        <p:spPr>
          <a:xfrm rot="16200000">
            <a:off x="7766739" y="-6518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sz="1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(V)</a:t>
            </a:r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9B3F79B-BEC8-BD0E-5B92-A7D17BAA89F4}"/>
              </a:ext>
            </a:extLst>
          </p:cNvPr>
          <p:cNvSpPr txBox="1"/>
          <p:nvPr/>
        </p:nvSpPr>
        <p:spPr>
          <a:xfrm rot="16200000">
            <a:off x="6721016" y="1358908"/>
            <a:ext cx="8045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FF(%)</a:t>
            </a:r>
            <a:endParaRPr 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9CDA0AC-5F96-AA91-D9A8-27E608298766}"/>
              </a:ext>
            </a:extLst>
          </p:cNvPr>
          <p:cNvSpPr txBox="1"/>
          <p:nvPr/>
        </p:nvSpPr>
        <p:spPr>
          <a:xfrm rot="16200000">
            <a:off x="1582968" y="945121"/>
            <a:ext cx="90418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J</a:t>
            </a:r>
            <a:r>
              <a:rPr lang="en-US" sz="1800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sc </a:t>
            </a:r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(mA/cm²)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37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206BFA39-120D-F7A2-E856-379C2E0D45EB}"/>
              </a:ext>
            </a:extLst>
          </p:cNvPr>
          <p:cNvGrpSpPr/>
          <p:nvPr/>
        </p:nvGrpSpPr>
        <p:grpSpPr>
          <a:xfrm>
            <a:off x="641132" y="-225850"/>
            <a:ext cx="18837851" cy="6665694"/>
            <a:chOff x="641132" y="-225850"/>
            <a:chExt cx="18837851" cy="6665694"/>
          </a:xfrm>
        </p:grpSpPr>
        <p:grpSp>
          <p:nvGrpSpPr>
            <p:cNvPr id="83" name="Group 82">
              <a:extLst>
                <a:ext uri="{FF2B5EF4-FFF2-40B4-BE49-F238E27FC236}">
                  <a16:creationId xmlns:a16="http://schemas.microsoft.com/office/drawing/2014/main" id="{3F7A3815-A937-AEB4-BCF7-576C02D7B0FB}"/>
                </a:ext>
              </a:extLst>
            </p:cNvPr>
            <p:cNvGrpSpPr/>
            <p:nvPr/>
          </p:nvGrpSpPr>
          <p:grpSpPr>
            <a:xfrm>
              <a:off x="641132" y="-225850"/>
              <a:ext cx="11837372" cy="6665694"/>
              <a:chOff x="357353" y="89460"/>
              <a:chExt cx="11837372" cy="6665694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9F5C6AC0-AF8D-2EB0-A8B1-DC3D95718905}"/>
                  </a:ext>
                </a:extLst>
              </p:cNvPr>
              <p:cNvGrpSpPr/>
              <p:nvPr/>
            </p:nvGrpSpPr>
            <p:grpSpPr>
              <a:xfrm>
                <a:off x="357353" y="89460"/>
                <a:ext cx="11837372" cy="6665694"/>
                <a:chOff x="760071" y="-277521"/>
                <a:chExt cx="11202707" cy="6976370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6544DE85-C598-1333-71B9-8A8B93E36F5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60071" y="159151"/>
                  <a:ext cx="10671858" cy="6539697"/>
                </a:xfrm>
                <a:prstGeom prst="rect">
                  <a:avLst/>
                </a:prstGeom>
              </p:spPr>
            </p:pic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1F1AACC1-D68E-DA2E-D3F9-AE15EF696781}"/>
                    </a:ext>
                  </a:extLst>
                </p:cNvPr>
                <p:cNvSpPr/>
                <p:nvPr/>
              </p:nvSpPr>
              <p:spPr>
                <a:xfrm>
                  <a:off x="895109" y="4572000"/>
                  <a:ext cx="185195" cy="8681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" name="Rectangle 4">
                  <a:extLst>
                    <a:ext uri="{FF2B5EF4-FFF2-40B4-BE49-F238E27FC236}">
                      <a16:creationId xmlns:a16="http://schemas.microsoft.com/office/drawing/2014/main" id="{521BB969-0FB4-DF02-607F-5CCE03C7163D}"/>
                    </a:ext>
                  </a:extLst>
                </p:cNvPr>
                <p:cNvSpPr/>
                <p:nvPr/>
              </p:nvSpPr>
              <p:spPr>
                <a:xfrm>
                  <a:off x="897038" y="1500850"/>
                  <a:ext cx="185195" cy="8681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" name="Rectangle 5">
                  <a:extLst>
                    <a:ext uri="{FF2B5EF4-FFF2-40B4-BE49-F238E27FC236}">
                      <a16:creationId xmlns:a16="http://schemas.microsoft.com/office/drawing/2014/main" id="{3548C0D6-8956-1533-6A78-09430E7953C3}"/>
                    </a:ext>
                  </a:extLst>
                </p:cNvPr>
                <p:cNvSpPr/>
                <p:nvPr/>
              </p:nvSpPr>
              <p:spPr>
                <a:xfrm>
                  <a:off x="6164483" y="1495062"/>
                  <a:ext cx="185195" cy="868101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2634B484-7AC6-21BD-121E-C332647AE701}"/>
                    </a:ext>
                  </a:extLst>
                </p:cNvPr>
                <p:cNvSpPr/>
                <p:nvPr/>
              </p:nvSpPr>
              <p:spPr>
                <a:xfrm>
                  <a:off x="1759352" y="3171463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F369B5CD-8E11-FD14-4FB4-9288D68B4F4E}"/>
                    </a:ext>
                  </a:extLst>
                </p:cNvPr>
                <p:cNvSpPr/>
                <p:nvPr/>
              </p:nvSpPr>
              <p:spPr>
                <a:xfrm>
                  <a:off x="4157241" y="6441312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F37AD9F3-1A94-9197-C038-D4842BA26DA0}"/>
                    </a:ext>
                  </a:extLst>
                </p:cNvPr>
                <p:cNvSpPr/>
                <p:nvPr/>
              </p:nvSpPr>
              <p:spPr>
                <a:xfrm>
                  <a:off x="1911752" y="6441312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A57DE9E8-9F0C-CA54-2514-BC321213105A}"/>
                    </a:ext>
                  </a:extLst>
                </p:cNvPr>
                <p:cNvSpPr/>
                <p:nvPr/>
              </p:nvSpPr>
              <p:spPr>
                <a:xfrm>
                  <a:off x="4157241" y="3171463"/>
                  <a:ext cx="740780" cy="48035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89471C8E-1684-9DBB-8937-365A0D1F7926}"/>
                    </a:ext>
                  </a:extLst>
                </p:cNvPr>
                <p:cNvSpPr/>
                <p:nvPr/>
              </p:nvSpPr>
              <p:spPr>
                <a:xfrm>
                  <a:off x="7004613" y="3300230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Rectangle 13">
                  <a:extLst>
                    <a:ext uri="{FF2B5EF4-FFF2-40B4-BE49-F238E27FC236}">
                      <a16:creationId xmlns:a16="http://schemas.microsoft.com/office/drawing/2014/main" id="{5476E721-DFC8-57A8-0A2E-6C337DD2E3A1}"/>
                    </a:ext>
                  </a:extLst>
                </p:cNvPr>
                <p:cNvSpPr/>
                <p:nvPr/>
              </p:nvSpPr>
              <p:spPr>
                <a:xfrm>
                  <a:off x="9481595" y="6441311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7A961550-AD9E-3811-7D50-038F1299F897}"/>
                    </a:ext>
                  </a:extLst>
                </p:cNvPr>
                <p:cNvSpPr/>
                <p:nvPr/>
              </p:nvSpPr>
              <p:spPr>
                <a:xfrm>
                  <a:off x="7004613" y="6441311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Rectangle 15">
                  <a:extLst>
                    <a:ext uri="{FF2B5EF4-FFF2-40B4-BE49-F238E27FC236}">
                      <a16:creationId xmlns:a16="http://schemas.microsoft.com/office/drawing/2014/main" id="{B1077827-7FF0-A480-8E90-69A82B680726}"/>
                    </a:ext>
                  </a:extLst>
                </p:cNvPr>
                <p:cNvSpPr/>
                <p:nvPr/>
              </p:nvSpPr>
              <p:spPr>
                <a:xfrm>
                  <a:off x="9481595" y="3251037"/>
                  <a:ext cx="740780" cy="257537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9" name="Rectangle 28">
                  <a:extLst>
                    <a:ext uri="{FF2B5EF4-FFF2-40B4-BE49-F238E27FC236}">
                      <a16:creationId xmlns:a16="http://schemas.microsoft.com/office/drawing/2014/main" id="{63225B16-47F0-580E-B912-9940D690F2D5}"/>
                    </a:ext>
                  </a:extLst>
                </p:cNvPr>
                <p:cNvSpPr/>
                <p:nvPr/>
              </p:nvSpPr>
              <p:spPr>
                <a:xfrm>
                  <a:off x="6164483" y="4572000"/>
                  <a:ext cx="185195" cy="79093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TextBox 29">
                  <a:extLst>
                    <a:ext uri="{FF2B5EF4-FFF2-40B4-BE49-F238E27FC236}">
                      <a16:creationId xmlns:a16="http://schemas.microsoft.com/office/drawing/2014/main" id="{CE5A3283-26E3-02AA-A50F-078BCCC3A9DF}"/>
                    </a:ext>
                  </a:extLst>
                </p:cNvPr>
                <p:cNvSpPr txBox="1"/>
                <p:nvPr/>
              </p:nvSpPr>
              <p:spPr>
                <a:xfrm rot="896763">
                  <a:off x="1317885" y="3009787"/>
                  <a:ext cx="1655942" cy="322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Cs₂TiBr₆ (cm⁻³)</a:t>
                  </a:r>
                </a:p>
              </p:txBody>
            </p:sp>
            <p:sp>
              <p:nvSpPr>
                <p:cNvPr id="31" name="TextBox 30">
                  <a:extLst>
                    <a:ext uri="{FF2B5EF4-FFF2-40B4-BE49-F238E27FC236}">
                      <a16:creationId xmlns:a16="http://schemas.microsoft.com/office/drawing/2014/main" id="{1B3D1E13-F9D0-0F83-B5BF-B5A598054588}"/>
                    </a:ext>
                  </a:extLst>
                </p:cNvPr>
                <p:cNvSpPr txBox="1"/>
                <p:nvPr/>
              </p:nvSpPr>
              <p:spPr>
                <a:xfrm rot="874425">
                  <a:off x="6602916" y="6361333"/>
                  <a:ext cx="2368952" cy="322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Cs₂TiBr₆ (cm⁻³)</a:t>
                  </a:r>
                </a:p>
              </p:txBody>
            </p:sp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AFE8C280-03F0-A4A2-FE59-F37F64A781DD}"/>
                    </a:ext>
                  </a:extLst>
                </p:cNvPr>
                <p:cNvSpPr txBox="1"/>
                <p:nvPr/>
              </p:nvSpPr>
              <p:spPr>
                <a:xfrm rot="874425">
                  <a:off x="6642148" y="3134375"/>
                  <a:ext cx="2368952" cy="322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Cs₂TiBr₆ (cm⁻³)</a:t>
                  </a:r>
                </a:p>
              </p:txBody>
            </p:sp>
            <p:sp>
              <p:nvSpPr>
                <p:cNvPr id="33" name="TextBox 32">
                  <a:extLst>
                    <a:ext uri="{FF2B5EF4-FFF2-40B4-BE49-F238E27FC236}">
                      <a16:creationId xmlns:a16="http://schemas.microsoft.com/office/drawing/2014/main" id="{0A5727C5-39BE-1573-687D-A6BA8A7EF628}"/>
                    </a:ext>
                  </a:extLst>
                </p:cNvPr>
                <p:cNvSpPr txBox="1"/>
                <p:nvPr/>
              </p:nvSpPr>
              <p:spPr>
                <a:xfrm rot="798849">
                  <a:off x="1315656" y="6369485"/>
                  <a:ext cx="2368952" cy="322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Cs₂TiBr₆ (cm⁻³)</a:t>
                  </a:r>
                </a:p>
              </p:txBody>
            </p:sp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B8784F97-FACB-52F4-FF76-43A3C163E64F}"/>
                    </a:ext>
                  </a:extLst>
                </p:cNvPr>
                <p:cNvSpPr txBox="1"/>
                <p:nvPr/>
              </p:nvSpPr>
              <p:spPr>
                <a:xfrm rot="20453336">
                  <a:off x="3636281" y="2745393"/>
                  <a:ext cx="2905246" cy="322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35" name="TextBox 34">
                  <a:extLst>
                    <a:ext uri="{FF2B5EF4-FFF2-40B4-BE49-F238E27FC236}">
                      <a16:creationId xmlns:a16="http://schemas.microsoft.com/office/drawing/2014/main" id="{FC51B7F1-30AE-C089-7A03-13AFFD98C9B7}"/>
                    </a:ext>
                  </a:extLst>
                </p:cNvPr>
                <p:cNvSpPr txBox="1"/>
                <p:nvPr/>
              </p:nvSpPr>
              <p:spPr>
                <a:xfrm rot="20509997">
                  <a:off x="3769005" y="5937792"/>
                  <a:ext cx="2905246" cy="322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36" name="TextBox 35">
                  <a:extLst>
                    <a:ext uri="{FF2B5EF4-FFF2-40B4-BE49-F238E27FC236}">
                      <a16:creationId xmlns:a16="http://schemas.microsoft.com/office/drawing/2014/main" id="{5932A728-A139-7E4B-B8CF-5FB5905DCA5B}"/>
                    </a:ext>
                  </a:extLst>
                </p:cNvPr>
                <p:cNvSpPr txBox="1"/>
                <p:nvPr/>
              </p:nvSpPr>
              <p:spPr>
                <a:xfrm rot="20455324">
                  <a:off x="9057532" y="5965605"/>
                  <a:ext cx="2905246" cy="322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8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MASnI₃ (cm⁻³)</a:t>
                  </a:r>
                </a:p>
              </p:txBody>
            </p:sp>
            <p:sp>
              <p:nvSpPr>
                <p:cNvPr id="37" name="TextBox 36">
                  <a:extLst>
                    <a:ext uri="{FF2B5EF4-FFF2-40B4-BE49-F238E27FC236}">
                      <a16:creationId xmlns:a16="http://schemas.microsoft.com/office/drawing/2014/main" id="{6074F165-6A36-90E0-1418-6E059C19FDED}"/>
                    </a:ext>
                  </a:extLst>
                </p:cNvPr>
                <p:cNvSpPr txBox="1"/>
                <p:nvPr/>
              </p:nvSpPr>
              <p:spPr>
                <a:xfrm rot="20453336">
                  <a:off x="8929966" y="2753707"/>
                  <a:ext cx="2905246" cy="32212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of MASnI₃ (cm⁻³)</a:t>
                  </a:r>
                </a:p>
              </p:txBody>
            </p:sp>
            <p:sp>
              <p:nvSpPr>
                <p:cNvPr id="38" name="TextBox 37">
                  <a:extLst>
                    <a:ext uri="{FF2B5EF4-FFF2-40B4-BE49-F238E27FC236}">
                      <a16:creationId xmlns:a16="http://schemas.microsoft.com/office/drawing/2014/main" id="{72AFD90F-C9C5-653E-0184-98ECE9173F22}"/>
                    </a:ext>
                  </a:extLst>
                </p:cNvPr>
                <p:cNvSpPr txBox="1"/>
                <p:nvPr/>
              </p:nvSpPr>
              <p:spPr>
                <a:xfrm rot="16200000">
                  <a:off x="-392012" y="985392"/>
                  <a:ext cx="3020993" cy="495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 of Cs₃Bi₂I₉ (cm⁻³)</a:t>
                  </a:r>
                  <a:b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9" name="TextBox 38">
                  <a:extLst>
                    <a:ext uri="{FF2B5EF4-FFF2-40B4-BE49-F238E27FC236}">
                      <a16:creationId xmlns:a16="http://schemas.microsoft.com/office/drawing/2014/main" id="{224A4032-EE0B-583C-3071-57314DFE65DE}"/>
                    </a:ext>
                  </a:extLst>
                </p:cNvPr>
                <p:cNvSpPr txBox="1">
                  <a:spLocks noGrp="1" noRot="1" noMove="1" noResize="1" noEditPoints="1" noAdjustHandles="1" noChangeArrowheads="1" noChangeShapeType="1"/>
                </p:cNvSpPr>
                <p:nvPr/>
              </p:nvSpPr>
              <p:spPr>
                <a:xfrm rot="16200000">
                  <a:off x="4830685" y="4202687"/>
                  <a:ext cx="3020993" cy="495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 of Cs₃Bi₂I₉ (cm⁻³)</a:t>
                  </a:r>
                  <a:b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9056143F-3C36-D4C3-D804-D142821A2680}"/>
                    </a:ext>
                  </a:extLst>
                </p:cNvPr>
                <p:cNvSpPr txBox="1"/>
                <p:nvPr/>
              </p:nvSpPr>
              <p:spPr>
                <a:xfrm rot="16200000">
                  <a:off x="4878556" y="999403"/>
                  <a:ext cx="3020993" cy="495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</a:t>
                  </a:r>
                  <a:r>
                    <a:rPr lang="en-US" sz="12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 </a:t>
                  </a:r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of Cs₃Bi₂I₉ (cm⁻³)</a:t>
                  </a:r>
                  <a:b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1" name="TextBox 40">
                  <a:extLst>
                    <a:ext uri="{FF2B5EF4-FFF2-40B4-BE49-F238E27FC236}">
                      <a16:creationId xmlns:a16="http://schemas.microsoft.com/office/drawing/2014/main" id="{6C1F5AC8-C1DC-FD8E-0D44-13C31FEC8A24}"/>
                    </a:ext>
                  </a:extLst>
                </p:cNvPr>
                <p:cNvSpPr txBox="1"/>
                <p:nvPr/>
              </p:nvSpPr>
              <p:spPr>
                <a:xfrm rot="16200000">
                  <a:off x="-359620" y="4223812"/>
                  <a:ext cx="3020993" cy="49516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Nₜ  of Cs₃Bi₂I₉ (cm⁻³)</a:t>
                  </a:r>
                  <a:br>
                    <a:rPr lang="en-US" sz="1400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</a:br>
                  <a:endParaRPr lang="en-US" sz="1400" b="1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3DFB284D-3366-9B05-DE1B-93450F911CFF}"/>
                  </a:ext>
                </a:extLst>
              </p:cNvPr>
              <p:cNvSpPr/>
              <p:nvPr/>
            </p:nvSpPr>
            <p:spPr>
              <a:xfrm>
                <a:off x="7597426" y="113356"/>
                <a:ext cx="1612339" cy="18558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3" name="Isosceles Triangle 22">
                <a:extLst>
                  <a:ext uri="{FF2B5EF4-FFF2-40B4-BE49-F238E27FC236}">
                    <a16:creationId xmlns:a16="http://schemas.microsoft.com/office/drawing/2014/main" id="{35341D54-62BF-29F1-386C-718E154E8CA4}"/>
                  </a:ext>
                </a:extLst>
              </p:cNvPr>
              <p:cNvSpPr/>
              <p:nvPr/>
            </p:nvSpPr>
            <p:spPr>
              <a:xfrm>
                <a:off x="7639163" y="204385"/>
                <a:ext cx="445334" cy="105143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ight Triangle 23">
                <a:extLst>
                  <a:ext uri="{FF2B5EF4-FFF2-40B4-BE49-F238E27FC236}">
                    <a16:creationId xmlns:a16="http://schemas.microsoft.com/office/drawing/2014/main" id="{F934215D-EE2D-992F-9DF1-E23A1A3EB237}"/>
                  </a:ext>
                </a:extLst>
              </p:cNvPr>
              <p:cNvSpPr/>
              <p:nvPr/>
            </p:nvSpPr>
            <p:spPr>
              <a:xfrm>
                <a:off x="10067357" y="210372"/>
                <a:ext cx="789963" cy="122140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Right Triangle 44">
                <a:extLst>
                  <a:ext uri="{FF2B5EF4-FFF2-40B4-BE49-F238E27FC236}">
                    <a16:creationId xmlns:a16="http://schemas.microsoft.com/office/drawing/2014/main" id="{B5298D6E-53A6-7AF6-DC4E-9A06A6694923}"/>
                  </a:ext>
                </a:extLst>
              </p:cNvPr>
              <p:cNvSpPr/>
              <p:nvPr/>
            </p:nvSpPr>
            <p:spPr>
              <a:xfrm>
                <a:off x="7782791" y="271442"/>
                <a:ext cx="197427" cy="61070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Right Triangle 45">
                <a:extLst>
                  <a:ext uri="{FF2B5EF4-FFF2-40B4-BE49-F238E27FC236}">
                    <a16:creationId xmlns:a16="http://schemas.microsoft.com/office/drawing/2014/main" id="{598B7B4E-16C8-F9A9-7057-BD4C4C3F5E30}"/>
                  </a:ext>
                </a:extLst>
              </p:cNvPr>
              <p:cNvSpPr/>
              <p:nvPr/>
            </p:nvSpPr>
            <p:spPr>
              <a:xfrm>
                <a:off x="8313683" y="204385"/>
                <a:ext cx="937819" cy="105143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" name="Isosceles Triangle 47">
                <a:extLst>
                  <a:ext uri="{FF2B5EF4-FFF2-40B4-BE49-F238E27FC236}">
                    <a16:creationId xmlns:a16="http://schemas.microsoft.com/office/drawing/2014/main" id="{5209A8FB-9837-DE43-C04E-EA44CBE3E15C}"/>
                  </a:ext>
                </a:extLst>
              </p:cNvPr>
              <p:cNvSpPr/>
              <p:nvPr/>
            </p:nvSpPr>
            <p:spPr>
              <a:xfrm>
                <a:off x="2670028" y="292474"/>
                <a:ext cx="230828" cy="45719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9" name="Isosceles Triangle 48">
                <a:extLst>
                  <a:ext uri="{FF2B5EF4-FFF2-40B4-BE49-F238E27FC236}">
                    <a16:creationId xmlns:a16="http://schemas.microsoft.com/office/drawing/2014/main" id="{AE3B28D7-D4E8-86F1-DBA6-70A0D33CADD2}"/>
                  </a:ext>
                </a:extLst>
              </p:cNvPr>
              <p:cNvSpPr/>
              <p:nvPr/>
            </p:nvSpPr>
            <p:spPr>
              <a:xfrm>
                <a:off x="2501463" y="302984"/>
                <a:ext cx="357353" cy="45719"/>
              </a:xfrm>
              <a:prstGeom prst="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5B480DAE-E5BC-51CA-84BF-E727AAC22806}"/>
                  </a:ext>
                </a:extLst>
              </p:cNvPr>
              <p:cNvSpPr/>
              <p:nvPr/>
            </p:nvSpPr>
            <p:spPr>
              <a:xfrm>
                <a:off x="3044536" y="623455"/>
                <a:ext cx="893619" cy="658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Right Triangle 50">
                <a:extLst>
                  <a:ext uri="{FF2B5EF4-FFF2-40B4-BE49-F238E27FC236}">
                    <a16:creationId xmlns:a16="http://schemas.microsoft.com/office/drawing/2014/main" id="{AB990B79-B08D-2ED0-B05B-CD42CBEC667A}"/>
                  </a:ext>
                </a:extLst>
              </p:cNvPr>
              <p:cNvSpPr/>
              <p:nvPr/>
            </p:nvSpPr>
            <p:spPr>
              <a:xfrm>
                <a:off x="1973936" y="370725"/>
                <a:ext cx="766181" cy="334979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A3C7E906-EA6E-775B-2B84-13FDD763726F}"/>
                  </a:ext>
                </a:extLst>
              </p:cNvPr>
              <p:cNvSpPr/>
              <p:nvPr/>
            </p:nvSpPr>
            <p:spPr>
              <a:xfrm>
                <a:off x="1973936" y="623455"/>
                <a:ext cx="766181" cy="8224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C75E8E5E-499E-371E-93D4-3CB2FEAC5A87}"/>
                  </a:ext>
                </a:extLst>
              </p:cNvPr>
              <p:cNvSpPr/>
              <p:nvPr/>
            </p:nvSpPr>
            <p:spPr>
              <a:xfrm>
                <a:off x="2119745" y="689317"/>
                <a:ext cx="381718" cy="763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AC027C03-9AC5-FBE3-11F7-075264B52ECE}"/>
                  </a:ext>
                </a:extLst>
              </p:cNvPr>
              <p:cNvSpPr/>
              <p:nvPr/>
            </p:nvSpPr>
            <p:spPr>
              <a:xfrm>
                <a:off x="2858816" y="623455"/>
                <a:ext cx="185720" cy="6586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F975EA4E-AB32-87A0-D32B-C247353DD4E8}"/>
                  </a:ext>
                </a:extLst>
              </p:cNvPr>
              <p:cNvSpPr/>
              <p:nvPr/>
            </p:nvSpPr>
            <p:spPr>
              <a:xfrm>
                <a:off x="2670028" y="623455"/>
                <a:ext cx="230828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" name="Rectangle 55">
                <a:extLst>
                  <a:ext uri="{FF2B5EF4-FFF2-40B4-BE49-F238E27FC236}">
                    <a16:creationId xmlns:a16="http://schemas.microsoft.com/office/drawing/2014/main" id="{89E74EB7-8AD1-8F14-7C9B-7946DBBA5B05}"/>
                  </a:ext>
                </a:extLst>
              </p:cNvPr>
              <p:cNvSpPr/>
              <p:nvPr/>
            </p:nvSpPr>
            <p:spPr>
              <a:xfrm>
                <a:off x="3044536" y="669174"/>
                <a:ext cx="987683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7" name="Right Triangle 56">
                <a:extLst>
                  <a:ext uri="{FF2B5EF4-FFF2-40B4-BE49-F238E27FC236}">
                    <a16:creationId xmlns:a16="http://schemas.microsoft.com/office/drawing/2014/main" id="{2A44B369-2EBF-8CEC-4CBD-3BC001872D4E}"/>
                  </a:ext>
                </a:extLst>
              </p:cNvPr>
              <p:cNvSpPr/>
              <p:nvPr/>
            </p:nvSpPr>
            <p:spPr>
              <a:xfrm>
                <a:off x="2608356" y="496175"/>
                <a:ext cx="1185944" cy="198848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293692C0-41F3-E574-A45E-1FCEBDB3BA59}"/>
                  </a:ext>
                </a:extLst>
              </p:cNvPr>
              <p:cNvSpPr/>
              <p:nvPr/>
            </p:nvSpPr>
            <p:spPr>
              <a:xfrm>
                <a:off x="2900856" y="669174"/>
                <a:ext cx="237744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" name="Right Triangle 59">
                <a:extLst>
                  <a:ext uri="{FF2B5EF4-FFF2-40B4-BE49-F238E27FC236}">
                    <a16:creationId xmlns:a16="http://schemas.microsoft.com/office/drawing/2014/main" id="{D8B9E974-FE38-DE80-FCF0-97E436281CDA}"/>
                  </a:ext>
                </a:extLst>
              </p:cNvPr>
              <p:cNvSpPr/>
              <p:nvPr/>
            </p:nvSpPr>
            <p:spPr>
              <a:xfrm>
                <a:off x="8425717" y="539494"/>
                <a:ext cx="1042160" cy="157341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1" name="Right Triangle 60">
                <a:extLst>
                  <a:ext uri="{FF2B5EF4-FFF2-40B4-BE49-F238E27FC236}">
                    <a16:creationId xmlns:a16="http://schemas.microsoft.com/office/drawing/2014/main" id="{BE635734-EEB6-E791-F6A4-74005820BCD2}"/>
                  </a:ext>
                </a:extLst>
              </p:cNvPr>
              <p:cNvSpPr/>
              <p:nvPr/>
            </p:nvSpPr>
            <p:spPr>
              <a:xfrm rot="20522434">
                <a:off x="7898401" y="517195"/>
                <a:ext cx="642926" cy="185584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EBD75841-AB27-1251-C4D5-9B97CDCE0A35}"/>
                  </a:ext>
                </a:extLst>
              </p:cNvPr>
              <p:cNvSpPr/>
              <p:nvPr/>
            </p:nvSpPr>
            <p:spPr>
              <a:xfrm>
                <a:off x="8208818" y="623455"/>
                <a:ext cx="104865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6EBC8D5-87BA-C9A1-4DC0-862762BA7ECD}"/>
                  </a:ext>
                </a:extLst>
              </p:cNvPr>
              <p:cNvSpPr/>
              <p:nvPr/>
            </p:nvSpPr>
            <p:spPr>
              <a:xfrm>
                <a:off x="8229795" y="669174"/>
                <a:ext cx="83888" cy="457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Right Triangle 64">
                <a:extLst>
                  <a:ext uri="{FF2B5EF4-FFF2-40B4-BE49-F238E27FC236}">
                    <a16:creationId xmlns:a16="http://schemas.microsoft.com/office/drawing/2014/main" id="{CBDDDE88-300F-451C-EC15-588E24F77C77}"/>
                  </a:ext>
                </a:extLst>
              </p:cNvPr>
              <p:cNvSpPr/>
              <p:nvPr/>
            </p:nvSpPr>
            <p:spPr>
              <a:xfrm>
                <a:off x="3159288" y="3686049"/>
                <a:ext cx="1056637" cy="87220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6" name="Right Triangle 65">
                <a:extLst>
                  <a:ext uri="{FF2B5EF4-FFF2-40B4-BE49-F238E27FC236}">
                    <a16:creationId xmlns:a16="http://schemas.microsoft.com/office/drawing/2014/main" id="{6C82A73E-C9C0-40DE-C253-350EDEDBF337}"/>
                  </a:ext>
                </a:extLst>
              </p:cNvPr>
              <p:cNvSpPr/>
              <p:nvPr/>
            </p:nvSpPr>
            <p:spPr>
              <a:xfrm>
                <a:off x="2464692" y="3717708"/>
                <a:ext cx="1047035" cy="66319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EF1D064-98B1-F7FC-6004-D7E53DB4EBE3}"/>
                  </a:ext>
                </a:extLst>
              </p:cNvPr>
              <p:cNvSpPr/>
              <p:nvPr/>
            </p:nvSpPr>
            <p:spPr>
              <a:xfrm rot="20452712">
                <a:off x="1873890" y="3726093"/>
                <a:ext cx="1115105" cy="13186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9B15D9DC-6F52-F9D6-E63A-03D416D007D7}"/>
                  </a:ext>
                </a:extLst>
              </p:cNvPr>
              <p:cNvSpPr/>
              <p:nvPr/>
            </p:nvSpPr>
            <p:spPr>
              <a:xfrm>
                <a:off x="2858816" y="3557850"/>
                <a:ext cx="279784" cy="2154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Rectangle 69">
                <a:extLst>
                  <a:ext uri="{FF2B5EF4-FFF2-40B4-BE49-F238E27FC236}">
                    <a16:creationId xmlns:a16="http://schemas.microsoft.com/office/drawing/2014/main" id="{E7C0B342-8CD7-EB90-0C13-469657583D8D}"/>
                  </a:ext>
                </a:extLst>
              </p:cNvPr>
              <p:cNvSpPr/>
              <p:nvPr/>
            </p:nvSpPr>
            <p:spPr>
              <a:xfrm>
                <a:off x="8435989" y="3676069"/>
                <a:ext cx="984997" cy="10771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FA98E022-CFCA-0BBE-FAA1-217B25B44CA0}"/>
                  </a:ext>
                </a:extLst>
              </p:cNvPr>
              <p:cNvSpPr/>
              <p:nvPr/>
            </p:nvSpPr>
            <p:spPr>
              <a:xfrm rot="21336229">
                <a:off x="7670693" y="3728218"/>
                <a:ext cx="915113" cy="66319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2" name="Right Triangle 71">
                <a:extLst>
                  <a:ext uri="{FF2B5EF4-FFF2-40B4-BE49-F238E27FC236}">
                    <a16:creationId xmlns:a16="http://schemas.microsoft.com/office/drawing/2014/main" id="{2686E34F-805B-5DFA-A76A-1E8A81B425CE}"/>
                  </a:ext>
                </a:extLst>
              </p:cNvPr>
              <p:cNvSpPr/>
              <p:nvPr/>
            </p:nvSpPr>
            <p:spPr>
              <a:xfrm>
                <a:off x="7980218" y="3676069"/>
                <a:ext cx="228600" cy="136271"/>
              </a:xfrm>
              <a:prstGeom prst="rtTriangle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0EDBC23A-8350-ECBC-630F-762230F1CFF4}"/>
                  </a:ext>
                </a:extLst>
              </p:cNvPr>
              <p:cNvSpPr/>
              <p:nvPr/>
            </p:nvSpPr>
            <p:spPr>
              <a:xfrm>
                <a:off x="7980218" y="3676069"/>
                <a:ext cx="228600" cy="972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5E85ABDA-ABC7-2A8A-206C-BEAB1146DFDC}"/>
                  </a:ext>
                </a:extLst>
              </p:cNvPr>
              <p:cNvSpPr/>
              <p:nvPr/>
            </p:nvSpPr>
            <p:spPr>
              <a:xfrm>
                <a:off x="1413246" y="6594345"/>
                <a:ext cx="161034" cy="16080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5" name="Rectangle 74">
                <a:extLst>
                  <a:ext uri="{FF2B5EF4-FFF2-40B4-BE49-F238E27FC236}">
                    <a16:creationId xmlns:a16="http://schemas.microsoft.com/office/drawing/2014/main" id="{3A3E6DAD-084B-718E-59A6-A7ADE2C5BE68}"/>
                  </a:ext>
                </a:extLst>
              </p:cNvPr>
              <p:cNvSpPr/>
              <p:nvPr/>
            </p:nvSpPr>
            <p:spPr>
              <a:xfrm>
                <a:off x="5652774" y="1704109"/>
                <a:ext cx="259772" cy="6546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Rectangle 75">
                <a:extLst>
                  <a:ext uri="{FF2B5EF4-FFF2-40B4-BE49-F238E27FC236}">
                    <a16:creationId xmlns:a16="http://schemas.microsoft.com/office/drawing/2014/main" id="{8AE5B2A5-3190-CEE1-4F93-7C09A833030A}"/>
                  </a:ext>
                </a:extLst>
              </p:cNvPr>
              <p:cNvSpPr/>
              <p:nvPr/>
            </p:nvSpPr>
            <p:spPr>
              <a:xfrm>
                <a:off x="11353010" y="1704109"/>
                <a:ext cx="259772" cy="6546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Rectangle 76">
                <a:extLst>
                  <a:ext uri="{FF2B5EF4-FFF2-40B4-BE49-F238E27FC236}">
                    <a16:creationId xmlns:a16="http://schemas.microsoft.com/office/drawing/2014/main" id="{8F310B30-C135-FF8E-B031-DF263C184B32}"/>
                  </a:ext>
                </a:extLst>
              </p:cNvPr>
              <p:cNvSpPr/>
              <p:nvPr/>
            </p:nvSpPr>
            <p:spPr>
              <a:xfrm>
                <a:off x="11261876" y="4773562"/>
                <a:ext cx="259772" cy="6546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A4E93814-B0A8-1BF4-3CBC-C839D494B049}"/>
                  </a:ext>
                </a:extLst>
              </p:cNvPr>
              <p:cNvSpPr/>
              <p:nvPr/>
            </p:nvSpPr>
            <p:spPr>
              <a:xfrm>
                <a:off x="5697802" y="4798598"/>
                <a:ext cx="259772" cy="654627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22D44FA-E624-7C6B-A4A8-E888444C5F01}"/>
                  </a:ext>
                </a:extLst>
              </p:cNvPr>
              <p:cNvSpPr txBox="1"/>
              <p:nvPr/>
            </p:nvSpPr>
            <p:spPr>
              <a:xfrm>
                <a:off x="861825" y="471147"/>
                <a:ext cx="1630055" cy="400110"/>
              </a:xfrm>
              <a:prstGeom prst="rect">
                <a:avLst/>
              </a:prstGeom>
              <a:noFill/>
              <a:ln>
                <a:solidFill>
                  <a:schemeClr val="bg1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(e)</a:t>
                </a:r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8F935048-0FE3-9B50-0741-B2F68BFB1B4E}"/>
                  </a:ext>
                </a:extLst>
              </p:cNvPr>
              <p:cNvSpPr txBox="1"/>
              <p:nvPr/>
            </p:nvSpPr>
            <p:spPr>
              <a:xfrm>
                <a:off x="6423071" y="510670"/>
                <a:ext cx="16300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(f )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6B349B24-2CC5-3BB0-046D-8E07E9693148}"/>
                  </a:ext>
                </a:extLst>
              </p:cNvPr>
              <p:cNvSpPr txBox="1"/>
              <p:nvPr/>
            </p:nvSpPr>
            <p:spPr>
              <a:xfrm>
                <a:off x="843167" y="3606804"/>
                <a:ext cx="163005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(g)</a:t>
                </a:r>
              </a:p>
            </p:txBody>
          </p:sp>
          <p:sp>
            <p:nvSpPr>
              <p:cNvPr id="82" name="TextBox 81">
                <a:extLst>
                  <a:ext uri="{FF2B5EF4-FFF2-40B4-BE49-F238E27FC236}">
                    <a16:creationId xmlns:a16="http://schemas.microsoft.com/office/drawing/2014/main" id="{9D24F762-5874-BCC9-D28B-F06129158827}"/>
                  </a:ext>
                </a:extLst>
              </p:cNvPr>
              <p:cNvSpPr txBox="1"/>
              <p:nvPr/>
            </p:nvSpPr>
            <p:spPr>
              <a:xfrm>
                <a:off x="6377725" y="3613387"/>
                <a:ext cx="181048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(h)</a:t>
                </a:r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E9501C1-D640-3DD5-6DB7-DBB0C4DD8BA8}"/>
                </a:ext>
              </a:extLst>
            </p:cNvPr>
            <p:cNvSpPr txBox="1"/>
            <p:nvPr/>
          </p:nvSpPr>
          <p:spPr>
            <a:xfrm>
              <a:off x="10830309" y="50915"/>
              <a:ext cx="63219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</a:t>
              </a:r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(V)</a:t>
              </a:r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FC7F88-13F9-8924-0EC2-8303BC1A3E90}"/>
                </a:ext>
              </a:extLst>
            </p:cNvPr>
            <p:cNvSpPr txBox="1"/>
            <p:nvPr/>
          </p:nvSpPr>
          <p:spPr>
            <a:xfrm>
              <a:off x="5013508" y="3139776"/>
              <a:ext cx="136412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(mA/cm²)</a:t>
              </a:r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1CD45EA5-6C7D-BA71-F45A-3A6815CD9BD4}"/>
                </a:ext>
              </a:extLst>
            </p:cNvPr>
            <p:cNvSpPr txBox="1"/>
            <p:nvPr/>
          </p:nvSpPr>
          <p:spPr>
            <a:xfrm>
              <a:off x="10905139" y="3128638"/>
              <a:ext cx="85738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FF(%)</a:t>
              </a:r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BB1B9F24-9A3C-AA4E-BB57-5688EE49C0C5}"/>
                </a:ext>
              </a:extLst>
            </p:cNvPr>
            <p:cNvSpPr txBox="1"/>
            <p:nvPr/>
          </p:nvSpPr>
          <p:spPr>
            <a:xfrm>
              <a:off x="5283791" y="51555"/>
              <a:ext cx="102446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PCE(%)</a:t>
              </a:r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40371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8D7527F-6157-A684-39DA-E1FCE9D790C6}"/>
              </a:ext>
            </a:extLst>
          </p:cNvPr>
          <p:cNvGrpSpPr/>
          <p:nvPr/>
        </p:nvGrpSpPr>
        <p:grpSpPr>
          <a:xfrm>
            <a:off x="1534008" y="228584"/>
            <a:ext cx="9438791" cy="5562616"/>
            <a:chOff x="1327876" y="94860"/>
            <a:chExt cx="9554944" cy="660949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67C7282-F97B-4976-85F5-81AEBF6C410E}"/>
                </a:ext>
              </a:extLst>
            </p:cNvPr>
            <p:cNvGrpSpPr/>
            <p:nvPr/>
          </p:nvGrpSpPr>
          <p:grpSpPr>
            <a:xfrm>
              <a:off x="1332299" y="94860"/>
              <a:ext cx="9550521" cy="6609491"/>
              <a:chOff x="2367610" y="-143991"/>
              <a:chExt cx="9550521" cy="6609491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BA2B8F2F-A6EE-4502-9BA1-96CD5EE8B7F9}"/>
                  </a:ext>
                </a:extLst>
              </p:cNvPr>
              <p:cNvGrpSpPr/>
              <p:nvPr/>
            </p:nvGrpSpPr>
            <p:grpSpPr>
              <a:xfrm>
                <a:off x="2367610" y="-143991"/>
                <a:ext cx="9550521" cy="6609491"/>
                <a:chOff x="2398324" y="-143991"/>
                <a:chExt cx="9550521" cy="6609491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EE6F75E4-935A-49D4-9D3C-5F3C5BF42737}"/>
                    </a:ext>
                  </a:extLst>
                </p:cNvPr>
                <p:cNvGrpSpPr/>
                <p:nvPr/>
              </p:nvGrpSpPr>
              <p:grpSpPr>
                <a:xfrm>
                  <a:off x="2398324" y="-143991"/>
                  <a:ext cx="9550521" cy="6609491"/>
                  <a:chOff x="2316131" y="-133717"/>
                  <a:chExt cx="9550521" cy="6609491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1C028207-9F1A-462E-9803-FD3A80C75FAB}"/>
                      </a:ext>
                    </a:extLst>
                  </p:cNvPr>
                  <p:cNvGrpSpPr/>
                  <p:nvPr/>
                </p:nvGrpSpPr>
                <p:grpSpPr>
                  <a:xfrm>
                    <a:off x="2316131" y="-133717"/>
                    <a:ext cx="8810789" cy="6430434"/>
                    <a:chOff x="2316131" y="-81669"/>
                    <a:chExt cx="8810789" cy="6430434"/>
                  </a:xfrm>
                </p:grpSpPr>
                <p:pic>
                  <p:nvPicPr>
                    <p:cNvPr id="23" name="Picture 22">
                      <a:extLst>
                        <a:ext uri="{FF2B5EF4-FFF2-40B4-BE49-F238E27FC236}">
                          <a16:creationId xmlns:a16="http://schemas.microsoft.com/office/drawing/2014/main" id="{D5BB192C-B568-4A3D-ADD4-3676C3BC273E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 rotWithShape="1">
                    <a:blip r:embed="rId2" cstate="print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l="10053" t="4045" r="7053" b="9064"/>
                    <a:stretch/>
                  </p:blipFill>
                  <p:spPr>
                    <a:xfrm>
                      <a:off x="2316131" y="350811"/>
                      <a:ext cx="3673732" cy="2906199"/>
                    </a:xfrm>
                    <a:prstGeom prst="rect">
                      <a:avLst/>
                    </a:prstGeom>
                  </p:spPr>
                </p:pic>
                <p:grpSp>
                  <p:nvGrpSpPr>
                    <p:cNvPr id="25" name="Group 24">
                      <a:extLst>
                        <a:ext uri="{FF2B5EF4-FFF2-40B4-BE49-F238E27FC236}">
                          <a16:creationId xmlns:a16="http://schemas.microsoft.com/office/drawing/2014/main" id="{6EC2A529-31B8-4FFF-A52A-53E23D9D48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5989120" y="-81669"/>
                      <a:ext cx="5137800" cy="6430434"/>
                      <a:chOff x="6110028" y="-144767"/>
                      <a:chExt cx="5292322" cy="6721433"/>
                    </a:xfrm>
                  </p:grpSpPr>
                  <p:grpSp>
                    <p:nvGrpSpPr>
                      <p:cNvPr id="27" name="Group 26">
                        <a:extLst>
                          <a:ext uri="{FF2B5EF4-FFF2-40B4-BE49-F238E27FC236}">
                            <a16:creationId xmlns:a16="http://schemas.microsoft.com/office/drawing/2014/main" id="{144AA6AB-2B49-4A31-A4AA-5A5278F639C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6350388" y="-144767"/>
                        <a:ext cx="5051962" cy="6721433"/>
                        <a:chOff x="6606943" y="-321164"/>
                        <a:chExt cx="5355599" cy="7125420"/>
                      </a:xfrm>
                    </p:grpSpPr>
                    <p:sp>
                      <p:nvSpPr>
                        <p:cNvPr id="29" name="Cube 28">
                          <a:extLst>
                            <a:ext uri="{FF2B5EF4-FFF2-40B4-BE49-F238E27FC236}">
                              <a16:creationId xmlns:a16="http://schemas.microsoft.com/office/drawing/2014/main" id="{951702D7-2E6A-4ABE-AA9E-6E2900EB4C4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6764023" y="1814976"/>
                          <a:ext cx="3173382" cy="984870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accent2">
                            <a:lumMod val="60000"/>
                            <a:lumOff val="4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 algn="ctr"/>
                          <a:endParaRPr lang="en-US" sz="2400" b="1" strike="noStrike" spc="-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r>
                            <a:rPr lang="en-US" sz="2400" b="1" strike="noStrike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Cs</a:t>
                          </a:r>
                          <a:r>
                            <a:rPr lang="en-US" sz="2400" b="1" strike="noStrike" spc="-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r>
                            <a:rPr lang="en-US" sz="2400" b="1" strike="noStrike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</a:t>
                          </a:r>
                          <a:r>
                            <a:rPr lang="en-US" sz="2400" b="1" strike="noStrike" spc="-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2</a:t>
                          </a:r>
                          <a:r>
                            <a:rPr lang="en-US" sz="2400" b="1" strike="noStrike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</a:t>
                          </a:r>
                          <a:r>
                            <a:rPr lang="en-US" sz="2400" b="1" strike="noStrike" spc="-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9</a:t>
                          </a:r>
                          <a:endParaRPr lang="en-US" sz="2400" b="0" strike="noStrike" spc="-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endParaRPr lang="en-US" sz="2400" b="0" strike="noStrike" spc="-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grpSp>
                      <p:nvGrpSpPr>
                        <p:cNvPr id="30" name="Group 29">
                          <a:extLst>
                            <a:ext uri="{FF2B5EF4-FFF2-40B4-BE49-F238E27FC236}">
                              <a16:creationId xmlns:a16="http://schemas.microsoft.com/office/drawing/2014/main" id="{00396CC3-4B0B-A652-AD86-65549ABAB4AE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6606943" y="-321164"/>
                          <a:ext cx="3330451" cy="7125420"/>
                          <a:chOff x="6369602" y="-823246"/>
                          <a:chExt cx="3811560" cy="7962144"/>
                        </a:xfrm>
                      </p:grpSpPr>
                      <p:grpSp>
                        <p:nvGrpSpPr>
                          <p:cNvPr id="35" name="Group 34">
                            <a:extLst>
                              <a:ext uri="{FF2B5EF4-FFF2-40B4-BE49-F238E27FC236}">
                                <a16:creationId xmlns:a16="http://schemas.microsoft.com/office/drawing/2014/main" id="{09FE919B-BC20-EB96-5FD8-6BBA0C029957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6540134" y="196856"/>
                            <a:ext cx="3641028" cy="2040687"/>
                            <a:chOff x="6540134" y="196856"/>
                            <a:chExt cx="3641028" cy="2040687"/>
                          </a:xfrm>
                        </p:grpSpPr>
                        <p:sp>
                          <p:nvSpPr>
                            <p:cNvPr id="43" name="Cube 42">
                              <a:extLst>
                                <a:ext uri="{FF2B5EF4-FFF2-40B4-BE49-F238E27FC236}">
                                  <a16:creationId xmlns:a16="http://schemas.microsoft.com/office/drawing/2014/main" id="{3521C872-FF05-7848-EE56-AFC601ED9CEF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540134" y="1122657"/>
                              <a:ext cx="3641027" cy="1114886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chemeClr val="tx2">
                                <a:lumMod val="10000"/>
                                <a:lumOff val="90000"/>
                              </a:schemeClr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0" tIns="45000" rIns="90000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0" b="1" strike="noStrike" spc="-1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MASnI</a:t>
                              </a:r>
                              <a:r>
                                <a:rPr lang="en-US" sz="2400" b="1" strike="noStrike" spc="-1" baseline="-25000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3</a:t>
                              </a:r>
                              <a:endParaRPr lang="en-US" sz="2400" b="0" strike="noStrike" spc="-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44" name="Cube 43">
                              <a:extLst>
                                <a:ext uri="{FF2B5EF4-FFF2-40B4-BE49-F238E27FC236}">
                                  <a16:creationId xmlns:a16="http://schemas.microsoft.com/office/drawing/2014/main" id="{C1E84308-E9CD-23E5-EF1B-8068C84CFB86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540135" y="680691"/>
                              <a:ext cx="3641026" cy="1100520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chemeClr val="tx2">
                                <a:lumMod val="50000"/>
                                <a:lumOff val="50000"/>
                              </a:schemeClr>
                            </a:solidFill>
                            <a:ln>
                              <a:solidFill>
                                <a:schemeClr val="tx2">
                                  <a:lumMod val="50000"/>
                                  <a:lumOff val="50000"/>
                                </a:schemeClr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0" tIns="45000" rIns="90000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0" b="1" strike="noStrike" spc="-1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Cs</a:t>
                              </a:r>
                              <a:r>
                                <a:rPr lang="en-US" sz="2400" b="1" strike="noStrike" spc="-1" baseline="-25000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2</a:t>
                              </a:r>
                              <a:r>
                                <a:rPr lang="en-US" sz="2400" b="1" strike="noStrike" spc="-1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TiBr</a:t>
                              </a:r>
                              <a:r>
                                <a:rPr lang="en-US" sz="2400" b="1" strike="noStrike" spc="-1" baseline="-25000" dirty="0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6</a:t>
                              </a:r>
                              <a:endParaRPr lang="en-US" sz="2400" b="0" strike="noStrike" spc="-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  <p:sp>
                          <p:nvSpPr>
                            <p:cNvPr id="45" name="Cube 44">
                              <a:extLst>
                                <a:ext uri="{FF2B5EF4-FFF2-40B4-BE49-F238E27FC236}">
                                  <a16:creationId xmlns:a16="http://schemas.microsoft.com/office/drawing/2014/main" id="{95252681-A7D9-02A5-5F67-4EB09FE57100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6540135" y="196856"/>
                              <a:ext cx="3641027" cy="1114527"/>
                            </a:xfrm>
                            <a:prstGeom prst="cube">
                              <a:avLst>
                                <a:gd name="adj" fmla="val 58858"/>
                              </a:avLst>
                            </a:prstGeom>
                            <a:solidFill>
                              <a:srgbClr val="FFFF00"/>
                            </a:solidFill>
                            <a:ln>
                              <a:noFill/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 lIns="90000" tIns="45000" rIns="90000" bIns="45000" anchor="ctr">
                              <a:noAutofit/>
                            </a:bodyPr>
                            <a:lstStyle>
                              <a:defPPr>
                                <a:defRPr lang="en-US"/>
                              </a:defPPr>
                              <a:lvl1pPr marL="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1pPr>
                              <a:lvl2pPr marL="457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2pPr>
                              <a:lvl3pPr marL="914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3pPr>
                              <a:lvl4pPr marL="1371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4pPr>
                              <a:lvl5pPr marL="18288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5pPr>
                              <a:lvl6pPr marL="22860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6pPr>
                              <a:lvl7pPr marL="27432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7pPr>
                              <a:lvl8pPr marL="32004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8pPr>
                              <a:lvl9pPr marL="3657600" algn="l" defTabSz="914400" rtl="0" eaLnBrk="1" latinLnBrk="0" hangingPunct="1">
                                <a:defRPr sz="1800" kern="1200">
                                  <a:solidFill>
                                    <a:schemeClr val="tx1"/>
                                  </a:solidFill>
                                  <a:latin typeface="+mn-lt"/>
                                  <a:ea typeface="+mn-ea"/>
                                  <a:cs typeface="+mn-cs"/>
                                </a:defRPr>
                              </a:lvl9pPr>
                            </a:lstStyle>
                            <a:p>
                              <a:pPr algn="ctr">
                                <a:lnSpc>
                                  <a:spcPct val="100000"/>
                                </a:lnSpc>
                                <a:buNone/>
                              </a:pPr>
                              <a:r>
                                <a:rPr lang="en-US" sz="2400" b="1" strike="noStrike" spc="-1">
                                  <a:solidFill>
                                    <a:srgbClr val="000000"/>
                                  </a:solidFill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a:t>FTO</a:t>
                              </a:r>
                              <a:endParaRPr lang="en-US" sz="2400" b="0" strike="noStrike" spc="-1" dirty="0"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endParaRPr>
                            </a:p>
                          </p:txBody>
                        </p:sp>
                      </p:grpSp>
                      <p:sp>
                        <p:nvSpPr>
                          <p:cNvPr id="36" name="Cube 35">
                            <a:extLst>
                              <a:ext uri="{FF2B5EF4-FFF2-40B4-BE49-F238E27FC236}">
                                <a16:creationId xmlns:a16="http://schemas.microsoft.com/office/drawing/2014/main" id="{ACBE4DB1-F7DF-219C-D654-A1418E9FABC0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6369602" y="5942257"/>
                            <a:ext cx="3801598" cy="1196641"/>
                          </a:xfrm>
                          <a:prstGeom prst="cube">
                            <a:avLst>
                              <a:gd name="adj" fmla="val 58858"/>
                            </a:avLst>
                          </a:prstGeom>
                          <a:solidFill>
                            <a:schemeClr val="accent4"/>
                          </a:solidFill>
                          <a:ln>
                            <a:noFill/>
                          </a:ln>
                        </p:spPr>
                        <p:style>
                          <a:lnRef idx="2">
                            <a:schemeClr val="accent1">
                              <a:shade val="50000"/>
                            </a:schemeClr>
                          </a:lnRef>
                          <a:fillRef idx="1">
                            <a:schemeClr val="accent1"/>
                          </a:fillRef>
                          <a:effectRef idx="0">
                            <a:schemeClr val="accent1"/>
                          </a:effectRef>
                          <a:fontRef idx="minor"/>
                        </p:style>
                        <p:txBody>
                          <a:bodyPr lIns="90000" tIns="45000" rIns="90000" bIns="45000" anchor="ctr">
                            <a:no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 algn="ctr"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0" b="1" spc="-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Au</a:t>
                            </a:r>
                            <a:endParaRPr lang="en-US" sz="2400" strike="noStrike" spc="-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grpSp>
                        <p:nvGrpSpPr>
                          <p:cNvPr id="37" name="Group 36">
                            <a:extLst>
                              <a:ext uri="{FF2B5EF4-FFF2-40B4-BE49-F238E27FC236}">
                                <a16:creationId xmlns:a16="http://schemas.microsoft.com/office/drawing/2014/main" id="{11BABBDA-2E19-2477-A57B-5CE48472EB19}"/>
                              </a:ext>
                            </a:extLst>
                          </p:cNvPr>
                          <p:cNvGrpSpPr/>
                          <p:nvPr/>
                        </p:nvGrpSpPr>
                        <p:grpSpPr>
                          <a:xfrm>
                            <a:off x="7389530" y="-154681"/>
                            <a:ext cx="1590131" cy="883729"/>
                            <a:chOff x="7389530" y="-154681"/>
                            <a:chExt cx="1590131" cy="883729"/>
                          </a:xfrm>
                        </p:grpSpPr>
                        <p:sp>
                          <p:nvSpPr>
                            <p:cNvPr id="40" name="Arrow: Down 39">
                              <a:extLst>
                                <a:ext uri="{FF2B5EF4-FFF2-40B4-BE49-F238E27FC236}">
                                  <a16:creationId xmlns:a16="http://schemas.microsoft.com/office/drawing/2014/main" id="{E66C88BA-657A-070B-3FBA-82E25CF807D5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7389530" y="-113352"/>
                              <a:ext cx="384480" cy="842400"/>
                            </a:xfrm>
                            <a:prstGeom prst="down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FFFF00"/>
                            </a:solidFill>
                            <a:ln>
                              <a:solidFill>
                                <a:srgbClr val="32549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1" name="Arrow: Down 40">
                              <a:extLst>
                                <a:ext uri="{FF2B5EF4-FFF2-40B4-BE49-F238E27FC236}">
                                  <a16:creationId xmlns:a16="http://schemas.microsoft.com/office/drawing/2014/main" id="{0E5B3BF4-50ED-6480-53C2-0FB5C815239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026201" y="-134462"/>
                              <a:ext cx="384481" cy="842400"/>
                            </a:xfrm>
                            <a:prstGeom prst="down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FFFF00"/>
                            </a:solidFill>
                            <a:ln>
                              <a:solidFill>
                                <a:srgbClr val="32549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  <p:sp>
                          <p:nvSpPr>
                            <p:cNvPr id="42" name="Arrow: Down 41">
                              <a:extLst>
                                <a:ext uri="{FF2B5EF4-FFF2-40B4-BE49-F238E27FC236}">
                                  <a16:creationId xmlns:a16="http://schemas.microsoft.com/office/drawing/2014/main" id="{5DB023C8-E597-9AC2-E49D-B5F37FA44F83}"/>
                                </a:ext>
                              </a:extLst>
                            </p:cNvPr>
                            <p:cNvSpPr/>
                            <p:nvPr/>
                          </p:nvSpPr>
                          <p:spPr>
                            <a:xfrm>
                              <a:off x="8595180" y="-154681"/>
                              <a:ext cx="384481" cy="842400"/>
                            </a:xfrm>
                            <a:prstGeom prst="downArrow">
                              <a:avLst>
                                <a:gd name="adj1" fmla="val 50000"/>
                                <a:gd name="adj2" fmla="val 50000"/>
                              </a:avLst>
                            </a:prstGeom>
                            <a:solidFill>
                              <a:srgbClr val="FFFF00"/>
                            </a:solidFill>
                            <a:ln>
                              <a:solidFill>
                                <a:srgbClr val="325490"/>
                              </a:solidFill>
                            </a:ln>
                          </p:spPr>
                          <p:style>
                            <a:lnRef idx="2">
                              <a:schemeClr val="accent1">
                                <a:shade val="50000"/>
                              </a:schemeClr>
                            </a:lnRef>
                            <a:fillRef idx="1">
                              <a:schemeClr val="accent1"/>
                            </a:fillRef>
                            <a:effectRef idx="0">
                              <a:schemeClr val="accent1"/>
                            </a:effectRef>
                            <a:fontRef idx="minor"/>
                          </p:style>
                          <p:txBody>
                            <a:bodyPr/>
                            <a:lstStyle/>
                            <a:p>
                              <a:endParaRPr lang="en-US"/>
                            </a:p>
                          </p:txBody>
                        </p:sp>
                      </p:grpSp>
                      <p:sp>
                        <p:nvSpPr>
                          <p:cNvPr id="38" name="TextBox 33">
                            <a:extLst>
                              <a:ext uri="{FF2B5EF4-FFF2-40B4-BE49-F238E27FC236}">
                                <a16:creationId xmlns:a16="http://schemas.microsoft.com/office/drawing/2014/main" id="{13C1C9CF-0A4F-869E-9ADB-E6762048DDAF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652224" y="-823246"/>
                            <a:ext cx="2030399" cy="544322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>
                            <a:scrgbClr r="0" g="0" b="0"/>
                          </a:lnRef>
                          <a:fillRef idx="0">
                            <a:scrgbClr r="0" g="0" b="0"/>
                          </a:fillRef>
                          <a:effectRef idx="0">
                            <a:scrgbClr r="0" g="0" b="0"/>
                          </a:effectRef>
                          <a:fontRef idx="minor"/>
                        </p:style>
                        <p:txBody>
                          <a:bodyPr wrap="square" lIns="90000" tIns="45000" rIns="90000" bIns="45000" anchor="t">
                            <a:sp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0" b="1" strike="noStrike" spc="-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Light</a:t>
                            </a:r>
                            <a:endParaRPr lang="en-US" sz="2400" b="0" strike="noStrike" spc="-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  <p:sp>
                        <p:nvSpPr>
                          <p:cNvPr id="39" name="TextBox 26">
                            <a:extLst>
                              <a:ext uri="{FF2B5EF4-FFF2-40B4-BE49-F238E27FC236}">
                                <a16:creationId xmlns:a16="http://schemas.microsoft.com/office/drawing/2014/main" id="{C1DCC4BE-1DC0-93C2-B9BC-F52A694FC107}"/>
                              </a:ext>
                            </a:extLst>
                          </p:cNvPr>
                          <p:cNvSpPr/>
                          <p:nvPr/>
                        </p:nvSpPr>
                        <p:spPr>
                          <a:xfrm>
                            <a:off x="7065850" y="2704443"/>
                            <a:ext cx="2662467" cy="544322"/>
                          </a:xfrm>
                          <a:prstGeom prst="rect">
                            <a:avLst/>
                          </a:prstGeom>
                          <a:noFill/>
                          <a:ln w="0">
                            <a:noFill/>
                          </a:ln>
                        </p:spPr>
                        <p:style>
                          <a:lnRef idx="0">
                            <a:scrgbClr r="0" g="0" b="0"/>
                          </a:lnRef>
                          <a:fillRef idx="0">
                            <a:scrgbClr r="0" g="0" b="0"/>
                          </a:fillRef>
                          <a:effectRef idx="0">
                            <a:scrgbClr r="0" g="0" b="0"/>
                          </a:effectRef>
                          <a:fontRef idx="minor"/>
                        </p:style>
                        <p:txBody>
                          <a:bodyPr wrap="square" lIns="90000" tIns="45000" rIns="90000" bIns="45000" anchor="t">
                            <a:spAutoFit/>
                          </a:bodyPr>
                          <a:lstStyle>
                            <a:defPPr>
                              <a:defRPr lang="en-US"/>
                            </a:defPPr>
                            <a:lvl1pPr marL="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1pPr>
                            <a:lvl2pPr marL="457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2pPr>
                            <a:lvl3pPr marL="914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3pPr>
                            <a:lvl4pPr marL="1371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4pPr>
                            <a:lvl5pPr marL="18288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5pPr>
                            <a:lvl6pPr marL="22860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6pPr>
                            <a:lvl7pPr marL="27432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7pPr>
                            <a:lvl8pPr marL="32004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8pPr>
                            <a:lvl9pPr marL="3657600" algn="l" defTabSz="914400" rtl="0" eaLnBrk="1" latinLnBrk="0" hangingPunct="1">
                              <a:defRPr sz="1800" kern="1200">
                                <a:solidFill>
                                  <a:schemeClr val="tx1"/>
                                </a:solidFill>
                                <a:latin typeface="+mn-lt"/>
                                <a:ea typeface="+mn-ea"/>
                                <a:cs typeface="+mn-cs"/>
                              </a:defRPr>
                            </a:lvl9pPr>
                          </a:lstStyle>
                          <a:p>
                            <a:pPr>
                              <a:lnSpc>
                                <a:spcPct val="100000"/>
                              </a:lnSpc>
                              <a:buNone/>
                            </a:pPr>
                            <a:r>
                              <a:rPr lang="en-US" sz="2400" b="1" strike="noStrike" spc="-1" dirty="0">
                                <a:solidFill>
                                  <a:srgbClr val="000000"/>
                                </a:solidFill>
                                <a:latin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a:t>Filtered Light</a:t>
                            </a:r>
                            <a:endParaRPr lang="en-US" sz="2400" b="0" strike="noStrike" spc="-1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endParaRPr>
                          </a:p>
                        </p:txBody>
                      </p:sp>
                    </p:grpSp>
                    <p:sp>
                      <p:nvSpPr>
                        <p:cNvPr id="31" name="Right Brace 30">
                          <a:extLst>
                            <a:ext uri="{FF2B5EF4-FFF2-40B4-BE49-F238E27FC236}">
                              <a16:creationId xmlns:a16="http://schemas.microsoft.com/office/drawing/2014/main" id="{2D920906-42F3-F988-0F6E-A80DD299F31B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16130" y="512112"/>
                          <a:ext cx="562680" cy="2136240"/>
                        </a:xfrm>
                        <a:prstGeom prst="rightBrace">
                          <a:avLst>
                            <a:gd name="adj1" fmla="val 8333"/>
                            <a:gd name="adj2" fmla="val 50000"/>
                          </a:avLst>
                        </a:prstGeom>
                        <a:noFill/>
                        <a:ln>
                          <a:solidFill>
                            <a:srgbClr val="000000"/>
                          </a:solidFill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/>
                      </p:style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  <p:sp>
                      <p:nvSpPr>
                        <p:cNvPr id="32" name="TextBox 46">
                          <a:extLst>
                            <a:ext uri="{FF2B5EF4-FFF2-40B4-BE49-F238E27FC236}">
                              <a16:creationId xmlns:a16="http://schemas.microsoft.com/office/drawing/2014/main" id="{B15339F2-AD24-9FD1-0798-520CB9E3C143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558263" y="1131132"/>
                          <a:ext cx="1333080" cy="919198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/>
                      </p:style>
                      <p:txBody>
                        <a:bodyPr wrap="square" lIns="90000" tIns="45000" rIns="90000" bIns="45000" anchor="t">
                          <a:sp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0" b="1" strike="noStrike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Top </a:t>
                          </a:r>
                          <a:r>
                            <a:rPr lang="en-US" sz="2400" b="1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s</a:t>
                          </a:r>
                          <a:r>
                            <a:rPr lang="en-US" sz="2400" b="1" strike="noStrike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ub-cell</a:t>
                          </a:r>
                          <a:endParaRPr lang="en-US" sz="2400" b="0" strike="noStrike" spc="-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33" name="TextBox 47">
                          <a:extLst>
                            <a:ext uri="{FF2B5EF4-FFF2-40B4-BE49-F238E27FC236}">
                              <a16:creationId xmlns:a16="http://schemas.microsoft.com/office/drawing/2014/main" id="{70AA06EA-7055-6F70-BBC8-23AF74A4F1C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629462" y="4533858"/>
                          <a:ext cx="1333080" cy="919198"/>
                        </a:xfrm>
                        <a:prstGeom prst="rect">
                          <a:avLst/>
                        </a:prstGeom>
                        <a:noFill/>
                        <a:ln w="0">
                          <a:noFill/>
                        </a:ln>
                      </p:spPr>
                      <p:style>
                        <a:lnRef idx="0">
                          <a:scrgbClr r="0" g="0" b="0"/>
                        </a:lnRef>
                        <a:fillRef idx="0">
                          <a:scrgbClr r="0" g="0" b="0"/>
                        </a:fillRef>
                        <a:effectRef idx="0">
                          <a:scrgbClr r="0" g="0" b="0"/>
                        </a:effectRef>
                        <a:fontRef idx="minor"/>
                      </p:style>
                      <p:txBody>
                        <a:bodyPr wrap="square" lIns="90000" tIns="45000" rIns="90000" bIns="45000" anchor="t">
                          <a:spAutoFit/>
                        </a:bodyPr>
                        <a:lstStyle>
                          <a:defPPr>
                            <a:defRPr lang="en-US"/>
                          </a:defPPr>
                          <a:lvl1pPr marL="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1pPr>
                          <a:lvl2pPr marL="457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2pPr>
                          <a:lvl3pPr marL="914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3pPr>
                          <a:lvl4pPr marL="1371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4pPr>
                          <a:lvl5pPr marL="18288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5pPr>
                          <a:lvl6pPr marL="22860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6pPr>
                          <a:lvl7pPr marL="27432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7pPr>
                          <a:lvl8pPr marL="32004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8pPr>
                          <a:lvl9pPr marL="3657600" algn="l" defTabSz="914400" rtl="0" eaLnBrk="1" latinLnBrk="0" hangingPunct="1">
                            <a:defRPr sz="1800" kern="1200">
                              <a:solidFill>
                                <a:schemeClr val="tx1"/>
                              </a:solidFill>
                              <a:latin typeface="+mn-lt"/>
                              <a:ea typeface="+mn-ea"/>
                              <a:cs typeface="+mn-cs"/>
                            </a:defRPr>
                          </a:lvl9pPr>
                        </a:lstStyle>
                        <a:p>
                          <a:pPr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0" b="1" strike="noStrike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Bottom sub-cell</a:t>
                          </a:r>
                          <a:endParaRPr lang="en-US" sz="2400" b="0" strike="noStrike" spc="-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34" name="Right Brace 33">
                          <a:extLst>
                            <a:ext uri="{FF2B5EF4-FFF2-40B4-BE49-F238E27FC236}">
                              <a16:creationId xmlns:a16="http://schemas.microsoft.com/office/drawing/2014/main" id="{0F0BD514-5D5D-F4A1-DDCF-E317F97D5D54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10094343" y="3704940"/>
                          <a:ext cx="497727" cy="2820721"/>
                        </a:xfrm>
                        <a:prstGeom prst="rightBrace">
                          <a:avLst>
                            <a:gd name="adj1" fmla="val 8333"/>
                            <a:gd name="adj2" fmla="val 50000"/>
                          </a:avLst>
                        </a:prstGeom>
                        <a:noFill/>
                        <a:ln>
                          <a:solidFill>
                            <a:srgbClr val="000000"/>
                          </a:solidFill>
                        </a:ln>
                      </p:spPr>
                      <p:style>
                        <a:lnRef idx="3">
                          <a:schemeClr val="dk1"/>
                        </a:lnRef>
                        <a:fillRef idx="0">
                          <a:schemeClr val="dk1"/>
                        </a:fillRef>
                        <a:effectRef idx="2">
                          <a:schemeClr val="dk1"/>
                        </a:effectRef>
                        <a:fontRef idx="minor"/>
                      </p:style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cxnSp>
                    <p:nvCxnSpPr>
                      <p:cNvPr id="28" name="Straight Arrow Connector 27">
                        <a:extLst>
                          <a:ext uri="{FF2B5EF4-FFF2-40B4-BE49-F238E27FC236}">
                            <a16:creationId xmlns:a16="http://schemas.microsoft.com/office/drawing/2014/main" id="{DDD31B8A-59CD-453E-93DE-A6DFCF867E8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6110028" y="641261"/>
                        <a:ext cx="1100035" cy="0"/>
                      </a:xfrm>
                      <a:prstGeom prst="straightConnector1">
                        <a:avLst/>
                      </a:prstGeom>
                      <a:ln>
                        <a:prstDash val="sysDash"/>
                        <a:tailEnd type="triangle"/>
                      </a:ln>
                    </p:spPr>
                    <p:style>
                      <a:lnRef idx="3">
                        <a:schemeClr val="dk1"/>
                      </a:lnRef>
                      <a:fillRef idx="0">
                        <a:schemeClr val="dk1"/>
                      </a:fillRef>
                      <a:effectRef idx="2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17" name="Cube 16">
                    <a:extLst>
                      <a:ext uri="{FF2B5EF4-FFF2-40B4-BE49-F238E27FC236}">
                        <a16:creationId xmlns:a16="http://schemas.microsoft.com/office/drawing/2014/main" id="{643E57F2-BF06-45F1-AD24-3CF892A8F73F}"/>
                      </a:ext>
                    </a:extLst>
                  </p:cNvPr>
                  <p:cNvSpPr/>
                  <p:nvPr/>
                </p:nvSpPr>
                <p:spPr>
                  <a:xfrm>
                    <a:off x="8443658" y="414860"/>
                    <a:ext cx="578546" cy="484782"/>
                  </a:xfrm>
                  <a:prstGeom prst="cub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2000" b="1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Al</a:t>
                    </a:r>
                    <a:endParaRPr lang="en-SG" sz="2000" b="1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18" name="Connector: Elbow 17">
                    <a:extLst>
                      <a:ext uri="{FF2B5EF4-FFF2-40B4-BE49-F238E27FC236}">
                        <a16:creationId xmlns:a16="http://schemas.microsoft.com/office/drawing/2014/main" id="{EC64AC81-FDA1-44B7-97AC-DB403A17178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8793523" y="177705"/>
                    <a:ext cx="2268188" cy="239233"/>
                  </a:xfrm>
                  <a:prstGeom prst="bentConnector3">
                    <a:avLst>
                      <a:gd name="adj1" fmla="val 2891"/>
                    </a:avLst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Connector: Elbow 18">
                    <a:extLst>
                      <a:ext uri="{FF2B5EF4-FFF2-40B4-BE49-F238E27FC236}">
                        <a16:creationId xmlns:a16="http://schemas.microsoft.com/office/drawing/2014/main" id="{97CC96D8-E4E5-4252-9183-5A79DDE34B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8443658" y="6296717"/>
                    <a:ext cx="2735105" cy="179057"/>
                  </a:xfrm>
                  <a:prstGeom prst="bentConnector3">
                    <a:avLst>
                      <a:gd name="adj1" fmla="val 13823"/>
                    </a:avLst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" name="Rectangle: Rounded Corners 19">
                    <a:extLst>
                      <a:ext uri="{FF2B5EF4-FFF2-40B4-BE49-F238E27FC236}">
                        <a16:creationId xmlns:a16="http://schemas.microsoft.com/office/drawing/2014/main" id="{0D4DBBD3-1386-44C5-96F7-6FC3396029A0}"/>
                      </a:ext>
                    </a:extLst>
                  </p:cNvPr>
                  <p:cNvSpPr/>
                  <p:nvPr/>
                </p:nvSpPr>
                <p:spPr>
                  <a:xfrm>
                    <a:off x="10356351" y="2682877"/>
                    <a:ext cx="1510301" cy="673527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Load</a:t>
                    </a:r>
                    <a:endParaRPr lang="en-SG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1" name="Straight Connector 20">
                    <a:extLst>
                      <a:ext uri="{FF2B5EF4-FFF2-40B4-BE49-F238E27FC236}">
                        <a16:creationId xmlns:a16="http://schemas.microsoft.com/office/drawing/2014/main" id="{E9D4B90B-EF52-4F60-BDC7-C01D2FF37AE4}"/>
                      </a:ext>
                    </a:extLst>
                  </p:cNvPr>
                  <p:cNvCxnSpPr>
                    <a:stCxn id="20" idx="0"/>
                  </p:cNvCxnSpPr>
                  <p:nvPr/>
                </p:nvCxnSpPr>
                <p:spPr>
                  <a:xfrm flipH="1" flipV="1">
                    <a:off x="11061712" y="177705"/>
                    <a:ext cx="49790" cy="2505172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2" name="Straight Connector 21">
                    <a:extLst>
                      <a:ext uri="{FF2B5EF4-FFF2-40B4-BE49-F238E27FC236}">
                        <a16:creationId xmlns:a16="http://schemas.microsoft.com/office/drawing/2014/main" id="{6FD01A18-C328-4900-BCB1-6226FCE7B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1121646" y="3381538"/>
                    <a:ext cx="29957" cy="3006606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2" name="Cube 11">
                  <a:extLst>
                    <a:ext uri="{FF2B5EF4-FFF2-40B4-BE49-F238E27FC236}">
                      <a16:creationId xmlns:a16="http://schemas.microsoft.com/office/drawing/2014/main" id="{AB1C33DC-1C0E-415D-8ECB-32CB0AA82C94}"/>
                    </a:ext>
                  </a:extLst>
                </p:cNvPr>
                <p:cNvSpPr/>
                <p:nvPr/>
              </p:nvSpPr>
              <p:spPr>
                <a:xfrm>
                  <a:off x="6298470" y="4918480"/>
                  <a:ext cx="3041933" cy="966439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trike="noStrike" spc="-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CZTSSe</a:t>
                  </a:r>
                  <a:endParaRPr lang="en-US" sz="2400" b="1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3" name="Cube 12">
                  <a:extLst>
                    <a:ext uri="{FF2B5EF4-FFF2-40B4-BE49-F238E27FC236}">
                      <a16:creationId xmlns:a16="http://schemas.microsoft.com/office/drawing/2014/main" id="{453B103F-1E1A-40CA-9466-2B4D61F9EB75}"/>
                    </a:ext>
                  </a:extLst>
                </p:cNvPr>
                <p:cNvSpPr/>
                <p:nvPr/>
              </p:nvSpPr>
              <p:spPr>
                <a:xfrm>
                  <a:off x="6305729" y="4513676"/>
                  <a:ext cx="3041933" cy="966438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pc="-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CdS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4" name="Cube 13">
                  <a:extLst>
                    <a:ext uri="{FF2B5EF4-FFF2-40B4-BE49-F238E27FC236}">
                      <a16:creationId xmlns:a16="http://schemas.microsoft.com/office/drawing/2014/main" id="{2A534640-5024-48F7-95E5-A69EF5DBE0F9}"/>
                    </a:ext>
                  </a:extLst>
                </p:cNvPr>
                <p:cNvSpPr/>
                <p:nvPr/>
              </p:nvSpPr>
              <p:spPr>
                <a:xfrm>
                  <a:off x="6316368" y="4134431"/>
                  <a:ext cx="3037652" cy="968524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pc="-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i-ZnO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5" name="Cube 14">
                  <a:extLst>
                    <a:ext uri="{FF2B5EF4-FFF2-40B4-BE49-F238E27FC236}">
                      <a16:creationId xmlns:a16="http://schemas.microsoft.com/office/drawing/2014/main" id="{D2DAF46E-EB55-4E93-A3F5-C90029142016}"/>
                    </a:ext>
                  </a:extLst>
                </p:cNvPr>
                <p:cNvSpPr/>
                <p:nvPr/>
              </p:nvSpPr>
              <p:spPr>
                <a:xfrm>
                  <a:off x="6318508" y="3759153"/>
                  <a:ext cx="3037651" cy="949664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trike="noStrike" spc="-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ZnO:Al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6" name="Cube 5">
                <a:extLst>
                  <a:ext uri="{FF2B5EF4-FFF2-40B4-BE49-F238E27FC236}">
                    <a16:creationId xmlns:a16="http://schemas.microsoft.com/office/drawing/2014/main" id="{0F03452C-1D54-4C10-8712-72742BC424C5}"/>
                  </a:ext>
                </a:extLst>
              </p:cNvPr>
              <p:cNvSpPr/>
              <p:nvPr/>
            </p:nvSpPr>
            <p:spPr>
              <a:xfrm>
                <a:off x="6279400" y="3441548"/>
                <a:ext cx="3030394" cy="930472"/>
              </a:xfrm>
              <a:prstGeom prst="cube">
                <a:avLst>
                  <a:gd name="adj" fmla="val 58858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>
                  <a:lnSpc>
                    <a:spcPct val="100000"/>
                  </a:lnSpc>
                  <a:buNone/>
                </a:pPr>
                <a:r>
                  <a:rPr lang="en-US" b="1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Recombination Layer</a:t>
                </a:r>
                <a:endParaRPr lang="en-US" b="0" strike="noStrike" spc="-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8" name="Arrow: Down 7">
                <a:extLst>
                  <a:ext uri="{FF2B5EF4-FFF2-40B4-BE49-F238E27FC236}">
                    <a16:creationId xmlns:a16="http://schemas.microsoft.com/office/drawing/2014/main" id="{51782746-F4CE-47B3-9796-55599E7E878D}"/>
                  </a:ext>
                </a:extLst>
              </p:cNvPr>
              <p:cNvSpPr/>
              <p:nvPr/>
            </p:nvSpPr>
            <p:spPr>
              <a:xfrm>
                <a:off x="7130182" y="3221817"/>
                <a:ext cx="307650" cy="629174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en-SG" dirty="0"/>
              </a:p>
            </p:txBody>
          </p:sp>
          <p:sp>
            <p:nvSpPr>
              <p:cNvPr id="9" name="Arrow: Down 8">
                <a:extLst>
                  <a:ext uri="{FF2B5EF4-FFF2-40B4-BE49-F238E27FC236}">
                    <a16:creationId xmlns:a16="http://schemas.microsoft.com/office/drawing/2014/main" id="{23E41042-2C00-4EE6-92F0-993FF1991B95}"/>
                  </a:ext>
                </a:extLst>
              </p:cNvPr>
              <p:cNvSpPr/>
              <p:nvPr/>
            </p:nvSpPr>
            <p:spPr>
              <a:xfrm>
                <a:off x="7629654" y="3213180"/>
                <a:ext cx="307650" cy="629174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10" name="Arrow: Down 9">
                <a:extLst>
                  <a:ext uri="{FF2B5EF4-FFF2-40B4-BE49-F238E27FC236}">
                    <a16:creationId xmlns:a16="http://schemas.microsoft.com/office/drawing/2014/main" id="{C58B611A-E347-4F82-A6A1-7BDC16AE08AF}"/>
                  </a:ext>
                </a:extLst>
              </p:cNvPr>
              <p:cNvSpPr/>
              <p:nvPr/>
            </p:nvSpPr>
            <p:spPr>
              <a:xfrm>
                <a:off x="8095185" y="3213180"/>
                <a:ext cx="285741" cy="629174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7" name="Straight Arrow Connector 6">
                <a:extLst>
                  <a:ext uri="{FF2B5EF4-FFF2-40B4-BE49-F238E27FC236}">
                    <a16:creationId xmlns:a16="http://schemas.microsoft.com/office/drawing/2014/main" id="{213828E2-7A3A-4BA7-A30F-082AF7389FF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6040600" y="3346130"/>
                <a:ext cx="1090711" cy="4102"/>
              </a:xfrm>
              <a:prstGeom prst="straightConnector1">
                <a:avLst/>
              </a:prstGeom>
              <a:ln>
                <a:prstDash val="sysDash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B4988176-A76D-4D38-9BB1-29BF92EE28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25" t="3894" r="7054" b="9064"/>
            <a:stretch/>
          </p:blipFill>
          <p:spPr>
            <a:xfrm>
              <a:off x="1327876" y="3469593"/>
              <a:ext cx="3677413" cy="290619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8196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76B6936-06C4-1F8D-B3F8-3A8524553818}"/>
              </a:ext>
            </a:extLst>
          </p:cNvPr>
          <p:cNvGrpSpPr/>
          <p:nvPr/>
        </p:nvGrpSpPr>
        <p:grpSpPr>
          <a:xfrm>
            <a:off x="1519305" y="242568"/>
            <a:ext cx="9421931" cy="5577986"/>
            <a:chOff x="2164203" y="115845"/>
            <a:chExt cx="9993899" cy="588940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F67C7282-F97B-4976-85F5-81AEBF6C410E}"/>
                </a:ext>
              </a:extLst>
            </p:cNvPr>
            <p:cNvGrpSpPr/>
            <p:nvPr/>
          </p:nvGrpSpPr>
          <p:grpSpPr>
            <a:xfrm>
              <a:off x="6261677" y="115845"/>
              <a:ext cx="5896425" cy="5889400"/>
              <a:chOff x="6778479" y="-405458"/>
              <a:chExt cx="5664431" cy="6353803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BA2B8F2F-A6EE-4502-9BA1-96CD5EE8B7F9}"/>
                  </a:ext>
                </a:extLst>
              </p:cNvPr>
              <p:cNvGrpSpPr/>
              <p:nvPr/>
            </p:nvGrpSpPr>
            <p:grpSpPr>
              <a:xfrm>
                <a:off x="6778479" y="-405458"/>
                <a:ext cx="5664431" cy="6353803"/>
                <a:chOff x="6809184" y="-405458"/>
                <a:chExt cx="5664422" cy="6353807"/>
              </a:xfrm>
            </p:grpSpPr>
            <p:grpSp>
              <p:nvGrpSpPr>
                <p:cNvPr id="32" name="Group 31">
                  <a:extLst>
                    <a:ext uri="{FF2B5EF4-FFF2-40B4-BE49-F238E27FC236}">
                      <a16:creationId xmlns:a16="http://schemas.microsoft.com/office/drawing/2014/main" id="{EE6F75E4-935A-49D4-9D3C-5F3C5BF42737}"/>
                    </a:ext>
                  </a:extLst>
                </p:cNvPr>
                <p:cNvGrpSpPr/>
                <p:nvPr/>
              </p:nvGrpSpPr>
              <p:grpSpPr>
                <a:xfrm>
                  <a:off x="6838157" y="-405458"/>
                  <a:ext cx="5635449" cy="6353807"/>
                  <a:chOff x="6755964" y="-395184"/>
                  <a:chExt cx="5635449" cy="6353807"/>
                </a:xfrm>
              </p:grpSpPr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144AA6AB-2B49-4A31-A4AA-5A5278F639CC}"/>
                      </a:ext>
                    </a:extLst>
                  </p:cNvPr>
                  <p:cNvGrpSpPr/>
                  <p:nvPr/>
                </p:nvGrpSpPr>
                <p:grpSpPr>
                  <a:xfrm>
                    <a:off x="6755964" y="-395184"/>
                    <a:ext cx="4752681" cy="6222846"/>
                    <a:chOff x="7189518" y="-610875"/>
                    <a:chExt cx="5189867" cy="6895379"/>
                  </a:xfrm>
                </p:grpSpPr>
                <p:sp>
                  <p:nvSpPr>
                    <p:cNvPr id="34" name="Cube 6">
                      <a:extLst>
                        <a:ext uri="{FF2B5EF4-FFF2-40B4-BE49-F238E27FC236}">
                          <a16:creationId xmlns:a16="http://schemas.microsoft.com/office/drawing/2014/main" id="{951702D7-2E6A-4ABE-AA9E-6E2900EB4C4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277742" y="1324961"/>
                      <a:ext cx="3309141" cy="1064108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2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/>
                    <a:p>
                      <a:pPr algn="ctr"/>
                      <a:endParaRPr lang="en-US" sz="2400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Cs</a:t>
                      </a:r>
                      <a:r>
                        <a:rPr lang="en-US" sz="2400" b="1" strike="noStrike" spc="-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</a:t>
                      </a:r>
                      <a:r>
                        <a:rPr lang="en-US" sz="2400" b="1" strike="noStrike" spc="-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</a:t>
                      </a:r>
                      <a:r>
                        <a:rPr lang="en-US" sz="2400" b="1" strike="noStrike" spc="-1" baseline="-2500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sz="24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endParaRPr lang="en-US" sz="24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grpSp>
                  <p:nvGrpSpPr>
                    <p:cNvPr id="144" name="Group 34"/>
                    <p:cNvGrpSpPr/>
                    <p:nvPr/>
                  </p:nvGrpSpPr>
                  <p:grpSpPr>
                    <a:xfrm>
                      <a:off x="7189518" y="-610875"/>
                      <a:ext cx="3396664" cy="6884165"/>
                      <a:chOff x="7036327" y="-1146977"/>
                      <a:chExt cx="3887337" cy="7692558"/>
                    </a:xfrm>
                  </p:grpSpPr>
                  <p:grpSp>
                    <p:nvGrpSpPr>
                      <p:cNvPr id="145" name="Group 7"/>
                      <p:cNvGrpSpPr/>
                      <p:nvPr/>
                    </p:nvGrpSpPr>
                    <p:grpSpPr>
                      <a:xfrm>
                        <a:off x="7135737" y="187897"/>
                        <a:ext cx="3787927" cy="1523498"/>
                        <a:chOff x="7135737" y="187897"/>
                        <a:chExt cx="3787927" cy="1523498"/>
                      </a:xfrm>
                    </p:grpSpPr>
                    <p:sp>
                      <p:nvSpPr>
                        <p:cNvPr id="147" name="Cube 4"/>
                        <p:cNvSpPr/>
                        <p:nvPr/>
                      </p:nvSpPr>
                      <p:spPr>
                        <a:xfrm>
                          <a:off x="7136499" y="574131"/>
                          <a:ext cx="3787165" cy="1137264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chemeClr val="tx2">
                            <a:lumMod val="10000"/>
                            <a:lumOff val="90000"/>
                          </a:schemeClr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0" b="1" strike="noStrike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MASnI</a:t>
                          </a:r>
                          <a:r>
                            <a:rPr lang="en-US" sz="2400" b="1" strike="noStrike" spc="-1" baseline="-25000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3</a:t>
                          </a:r>
                          <a:endParaRPr lang="en-US" sz="2400" b="0" strike="noStrike" spc="-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  <p:sp>
                      <p:nvSpPr>
                        <p:cNvPr id="149" name="Cube 6"/>
                        <p:cNvSpPr/>
                        <p:nvPr/>
                      </p:nvSpPr>
                      <p:spPr>
                        <a:xfrm>
                          <a:off x="7135737" y="187897"/>
                          <a:ext cx="3787159" cy="1123406"/>
                        </a:xfrm>
                        <a:prstGeom prst="cube">
                          <a:avLst>
                            <a:gd name="adj" fmla="val 58858"/>
                          </a:avLst>
                        </a:prstGeom>
                        <a:solidFill>
                          <a:srgbClr val="FFFF00"/>
                        </a:solidFill>
                        <a:ln>
                          <a:noFill/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 lIns="90000" tIns="45000" rIns="90000" bIns="45000" anchor="ctr">
                          <a:noAutofit/>
                        </a:bodyPr>
                        <a:lstStyle/>
                        <a:p>
                          <a:pPr algn="ctr">
                            <a:lnSpc>
                              <a:spcPct val="100000"/>
                            </a:lnSpc>
                            <a:buNone/>
                          </a:pPr>
                          <a:r>
                            <a:rPr lang="en-US" sz="2400" b="1" strike="noStrike" spc="-1" dirty="0">
                              <a:solidFill>
                                <a:srgbClr val="000000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FTO</a:t>
                          </a:r>
                          <a:endParaRPr lang="en-US" sz="2400" b="0" strike="noStrike" spc="-1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p:txBody>
                    </p:sp>
                  </p:grpSp>
                  <p:sp>
                    <p:nvSpPr>
                      <p:cNvPr id="152" name="Cube 10"/>
                      <p:cNvSpPr/>
                      <p:nvPr/>
                    </p:nvSpPr>
                    <p:spPr>
                      <a:xfrm>
                        <a:off x="7036327" y="5348942"/>
                        <a:ext cx="3801598" cy="1196639"/>
                      </a:xfrm>
                      <a:prstGeom prst="cube">
                        <a:avLst>
                          <a:gd name="adj" fmla="val 58858"/>
                        </a:avLst>
                      </a:prstGeom>
                      <a:solidFill>
                        <a:schemeClr val="accent4"/>
                      </a:solidFill>
                      <a:ln>
                        <a:noFill/>
                      </a:ln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/>
                    </p:style>
                    <p:txBody>
                      <a:bodyPr lIns="90000" tIns="45000" rIns="90000" bIns="45000" anchor="ctr">
                        <a:noAutofit/>
                      </a:bodyPr>
                      <a:lstStyle/>
                      <a:p>
                        <a:pPr algn="ctr"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0" b="1" spc="-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Au</a:t>
                        </a:r>
                        <a:endParaRPr lang="en-US" sz="240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grpSp>
                    <p:nvGrpSpPr>
                      <p:cNvPr id="155" name="Group 21"/>
                      <p:cNvGrpSpPr/>
                      <p:nvPr/>
                    </p:nvGrpSpPr>
                    <p:grpSpPr>
                      <a:xfrm>
                        <a:off x="8156813" y="-489059"/>
                        <a:ext cx="1483356" cy="849321"/>
                        <a:chOff x="8156813" y="-489059"/>
                        <a:chExt cx="1483356" cy="849321"/>
                      </a:xfrm>
                    </p:grpSpPr>
                    <p:sp>
                      <p:nvSpPr>
                        <p:cNvPr id="156" name="Arrow: Down 18"/>
                        <p:cNvSpPr/>
                        <p:nvPr/>
                      </p:nvSpPr>
                      <p:spPr>
                        <a:xfrm>
                          <a:off x="8156813" y="-489059"/>
                          <a:ext cx="384479" cy="842393"/>
                        </a:xfrm>
                        <a:prstGeom prst="downArrow">
                          <a:avLst>
                            <a:gd name="adj1" fmla="val 50000"/>
                            <a:gd name="adj2" fmla="val 50000"/>
                          </a:avLst>
                        </a:prstGeom>
                        <a:solidFill>
                          <a:srgbClr val="FFFF00"/>
                        </a:solidFill>
                        <a:ln>
                          <a:solidFill>
                            <a:srgbClr val="32549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</p:sp>
                    <p:sp>
                      <p:nvSpPr>
                        <p:cNvPr id="157" name="Arrow: Down 19"/>
                        <p:cNvSpPr/>
                        <p:nvPr/>
                      </p:nvSpPr>
                      <p:spPr>
                        <a:xfrm>
                          <a:off x="8719537" y="-482155"/>
                          <a:ext cx="384479" cy="842417"/>
                        </a:xfrm>
                        <a:prstGeom prst="downArrow">
                          <a:avLst>
                            <a:gd name="adj1" fmla="val 50000"/>
                            <a:gd name="adj2" fmla="val 50000"/>
                          </a:avLst>
                        </a:prstGeom>
                        <a:solidFill>
                          <a:srgbClr val="FFFF00"/>
                        </a:solidFill>
                        <a:ln>
                          <a:solidFill>
                            <a:srgbClr val="32549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</p:sp>
                    <p:sp>
                      <p:nvSpPr>
                        <p:cNvPr id="158" name="Arrow: Down 20"/>
                        <p:cNvSpPr/>
                        <p:nvPr/>
                      </p:nvSpPr>
                      <p:spPr>
                        <a:xfrm>
                          <a:off x="9255690" y="-487723"/>
                          <a:ext cx="384479" cy="842396"/>
                        </a:xfrm>
                        <a:prstGeom prst="downArrow">
                          <a:avLst>
                            <a:gd name="adj1" fmla="val 50000"/>
                            <a:gd name="adj2" fmla="val 50000"/>
                          </a:avLst>
                        </a:prstGeom>
                        <a:solidFill>
                          <a:srgbClr val="FFFF00"/>
                        </a:solidFill>
                        <a:ln>
                          <a:solidFill>
                            <a:srgbClr val="325490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/>
                      </p:style>
                      <p:txBody>
                        <a:bodyPr/>
                        <a:lstStyle/>
                        <a:p>
                          <a:endParaRPr lang="en-US"/>
                        </a:p>
                      </p:txBody>
                    </p:sp>
                  </p:grpSp>
                  <p:sp>
                    <p:nvSpPr>
                      <p:cNvPr id="160" name="TextBox 33"/>
                      <p:cNvSpPr/>
                      <p:nvPr/>
                    </p:nvSpPr>
                    <p:spPr>
                      <a:xfrm>
                        <a:off x="8377423" y="-1146977"/>
                        <a:ext cx="2030397" cy="544322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wrap="square" lIns="90000" tIns="45000" rIns="90000" bIns="45000" anchor="t">
                        <a:sp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0" b="1" strike="noStrike" spc="-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Light</a:t>
                        </a:r>
                        <a:endParaRPr lang="en-US" sz="24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  <p:sp>
                    <p:nvSpPr>
                      <p:cNvPr id="159" name="TextBox 26"/>
                      <p:cNvSpPr/>
                      <p:nvPr/>
                    </p:nvSpPr>
                    <p:spPr>
                      <a:xfrm>
                        <a:off x="7608675" y="2171745"/>
                        <a:ext cx="2662468" cy="544319"/>
                      </a:xfrm>
                      <a:prstGeom prst="rect">
                        <a:avLst/>
                      </a:prstGeom>
                      <a:noFill/>
                      <a:ln w="0">
                        <a:noFill/>
                      </a:ln>
                    </p:spPr>
                    <p:style>
                      <a:lnRef idx="0">
                        <a:scrgbClr r="0" g="0" b="0"/>
                      </a:lnRef>
                      <a:fillRef idx="0">
                        <a:scrgbClr r="0" g="0" b="0"/>
                      </a:fillRef>
                      <a:effectRef idx="0">
                        <a:scrgbClr r="0" g="0" b="0"/>
                      </a:effectRef>
                      <a:fontRef idx="minor"/>
                    </p:style>
                    <p:txBody>
                      <a:bodyPr wrap="square" lIns="90000" tIns="45000" rIns="90000" bIns="45000" anchor="t">
                        <a:spAutoFit/>
                      </a:bodyPr>
                      <a:lstStyle/>
                      <a:p>
                        <a:pPr>
                          <a:lnSpc>
                            <a:spcPct val="100000"/>
                          </a:lnSpc>
                          <a:buNone/>
                        </a:pPr>
                        <a:r>
                          <a:rPr lang="en-US" sz="2400" b="1" strike="noStrike" spc="-1" dirty="0">
                            <a:solidFill>
                              <a:srgbClr val="000000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a:t>Filtered Light</a:t>
                        </a:r>
                        <a:endParaRPr lang="en-US" sz="2400" b="0" strike="noStrike" spc="-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endParaRPr>
                      </a:p>
                    </p:txBody>
                  </p:sp>
                </p:grpSp>
                <p:sp>
                  <p:nvSpPr>
                    <p:cNvPr id="167" name="Right Brace 45"/>
                    <p:cNvSpPr/>
                    <p:nvPr/>
                  </p:nvSpPr>
                  <p:spPr>
                    <a:xfrm>
                      <a:off x="10504175" y="22106"/>
                      <a:ext cx="562680" cy="2136240"/>
                    </a:xfrm>
                    <a:prstGeom prst="rightBrace">
                      <a:avLst>
                        <a:gd name="adj1" fmla="val 8333"/>
                        <a:gd name="adj2" fmla="val 50000"/>
                      </a:avLst>
                    </a:prstGeom>
                    <a:noFill/>
                    <a:ln>
                      <a:solidFill>
                        <a:srgbClr val="000000"/>
                      </a:solidFill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/>
                  </p:style>
                </p:sp>
                <p:sp>
                  <p:nvSpPr>
                    <p:cNvPr id="168" name="TextBox 46"/>
                    <p:cNvSpPr/>
                    <p:nvPr/>
                  </p:nvSpPr>
                  <p:spPr>
                    <a:xfrm>
                      <a:off x="11046310" y="641124"/>
                      <a:ext cx="1333075" cy="919194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square" lIns="90000" tIns="45000" rIns="90000" bIns="45000" anchor="t">
                      <a:sp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</a:t>
                      </a:r>
                      <a:r>
                        <a:rPr lang="en-US" sz="2400" b="1" spc="-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ub-cell</a:t>
                      </a:r>
                      <a:endParaRPr lang="en-US" sz="24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9" name="TextBox 47"/>
                    <p:cNvSpPr/>
                    <p:nvPr/>
                  </p:nvSpPr>
                  <p:spPr>
                    <a:xfrm>
                      <a:off x="11010056" y="4119229"/>
                      <a:ext cx="1333077" cy="919197"/>
                    </a:xfrm>
                    <a:prstGeom prst="rect">
                      <a:avLst/>
                    </a:prstGeom>
                    <a:noFill/>
                    <a:ln w="0">
                      <a:noFill/>
                    </a:ln>
                  </p:spPr>
                  <p:style>
                    <a:lnRef idx="0">
                      <a:scrgbClr r="0" g="0" b="0"/>
                    </a:lnRef>
                    <a:fillRef idx="0">
                      <a:scrgbClr r="0" g="0" b="0"/>
                    </a:fillRef>
                    <a:effectRef idx="0">
                      <a:scrgbClr r="0" g="0" b="0"/>
                    </a:effectRef>
                    <a:fontRef idx="minor"/>
                  </p:style>
                  <p:txBody>
                    <a:bodyPr wrap="square" lIns="90000" tIns="45000" rIns="90000" bIns="45000" anchor="t">
                      <a:spAutoFit/>
                    </a:bodyPr>
                    <a:lstStyle/>
                    <a:p>
                      <a:pPr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 sub-cell</a:t>
                      </a:r>
                      <a:endParaRPr lang="en-US" sz="24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0" name="Right Brace 48"/>
                    <p:cNvSpPr/>
                    <p:nvPr/>
                  </p:nvSpPr>
                  <p:spPr>
                    <a:xfrm>
                      <a:off x="10508268" y="3136270"/>
                      <a:ext cx="562682" cy="3148234"/>
                    </a:xfrm>
                    <a:prstGeom prst="rightBrace">
                      <a:avLst>
                        <a:gd name="adj1" fmla="val 8333"/>
                        <a:gd name="adj2" fmla="val 50000"/>
                      </a:avLst>
                    </a:prstGeom>
                    <a:noFill/>
                    <a:ln>
                      <a:solidFill>
                        <a:srgbClr val="000000"/>
                      </a:solidFill>
                    </a:ln>
                  </p:spPr>
                  <p:style>
                    <a:lnRef idx="3">
                      <a:schemeClr val="dk1"/>
                    </a:lnRef>
                    <a:fillRef idx="0">
                      <a:schemeClr val="dk1"/>
                    </a:fillRef>
                    <a:effectRef idx="2">
                      <a:schemeClr val="dk1"/>
                    </a:effectRef>
                    <a:fontRef idx="minor"/>
                  </p:style>
                </p:sp>
              </p:grpSp>
              <p:sp>
                <p:nvSpPr>
                  <p:cNvPr id="4" name="Cube 3">
                    <a:extLst>
                      <a:ext uri="{FF2B5EF4-FFF2-40B4-BE49-F238E27FC236}">
                        <a16:creationId xmlns:a16="http://schemas.microsoft.com/office/drawing/2014/main" id="{643E57F2-BF06-45F1-AD24-3CF892A8F73F}"/>
                      </a:ext>
                    </a:extLst>
                  </p:cNvPr>
                  <p:cNvSpPr/>
                  <p:nvPr/>
                </p:nvSpPr>
                <p:spPr>
                  <a:xfrm>
                    <a:off x="8849816" y="772250"/>
                    <a:ext cx="603297" cy="523787"/>
                  </a:xfrm>
                  <a:prstGeom prst="cub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000" b="1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Al</a:t>
                    </a:r>
                    <a:endParaRPr lang="en-SG" sz="2000" b="1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7" name="Connector: Elbow 6">
                    <a:extLst>
                      <a:ext uri="{FF2B5EF4-FFF2-40B4-BE49-F238E27FC236}">
                        <a16:creationId xmlns:a16="http://schemas.microsoft.com/office/drawing/2014/main" id="{EC64AC81-FDA1-44B7-97AC-DB403A17178D}"/>
                      </a:ext>
                    </a:extLst>
                  </p:cNvPr>
                  <p:cNvCxnSpPr>
                    <a:cxnSpLocks/>
                    <a:stCxn id="4" idx="0"/>
                  </p:cNvCxnSpPr>
                  <p:nvPr/>
                </p:nvCxnSpPr>
                <p:spPr>
                  <a:xfrm rot="5400000" flipH="1" flipV="1">
                    <a:off x="10060313" y="-783178"/>
                    <a:ext cx="705149" cy="2405706"/>
                  </a:xfrm>
                  <a:prstGeom prst="bentConnector2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3" name="Connector: Elbow 42">
                    <a:extLst>
                      <a:ext uri="{FF2B5EF4-FFF2-40B4-BE49-F238E27FC236}">
                        <a16:creationId xmlns:a16="http://schemas.microsoft.com/office/drawing/2014/main" id="{97CC96D8-E4E5-4252-9183-5A79DDE34B9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9060718" y="5827662"/>
                    <a:ext cx="2585683" cy="130961"/>
                  </a:xfrm>
                  <a:prstGeom prst="bentConnector3">
                    <a:avLst>
                      <a:gd name="adj1" fmla="val 12723"/>
                    </a:avLst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Rectangle: Rounded Corners 12">
                    <a:extLst>
                      <a:ext uri="{FF2B5EF4-FFF2-40B4-BE49-F238E27FC236}">
                        <a16:creationId xmlns:a16="http://schemas.microsoft.com/office/drawing/2014/main" id="{0D4DBBD3-1386-44C5-96F7-6FC3396029A0}"/>
                      </a:ext>
                    </a:extLst>
                  </p:cNvPr>
                  <p:cNvSpPr/>
                  <p:nvPr/>
                </p:nvSpPr>
                <p:spPr>
                  <a:xfrm>
                    <a:off x="10881110" y="2682876"/>
                    <a:ext cx="1510303" cy="673527"/>
                  </a:xfrm>
                  <a:prstGeom prst="roundRect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Load</a:t>
                    </a:r>
                    <a:endParaRPr lang="en-SG" sz="28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cxnSp>
                <p:nvCxnSpPr>
                  <p:cNvPr id="25" name="Straight Connector 24">
                    <a:extLst>
                      <a:ext uri="{FF2B5EF4-FFF2-40B4-BE49-F238E27FC236}">
                        <a16:creationId xmlns:a16="http://schemas.microsoft.com/office/drawing/2014/main" id="{E9D4B90B-EF52-4F60-BDC7-C01D2FF37AE4}"/>
                      </a:ext>
                    </a:extLst>
                  </p:cNvPr>
                  <p:cNvCxnSpPr>
                    <a:cxnSpLocks/>
                    <a:stCxn id="13" idx="0"/>
                  </p:cNvCxnSpPr>
                  <p:nvPr/>
                </p:nvCxnSpPr>
                <p:spPr>
                  <a:xfrm flipH="1" flipV="1">
                    <a:off x="11570487" y="67103"/>
                    <a:ext cx="65775" cy="2615774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>
                    <a:extLst>
                      <a:ext uri="{FF2B5EF4-FFF2-40B4-BE49-F238E27FC236}">
                        <a16:creationId xmlns:a16="http://schemas.microsoft.com/office/drawing/2014/main" id="{6FD01A18-C328-4900-BCB1-6226FCE7B7D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 flipV="1">
                    <a:off x="11646402" y="3381538"/>
                    <a:ext cx="5269" cy="2577085"/>
                  </a:xfrm>
                  <a:prstGeom prst="line">
                    <a:avLst/>
                  </a:prstGeom>
                  <a:ln>
                    <a:prstDash val="dash"/>
                  </a:ln>
                </p:spPr>
                <p:style>
                  <a:lnRef idx="3">
                    <a:schemeClr val="dk1"/>
                  </a:lnRef>
                  <a:fillRef idx="0">
                    <a:schemeClr val="dk1"/>
                  </a:fillRef>
                  <a:effectRef idx="2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46" name="Cube 10">
                  <a:extLst>
                    <a:ext uri="{FF2B5EF4-FFF2-40B4-BE49-F238E27FC236}">
                      <a16:creationId xmlns:a16="http://schemas.microsoft.com/office/drawing/2014/main" id="{AB1C33DC-1C0E-415D-8ECB-32CB0AA82C94}"/>
                    </a:ext>
                  </a:extLst>
                </p:cNvPr>
                <p:cNvSpPr/>
                <p:nvPr/>
              </p:nvSpPr>
              <p:spPr>
                <a:xfrm>
                  <a:off x="6831936" y="4475225"/>
                  <a:ext cx="3041933" cy="966439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5">
                    <a:lumMod val="40000"/>
                    <a:lumOff val="6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trike="noStrike" spc="-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CZTSSe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7" name="Cube 11">
                  <a:extLst>
                    <a:ext uri="{FF2B5EF4-FFF2-40B4-BE49-F238E27FC236}">
                      <a16:creationId xmlns:a16="http://schemas.microsoft.com/office/drawing/2014/main" id="{453B103F-1E1A-40CA-9466-2B4D61F9EB75}"/>
                    </a:ext>
                  </a:extLst>
                </p:cNvPr>
                <p:cNvSpPr/>
                <p:nvPr/>
              </p:nvSpPr>
              <p:spPr>
                <a:xfrm>
                  <a:off x="6817752" y="4119339"/>
                  <a:ext cx="3041933" cy="966438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3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pc="-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CdS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49" name="Cube 12">
                  <a:extLst>
                    <a:ext uri="{FF2B5EF4-FFF2-40B4-BE49-F238E27FC236}">
                      <a16:creationId xmlns:a16="http://schemas.microsoft.com/office/drawing/2014/main" id="{2A534640-5024-48F7-95E5-A69EF5DBE0F9}"/>
                    </a:ext>
                  </a:extLst>
                </p:cNvPr>
                <p:cNvSpPr/>
                <p:nvPr/>
              </p:nvSpPr>
              <p:spPr>
                <a:xfrm>
                  <a:off x="6817752" y="3763006"/>
                  <a:ext cx="3037652" cy="968523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5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pc="-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i-ZnO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0" name="Cube 40">
                  <a:extLst>
                    <a:ext uri="{FF2B5EF4-FFF2-40B4-BE49-F238E27FC236}">
                      <a16:creationId xmlns:a16="http://schemas.microsoft.com/office/drawing/2014/main" id="{D2DAF46E-EB55-4E93-A3F5-C90029142016}"/>
                    </a:ext>
                  </a:extLst>
                </p:cNvPr>
                <p:cNvSpPr/>
                <p:nvPr/>
              </p:nvSpPr>
              <p:spPr>
                <a:xfrm>
                  <a:off x="6809184" y="3375757"/>
                  <a:ext cx="3037650" cy="949664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3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/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trike="noStrike" spc="-1" dirty="0" err="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ZnO:Al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sp>
            <p:nvSpPr>
              <p:cNvPr id="42" name="Cube 6">
                <a:extLst>
                  <a:ext uri="{FF2B5EF4-FFF2-40B4-BE49-F238E27FC236}">
                    <a16:creationId xmlns:a16="http://schemas.microsoft.com/office/drawing/2014/main" id="{0F03452C-1D54-4C10-8712-72742BC424C5}"/>
                  </a:ext>
                </a:extLst>
              </p:cNvPr>
              <p:cNvSpPr/>
              <p:nvPr/>
            </p:nvSpPr>
            <p:spPr>
              <a:xfrm>
                <a:off x="6780326" y="3015442"/>
                <a:ext cx="3030400" cy="930472"/>
              </a:xfrm>
              <a:prstGeom prst="cube">
                <a:avLst>
                  <a:gd name="adj" fmla="val 58858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b="1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Recombination Layer</a:t>
                </a:r>
                <a:endParaRPr lang="en-US" b="0" strike="noStrike" spc="-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45" name="Arrow: Down 43">
                <a:extLst>
                  <a:ext uri="{FF2B5EF4-FFF2-40B4-BE49-F238E27FC236}">
                    <a16:creationId xmlns:a16="http://schemas.microsoft.com/office/drawing/2014/main" id="{51782746-F4CE-47B3-9796-55599E7E878D}"/>
                  </a:ext>
                </a:extLst>
              </p:cNvPr>
              <p:cNvSpPr/>
              <p:nvPr/>
            </p:nvSpPr>
            <p:spPr>
              <a:xfrm>
                <a:off x="7652604" y="2752552"/>
                <a:ext cx="307651" cy="62917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en-SG" dirty="0"/>
              </a:p>
            </p:txBody>
          </p:sp>
          <p:sp>
            <p:nvSpPr>
              <p:cNvPr id="48" name="Arrow: Down 42">
                <a:extLst>
                  <a:ext uri="{FF2B5EF4-FFF2-40B4-BE49-F238E27FC236}">
                    <a16:creationId xmlns:a16="http://schemas.microsoft.com/office/drawing/2014/main" id="{23E41042-2C00-4EE6-92F0-993FF1991B95}"/>
                  </a:ext>
                </a:extLst>
              </p:cNvPr>
              <p:cNvSpPr/>
              <p:nvPr/>
            </p:nvSpPr>
            <p:spPr>
              <a:xfrm>
                <a:off x="8152070" y="2743919"/>
                <a:ext cx="307651" cy="62917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55" name="Arrow: Down 41">
                <a:extLst>
                  <a:ext uri="{FF2B5EF4-FFF2-40B4-BE49-F238E27FC236}">
                    <a16:creationId xmlns:a16="http://schemas.microsoft.com/office/drawing/2014/main" id="{C58B611A-E347-4F82-A6A1-7BDC16AE08AF}"/>
                  </a:ext>
                </a:extLst>
              </p:cNvPr>
              <p:cNvSpPr/>
              <p:nvPr/>
            </p:nvSpPr>
            <p:spPr>
              <a:xfrm>
                <a:off x="8617600" y="2743919"/>
                <a:ext cx="285741" cy="629173"/>
              </a:xfrm>
              <a:prstGeom prst="downArrow">
                <a:avLst>
                  <a:gd name="adj1" fmla="val 50000"/>
                  <a:gd name="adj2" fmla="val 50000"/>
                </a:avLst>
              </a:prstGeom>
              <a:solidFill>
                <a:srgbClr val="FFFF00"/>
              </a:solidFill>
              <a:ln>
                <a:solidFill>
                  <a:srgbClr val="32549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3B060D9-1C9F-11E5-644F-C84C1E3BB7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3" t="4045" r="7053" b="9064"/>
            <a:stretch/>
          </p:blipFill>
          <p:spPr>
            <a:xfrm>
              <a:off x="2173508" y="544343"/>
              <a:ext cx="3852650" cy="258999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495676B1-5E60-D3FC-E622-F094B48BDF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18" t="3385" r="5932" b="6313"/>
            <a:stretch>
              <a:fillRect/>
            </a:stretch>
          </p:blipFill>
          <p:spPr>
            <a:xfrm>
              <a:off x="2164203" y="3153437"/>
              <a:ext cx="3927968" cy="2721037"/>
            </a:xfrm>
            <a:prstGeom prst="rect">
              <a:avLst/>
            </a:prstGeom>
          </p:spPr>
        </p:pic>
      </p:grpSp>
      <p:cxnSp>
        <p:nvCxnSpPr>
          <p:cNvPr id="133" name="Straight Arrow Connector 132">
            <a:extLst>
              <a:ext uri="{FF2B5EF4-FFF2-40B4-BE49-F238E27FC236}">
                <a16:creationId xmlns:a16="http://schemas.microsoft.com/office/drawing/2014/main" id="{358991BD-56A5-AAAA-5525-1E9534441A45}"/>
              </a:ext>
            </a:extLst>
          </p:cNvPr>
          <p:cNvCxnSpPr>
            <a:cxnSpLocks/>
          </p:cNvCxnSpPr>
          <p:nvPr/>
        </p:nvCxnSpPr>
        <p:spPr>
          <a:xfrm flipH="1">
            <a:off x="4995043" y="956065"/>
            <a:ext cx="1295553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652976E1-B728-C0F7-018E-FF3A3BC43249}"/>
              </a:ext>
            </a:extLst>
          </p:cNvPr>
          <p:cNvCxnSpPr>
            <a:cxnSpLocks/>
          </p:cNvCxnSpPr>
          <p:nvPr/>
        </p:nvCxnSpPr>
        <p:spPr>
          <a:xfrm flipH="1">
            <a:off x="5076497" y="3221836"/>
            <a:ext cx="1209189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7441E0C-CEC8-7D7F-6E8B-585101B556F5}"/>
              </a:ext>
            </a:extLst>
          </p:cNvPr>
          <p:cNvCxnSpPr>
            <a:cxnSpLocks/>
          </p:cNvCxnSpPr>
          <p:nvPr/>
        </p:nvCxnSpPr>
        <p:spPr>
          <a:xfrm flipH="1" flipV="1">
            <a:off x="10110110" y="562055"/>
            <a:ext cx="35692" cy="2188932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00DEA16E-9C72-4FFC-18BB-CCB15BB223AC}"/>
              </a:ext>
            </a:extLst>
          </p:cNvPr>
          <p:cNvCxnSpPr>
            <a:cxnSpLocks/>
          </p:cNvCxnSpPr>
          <p:nvPr/>
        </p:nvCxnSpPr>
        <p:spPr>
          <a:xfrm flipH="1">
            <a:off x="5971221" y="3704326"/>
            <a:ext cx="58430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4" name="Group 23">
            <a:extLst>
              <a:ext uri="{FF2B5EF4-FFF2-40B4-BE49-F238E27FC236}">
                <a16:creationId xmlns:a16="http://schemas.microsoft.com/office/drawing/2014/main" id="{8A58E5C2-CB9E-4E88-920D-87BD8ECB7DBC}"/>
              </a:ext>
            </a:extLst>
          </p:cNvPr>
          <p:cNvGrpSpPr/>
          <p:nvPr/>
        </p:nvGrpSpPr>
        <p:grpSpPr>
          <a:xfrm>
            <a:off x="1556615" y="303895"/>
            <a:ext cx="9686022" cy="6245773"/>
            <a:chOff x="1121783" y="219403"/>
            <a:chExt cx="9766936" cy="6623370"/>
          </a:xfrm>
        </p:grpSpPr>
        <p:grpSp>
          <p:nvGrpSpPr>
            <p:cNvPr id="74" name="Group 73">
              <a:extLst>
                <a:ext uri="{FF2B5EF4-FFF2-40B4-BE49-F238E27FC236}">
                  <a16:creationId xmlns:a16="http://schemas.microsoft.com/office/drawing/2014/main" id="{84A220BF-A571-EDD5-23DF-5E3620E1330B}"/>
                </a:ext>
              </a:extLst>
            </p:cNvPr>
            <p:cNvGrpSpPr/>
            <p:nvPr/>
          </p:nvGrpSpPr>
          <p:grpSpPr>
            <a:xfrm>
              <a:off x="4996461" y="219403"/>
              <a:ext cx="4753386" cy="6395905"/>
              <a:chOff x="4418566" y="0"/>
              <a:chExt cx="5004003" cy="6731564"/>
            </a:xfrm>
          </p:grpSpPr>
          <p:sp>
            <p:nvSpPr>
              <p:cNvPr id="9" name="TextBox 33">
                <a:extLst>
                  <a:ext uri="{FF2B5EF4-FFF2-40B4-BE49-F238E27FC236}">
                    <a16:creationId xmlns:a16="http://schemas.microsoft.com/office/drawing/2014/main" id="{EC88A619-963A-41CF-5959-CF61EC3AE194}"/>
                  </a:ext>
                </a:extLst>
              </p:cNvPr>
              <p:cNvSpPr/>
              <p:nvPr/>
            </p:nvSpPr>
            <p:spPr>
              <a:xfrm>
                <a:off x="5598240" y="0"/>
                <a:ext cx="1624670" cy="4369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None/>
                </a:pPr>
                <a:r>
                  <a:rPr lang="en-US" sz="2400" b="1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Light</a:t>
                </a:r>
                <a:endParaRPr lang="en-US" sz="2400" b="0" strike="noStrike" spc="-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23DA6657-9F0F-AED6-5FB8-2715E80895D1}"/>
                  </a:ext>
                </a:extLst>
              </p:cNvPr>
              <p:cNvGrpSpPr/>
              <p:nvPr/>
            </p:nvGrpSpPr>
            <p:grpSpPr>
              <a:xfrm>
                <a:off x="4418566" y="446181"/>
                <a:ext cx="5004003" cy="6285383"/>
                <a:chOff x="6730841" y="568988"/>
                <a:chExt cx="5004003" cy="6285383"/>
              </a:xfrm>
            </p:grpSpPr>
            <p:grpSp>
              <p:nvGrpSpPr>
                <p:cNvPr id="22" name="Group 21">
                  <a:extLst>
                    <a:ext uri="{FF2B5EF4-FFF2-40B4-BE49-F238E27FC236}">
                      <a16:creationId xmlns:a16="http://schemas.microsoft.com/office/drawing/2014/main" id="{B613257F-946A-1A52-96DD-D7F308D69107}"/>
                    </a:ext>
                  </a:extLst>
                </p:cNvPr>
                <p:cNvGrpSpPr/>
                <p:nvPr/>
              </p:nvGrpSpPr>
              <p:grpSpPr>
                <a:xfrm>
                  <a:off x="6893874" y="568988"/>
                  <a:ext cx="2913462" cy="2262620"/>
                  <a:chOff x="4832115" y="403727"/>
                  <a:chExt cx="2913462" cy="2262620"/>
                </a:xfrm>
              </p:grpSpPr>
              <p:sp>
                <p:nvSpPr>
                  <p:cNvPr id="2" name="Cube 1">
                    <a:extLst>
                      <a:ext uri="{FF2B5EF4-FFF2-40B4-BE49-F238E27FC236}">
                        <a16:creationId xmlns:a16="http://schemas.microsoft.com/office/drawing/2014/main" id="{10DA592E-13AF-73D2-81AF-552E02CD00DE}"/>
                      </a:ext>
                    </a:extLst>
                  </p:cNvPr>
                  <p:cNvSpPr/>
                  <p:nvPr/>
                </p:nvSpPr>
                <p:spPr>
                  <a:xfrm>
                    <a:off x="4839493" y="1783014"/>
                    <a:ext cx="2906061" cy="883333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accent2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2400" b="1" strike="noStrike" spc="-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/>
                    <a:r>
                      <a:rPr lang="en-US" sz="2400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Cs</a:t>
                    </a:r>
                    <a:r>
                      <a:rPr lang="en-US" sz="2400" b="1" strike="noStrike" spc="-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r>
                      <a:rPr lang="en-US" sz="2400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Bi</a:t>
                    </a:r>
                    <a:r>
                      <a:rPr lang="en-US" sz="2400" b="1" strike="noStrike" spc="-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2400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</a:t>
                    </a:r>
                    <a:r>
                      <a:rPr lang="en-US" sz="2400" b="1" strike="noStrike" spc="-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9</a:t>
                    </a: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  <a:p>
                    <a:pPr algn="ctr">
                      <a:lnSpc>
                        <a:spcPct val="100000"/>
                      </a:lnSpc>
                      <a:buNone/>
                    </a:pP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3" name="Cube 2">
                    <a:extLst>
                      <a:ext uri="{FF2B5EF4-FFF2-40B4-BE49-F238E27FC236}">
                        <a16:creationId xmlns:a16="http://schemas.microsoft.com/office/drawing/2014/main" id="{1FB70DEB-3E10-167E-F300-D783511BF7CA}"/>
                      </a:ext>
                    </a:extLst>
                  </p:cNvPr>
                  <p:cNvSpPr/>
                  <p:nvPr/>
                </p:nvSpPr>
                <p:spPr>
                  <a:xfrm>
                    <a:off x="4832115" y="1428984"/>
                    <a:ext cx="2913448" cy="894863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tx2">
                      <a:lumMod val="10000"/>
                      <a:lumOff val="9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MASnI</a:t>
                    </a:r>
                    <a:r>
                      <a:rPr lang="en-US" sz="2400" b="1" strike="noStrike" spc="-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4" name="Cube 3">
                    <a:extLst>
                      <a:ext uri="{FF2B5EF4-FFF2-40B4-BE49-F238E27FC236}">
                        <a16:creationId xmlns:a16="http://schemas.microsoft.com/office/drawing/2014/main" id="{50A218BB-096C-0CDF-121C-DF328961F16F}"/>
                      </a:ext>
                    </a:extLst>
                  </p:cNvPr>
                  <p:cNvSpPr/>
                  <p:nvPr/>
                </p:nvSpPr>
                <p:spPr>
                  <a:xfrm>
                    <a:off x="4832131" y="1074238"/>
                    <a:ext cx="2913446" cy="883333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Cs</a:t>
                    </a:r>
                    <a:r>
                      <a:rPr lang="en-US" sz="2400" b="1" strike="noStrike" spc="-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sz="2400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TiBr</a:t>
                    </a:r>
                    <a:r>
                      <a:rPr lang="en-US" sz="2400" b="1" strike="noStrike" spc="-1" baseline="-2500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6</a:t>
                    </a: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5" name="Cube 4">
                    <a:extLst>
                      <a:ext uri="{FF2B5EF4-FFF2-40B4-BE49-F238E27FC236}">
                        <a16:creationId xmlns:a16="http://schemas.microsoft.com/office/drawing/2014/main" id="{3908707D-DD3F-E4D1-F9A9-E03C888F42CB}"/>
                      </a:ext>
                    </a:extLst>
                  </p:cNvPr>
                  <p:cNvSpPr/>
                  <p:nvPr/>
                </p:nvSpPr>
                <p:spPr>
                  <a:xfrm>
                    <a:off x="4832131" y="698158"/>
                    <a:ext cx="2913446" cy="894574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rgbClr val="FFFF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FTO</a:t>
                    </a: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6" name="Arrow: Down 5">
                    <a:extLst>
                      <a:ext uri="{FF2B5EF4-FFF2-40B4-BE49-F238E27FC236}">
                        <a16:creationId xmlns:a16="http://schemas.microsoft.com/office/drawing/2014/main" id="{01A40956-DBA7-4835-0F00-E11516D33573}"/>
                      </a:ext>
                    </a:extLst>
                  </p:cNvPr>
                  <p:cNvSpPr/>
                  <p:nvPr/>
                </p:nvSpPr>
                <p:spPr>
                  <a:xfrm>
                    <a:off x="5511793" y="436900"/>
                    <a:ext cx="307650" cy="676153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7" name="Arrow: Down 6">
                    <a:extLst>
                      <a:ext uri="{FF2B5EF4-FFF2-40B4-BE49-F238E27FC236}">
                        <a16:creationId xmlns:a16="http://schemas.microsoft.com/office/drawing/2014/main" id="{B1AA7C04-757A-5FAA-8E63-5B34650F21A5}"/>
                      </a:ext>
                    </a:extLst>
                  </p:cNvPr>
                  <p:cNvSpPr/>
                  <p:nvPr/>
                </p:nvSpPr>
                <p:spPr>
                  <a:xfrm>
                    <a:off x="6021240" y="419956"/>
                    <a:ext cx="307650" cy="676153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8" name="Arrow: Down 7">
                    <a:extLst>
                      <a:ext uri="{FF2B5EF4-FFF2-40B4-BE49-F238E27FC236}">
                        <a16:creationId xmlns:a16="http://schemas.microsoft.com/office/drawing/2014/main" id="{750E622F-C55B-A82C-9C42-8C01F76AE7DF}"/>
                      </a:ext>
                    </a:extLst>
                  </p:cNvPr>
                  <p:cNvSpPr/>
                  <p:nvPr/>
                </p:nvSpPr>
                <p:spPr>
                  <a:xfrm>
                    <a:off x="6476521" y="403727"/>
                    <a:ext cx="307650" cy="676153"/>
                  </a:xfrm>
                  <a:prstGeom prst="downArrow">
                    <a:avLst>
                      <a:gd name="adj1" fmla="val 50000"/>
                      <a:gd name="adj2" fmla="val 50000"/>
                    </a:avLst>
                  </a:prstGeom>
                  <a:solidFill>
                    <a:srgbClr val="FFFF00"/>
                  </a:solidFill>
                  <a:ln>
                    <a:solidFill>
                      <a:srgbClr val="325490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/>
                  <a:lstStyle/>
                  <a:p>
                    <a:endParaRPr lang="en-US"/>
                  </a:p>
                </p:txBody>
              </p:sp>
              <p:sp>
                <p:nvSpPr>
                  <p:cNvPr id="10" name="Cube 9">
                    <a:extLst>
                      <a:ext uri="{FF2B5EF4-FFF2-40B4-BE49-F238E27FC236}">
                        <a16:creationId xmlns:a16="http://schemas.microsoft.com/office/drawing/2014/main" id="{CC4AE315-B4AA-8670-0D9E-7F63096B4CD8}"/>
                      </a:ext>
                    </a:extLst>
                  </p:cNvPr>
                  <p:cNvSpPr/>
                  <p:nvPr/>
                </p:nvSpPr>
                <p:spPr>
                  <a:xfrm>
                    <a:off x="6916872" y="412303"/>
                    <a:ext cx="578546" cy="481796"/>
                  </a:xfrm>
                  <a:prstGeom prst="cube">
                    <a:avLst/>
                  </a:prstGeom>
                  <a:solidFill>
                    <a:schemeClr val="accent1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r>
                      <a:rPr lang="en-US" sz="2000" b="1" dirty="0">
                        <a:ln w="0"/>
                        <a:solidFill>
                          <a:schemeClr val="tx1"/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Al</a:t>
                    </a:r>
                    <a:endParaRPr lang="en-SG" sz="2000" b="1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  <p:grpSp>
              <p:nvGrpSpPr>
                <p:cNvPr id="33" name="Group 32">
                  <a:extLst>
                    <a:ext uri="{FF2B5EF4-FFF2-40B4-BE49-F238E27FC236}">
                      <a16:creationId xmlns:a16="http://schemas.microsoft.com/office/drawing/2014/main" id="{6707E1F5-2113-3E6A-5CBC-ED95072853B7}"/>
                    </a:ext>
                  </a:extLst>
                </p:cNvPr>
                <p:cNvGrpSpPr/>
                <p:nvPr/>
              </p:nvGrpSpPr>
              <p:grpSpPr>
                <a:xfrm>
                  <a:off x="6730841" y="3313027"/>
                  <a:ext cx="3197705" cy="3541344"/>
                  <a:chOff x="5408224" y="2374828"/>
                  <a:chExt cx="3197705" cy="3541344"/>
                </a:xfrm>
              </p:grpSpPr>
              <p:sp>
                <p:nvSpPr>
                  <p:cNvPr id="32" name="Cube 31">
                    <a:extLst>
                      <a:ext uri="{FF2B5EF4-FFF2-40B4-BE49-F238E27FC236}">
                        <a16:creationId xmlns:a16="http://schemas.microsoft.com/office/drawing/2014/main" id="{2BB1CA82-13D8-BC6F-44BF-FF06539AAB18}"/>
                      </a:ext>
                    </a:extLst>
                  </p:cNvPr>
                  <p:cNvSpPr/>
                  <p:nvPr/>
                </p:nvSpPr>
                <p:spPr>
                  <a:xfrm>
                    <a:off x="5413818" y="4911876"/>
                    <a:ext cx="3188481" cy="1004296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tx2">
                      <a:lumMod val="50000"/>
                      <a:lumOff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Au</a:t>
                    </a:r>
                    <a:r>
                      <a:rPr lang="en-US" sz="2400" b="1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  <a:endParaRPr lang="en-US" sz="240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grpSp>
                <p:nvGrpSpPr>
                  <p:cNvPr id="31" name="Group 30">
                    <a:extLst>
                      <a:ext uri="{FF2B5EF4-FFF2-40B4-BE49-F238E27FC236}">
                        <a16:creationId xmlns:a16="http://schemas.microsoft.com/office/drawing/2014/main" id="{1C4FD799-0A56-47A4-AD4C-0A5DAC7CB942}"/>
                      </a:ext>
                    </a:extLst>
                  </p:cNvPr>
                  <p:cNvGrpSpPr/>
                  <p:nvPr/>
                </p:nvGrpSpPr>
                <p:grpSpPr>
                  <a:xfrm>
                    <a:off x="5408224" y="2374828"/>
                    <a:ext cx="3197705" cy="3138239"/>
                    <a:chOff x="4545154" y="3306835"/>
                    <a:chExt cx="3197705" cy="3138239"/>
                  </a:xfrm>
                </p:grpSpPr>
                <p:sp>
                  <p:nvSpPr>
                    <p:cNvPr id="11" name="Cube 10">
                      <a:extLst>
                        <a:ext uri="{FF2B5EF4-FFF2-40B4-BE49-F238E27FC236}">
                          <a16:creationId xmlns:a16="http://schemas.microsoft.com/office/drawing/2014/main" id="{8D3A4AC4-4D8A-E98A-44C4-3D325989D9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5154" y="5440778"/>
                      <a:ext cx="3188485" cy="1004296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rgbClr val="FF0000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BSF </a:t>
                      </a:r>
                      <a:endParaRPr lang="en-US" sz="240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2" name="Cube 11">
                      <a:extLst>
                        <a:ext uri="{FF2B5EF4-FFF2-40B4-BE49-F238E27FC236}">
                          <a16:creationId xmlns:a16="http://schemas.microsoft.com/office/drawing/2014/main" id="{3349A6FA-2720-247E-9BB9-ADD474774C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5768" y="5052235"/>
                      <a:ext cx="3188486" cy="1004295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5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CZT</a:t>
                      </a:r>
                      <a:r>
                        <a:rPr lang="en-US" sz="2400" b="1" spc="-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SSe</a:t>
                      </a:r>
                      <a:endParaRPr lang="en-US" sz="24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3" name="Cube 12">
                      <a:extLst>
                        <a:ext uri="{FF2B5EF4-FFF2-40B4-BE49-F238E27FC236}">
                          <a16:creationId xmlns:a16="http://schemas.microsoft.com/office/drawing/2014/main" id="{D7234B08-F0B7-5EB5-2633-6166B257126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46214" y="4653726"/>
                      <a:ext cx="3188483" cy="1004294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3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pc="-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CdS</a:t>
                      </a:r>
                      <a:endParaRPr lang="en-US" sz="24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4" name="Cube 13">
                      <a:extLst>
                        <a:ext uri="{FF2B5EF4-FFF2-40B4-BE49-F238E27FC236}">
                          <a16:creationId xmlns:a16="http://schemas.microsoft.com/office/drawing/2014/main" id="{1DB1EA67-5EB8-7AC4-CED2-7390FE5E26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6723" y="4273016"/>
                      <a:ext cx="3183996" cy="1006463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5">
                        <a:lumMod val="60000"/>
                        <a:lumOff val="4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pc="-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i-ZnO</a:t>
                      </a:r>
                      <a:endParaRPr lang="en-US" sz="24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5" name="Cube 14">
                      <a:extLst>
                        <a:ext uri="{FF2B5EF4-FFF2-40B4-BE49-F238E27FC236}">
                          <a16:creationId xmlns:a16="http://schemas.microsoft.com/office/drawing/2014/main" id="{A9010445-CCA0-9000-61DF-3B06DB03B04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8865" y="3889540"/>
                      <a:ext cx="3183994" cy="986864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accent3">
                        <a:lumMod val="20000"/>
                        <a:lumOff val="80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sz="2400" b="1" strike="noStrike" spc="-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ZnO:Al</a:t>
                      </a:r>
                      <a:endParaRPr lang="en-US" sz="2400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6" name="Cube 15">
                      <a:extLst>
                        <a:ext uri="{FF2B5EF4-FFF2-40B4-BE49-F238E27FC236}">
                          <a16:creationId xmlns:a16="http://schemas.microsoft.com/office/drawing/2014/main" id="{46E0F4C5-367D-1A9F-9707-52A35FE0D2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50476" y="3541681"/>
                      <a:ext cx="3176389" cy="966919"/>
                    </a:xfrm>
                    <a:prstGeom prst="cube">
                      <a:avLst>
                        <a:gd name="adj" fmla="val 58858"/>
                      </a:avLst>
                    </a:prstGeom>
                    <a:solidFill>
                      <a:schemeClr val="bg2">
                        <a:lumMod val="75000"/>
                      </a:schemeClr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 lIns="90000" tIns="45000" rIns="90000" bIns="45000" anchor="ctr">
                      <a:noAutofit/>
                    </a:bodyPr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en-US" b="1" strike="noStrike" spc="-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Recombination Layer</a:t>
                      </a:r>
                      <a:endParaRPr lang="en-US" b="0" strike="noStrike" spc="-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p:txBody>
                </p:sp>
                <p:sp>
                  <p:nvSpPr>
                    <p:cNvPr id="17" name="Arrow: Down 16">
                      <a:extLst>
                        <a:ext uri="{FF2B5EF4-FFF2-40B4-BE49-F238E27FC236}">
                          <a16:creationId xmlns:a16="http://schemas.microsoft.com/office/drawing/2014/main" id="{B604ABEC-222F-8EA8-073C-42F8F02AFBE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54583" y="3306835"/>
                      <a:ext cx="322472" cy="653819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SG" dirty="0"/>
                    </a:p>
                  </p:txBody>
                </p:sp>
                <p:sp>
                  <p:nvSpPr>
                    <p:cNvPr id="18" name="Arrow: Down 17">
                      <a:extLst>
                        <a:ext uri="{FF2B5EF4-FFF2-40B4-BE49-F238E27FC236}">
                          <a16:creationId xmlns:a16="http://schemas.microsoft.com/office/drawing/2014/main" id="{80865AFD-0ED1-4546-3E02-BC6ACECC78E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954053" y="3306835"/>
                      <a:ext cx="322472" cy="653819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9" name="Arrow: Down 18">
                      <a:extLst>
                        <a:ext uri="{FF2B5EF4-FFF2-40B4-BE49-F238E27FC236}">
                          <a16:creationId xmlns:a16="http://schemas.microsoft.com/office/drawing/2014/main" id="{C5497C75-D5FA-B873-3DA6-DE0AF094308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19586" y="3306835"/>
                      <a:ext cx="299507" cy="653819"/>
                    </a:xfrm>
                    <a:prstGeom prst="downArrow">
                      <a:avLst>
                        <a:gd name="adj1" fmla="val 50000"/>
                        <a:gd name="adj2" fmla="val 50000"/>
                      </a:avLst>
                    </a:prstGeom>
                    <a:solidFill>
                      <a:srgbClr val="FFFF00"/>
                    </a:solidFill>
                    <a:ln>
                      <a:solidFill>
                        <a:srgbClr val="32549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/>
                  </p:style>
                  <p:txBody>
                    <a:bodyPr/>
                    <a:lstStyle/>
                    <a:p>
                      <a:endParaRPr lang="en-US"/>
                    </a:p>
                  </p:txBody>
                </p:sp>
              </p:grpSp>
            </p:grpSp>
            <p:sp>
              <p:nvSpPr>
                <p:cNvPr id="34" name="Right Brace 33">
                  <a:extLst>
                    <a:ext uri="{FF2B5EF4-FFF2-40B4-BE49-F238E27FC236}">
                      <a16:creationId xmlns:a16="http://schemas.microsoft.com/office/drawing/2014/main" id="{8480C228-24FF-6350-6DB6-0019C2A7B30F}"/>
                    </a:ext>
                  </a:extLst>
                </p:cNvPr>
                <p:cNvSpPr/>
                <p:nvPr/>
              </p:nvSpPr>
              <p:spPr>
                <a:xfrm>
                  <a:off x="9902603" y="735205"/>
                  <a:ext cx="515283" cy="1916003"/>
                </a:xfrm>
                <a:prstGeom prst="rightBrace">
                  <a:avLst>
                    <a:gd name="adj1" fmla="val 8333"/>
                    <a:gd name="adj2" fmla="val 50000"/>
                  </a:avLst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35" name="TextBox 46">
                  <a:extLst>
                    <a:ext uri="{FF2B5EF4-FFF2-40B4-BE49-F238E27FC236}">
                      <a16:creationId xmlns:a16="http://schemas.microsoft.com/office/drawing/2014/main" id="{5958EB00-D165-5E0E-2999-3B94AC8E2A1D}"/>
                    </a:ext>
                  </a:extLst>
                </p:cNvPr>
                <p:cNvSpPr/>
                <p:nvPr/>
              </p:nvSpPr>
              <p:spPr>
                <a:xfrm>
                  <a:off x="10417886" y="1204558"/>
                  <a:ext cx="1298877" cy="925861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0" tIns="45000" rIns="90000" bIns="4500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buNone/>
                  </a:pPr>
                  <a:r>
                    <a:rPr lang="en-US" sz="2400" b="1" strike="noStrike" spc="-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Top </a:t>
                  </a:r>
                  <a:r>
                    <a:rPr lang="en-US" sz="2400" b="1" spc="-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</a:t>
                  </a:r>
                  <a:r>
                    <a:rPr lang="en-US" sz="2400" b="1" strike="noStrike" spc="-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ub-cell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6" name="TextBox 26">
                  <a:extLst>
                    <a:ext uri="{FF2B5EF4-FFF2-40B4-BE49-F238E27FC236}">
                      <a16:creationId xmlns:a16="http://schemas.microsoft.com/office/drawing/2014/main" id="{7DDF92D7-16EF-911B-0B2C-D0E0B708228A}"/>
                    </a:ext>
                  </a:extLst>
                </p:cNvPr>
                <p:cNvSpPr/>
                <p:nvPr/>
              </p:nvSpPr>
              <p:spPr>
                <a:xfrm>
                  <a:off x="7238068" y="2824100"/>
                  <a:ext cx="2130434" cy="4369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0" tIns="45000" rIns="90000" bIns="4500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buNone/>
                  </a:pPr>
                  <a:r>
                    <a:rPr lang="en-US" sz="2400" b="1" strike="noStrike" spc="-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Filtered Light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8" name="Right Brace 37">
                  <a:extLst>
                    <a:ext uri="{FF2B5EF4-FFF2-40B4-BE49-F238E27FC236}">
                      <a16:creationId xmlns:a16="http://schemas.microsoft.com/office/drawing/2014/main" id="{D977CA7A-6DBD-3A51-4D77-1512CED70575}"/>
                    </a:ext>
                  </a:extLst>
                </p:cNvPr>
                <p:cNvSpPr/>
                <p:nvPr/>
              </p:nvSpPr>
              <p:spPr>
                <a:xfrm>
                  <a:off x="10002988" y="3466416"/>
                  <a:ext cx="515281" cy="2944894"/>
                </a:xfrm>
                <a:prstGeom prst="rightBrace">
                  <a:avLst>
                    <a:gd name="adj1" fmla="val 8333"/>
                    <a:gd name="adj2" fmla="val 50000"/>
                  </a:avLst>
                </a:prstGeom>
                <a:noFill/>
                <a:ln>
                  <a:solidFill>
                    <a:srgbClr val="000000"/>
                  </a:solidFill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/>
              </p:style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41" name="TextBox 47">
                  <a:extLst>
                    <a:ext uri="{FF2B5EF4-FFF2-40B4-BE49-F238E27FC236}">
                      <a16:creationId xmlns:a16="http://schemas.microsoft.com/office/drawing/2014/main" id="{41A7B5E5-087A-DA54-C037-E5A047D92E90}"/>
                    </a:ext>
                  </a:extLst>
                </p:cNvPr>
                <p:cNvSpPr/>
                <p:nvPr/>
              </p:nvSpPr>
              <p:spPr>
                <a:xfrm>
                  <a:off x="10470704" y="4387251"/>
                  <a:ext cx="1264140" cy="925861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wrap="square" lIns="90000" tIns="45000" rIns="90000" bIns="45000" anchor="t">
                  <a:sp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>
                    <a:lnSpc>
                      <a:spcPct val="100000"/>
                    </a:lnSpc>
                    <a:buNone/>
                  </a:pPr>
                  <a:r>
                    <a:rPr lang="en-US" sz="2400" b="1" strike="noStrike" spc="-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Bottom sub-cell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</p:grpSp>
        <p:grpSp>
          <p:nvGrpSpPr>
            <p:cNvPr id="79" name="Group 78">
              <a:extLst>
                <a:ext uri="{FF2B5EF4-FFF2-40B4-BE49-F238E27FC236}">
                  <a16:creationId xmlns:a16="http://schemas.microsoft.com/office/drawing/2014/main" id="{CD598509-28DE-A78D-F019-07D853BAA38B}"/>
                </a:ext>
              </a:extLst>
            </p:cNvPr>
            <p:cNvGrpSpPr/>
            <p:nvPr/>
          </p:nvGrpSpPr>
          <p:grpSpPr>
            <a:xfrm>
              <a:off x="7257017" y="425336"/>
              <a:ext cx="3631702" cy="6417437"/>
              <a:chOff x="6817902" y="301515"/>
              <a:chExt cx="3823180" cy="6537874"/>
            </a:xfrm>
          </p:grpSpPr>
          <p:cxnSp>
            <p:nvCxnSpPr>
              <p:cNvPr id="50" name="Connector: Elbow 49">
                <a:extLst>
                  <a:ext uri="{FF2B5EF4-FFF2-40B4-BE49-F238E27FC236}">
                    <a16:creationId xmlns:a16="http://schemas.microsoft.com/office/drawing/2014/main" id="{0A31A743-B852-35A1-7278-3F4B2D13A8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188630" y="301515"/>
                <a:ext cx="2268188" cy="237759"/>
              </a:xfrm>
              <a:prstGeom prst="bentConnector3">
                <a:avLst>
                  <a:gd name="adj1" fmla="val -9157"/>
                </a:avLst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1" name="Connector: Elbow 50">
                <a:extLst>
                  <a:ext uri="{FF2B5EF4-FFF2-40B4-BE49-F238E27FC236}">
                    <a16:creationId xmlns:a16="http://schemas.microsoft.com/office/drawing/2014/main" id="{856985B5-EC0E-A8F2-58F6-7B717A11BF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17902" y="6619010"/>
                <a:ext cx="2817304" cy="209024"/>
              </a:xfrm>
              <a:prstGeom prst="bentConnector3">
                <a:avLst>
                  <a:gd name="adj1" fmla="val 11587"/>
                </a:avLst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2" name="Rectangle: Rounded Corners 51">
                <a:extLst>
                  <a:ext uri="{FF2B5EF4-FFF2-40B4-BE49-F238E27FC236}">
                    <a16:creationId xmlns:a16="http://schemas.microsoft.com/office/drawing/2014/main" id="{D8330F50-12D8-2E21-F662-2C15D95D53EC}"/>
                  </a:ext>
                </a:extLst>
              </p:cNvPr>
              <p:cNvSpPr/>
              <p:nvPr/>
            </p:nvSpPr>
            <p:spPr>
              <a:xfrm>
                <a:off x="9130781" y="2666347"/>
                <a:ext cx="1510301" cy="669377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algn="ctr"/>
                <a:r>
                  <a:rPr lang="en-US" sz="2800" b="1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Load</a:t>
                </a:r>
                <a:endParaRPr lang="en-SG" sz="2800" b="1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7692780F-6E77-11EF-4CF5-9EF217C96C4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561379" y="3360703"/>
                <a:ext cx="73828" cy="3478686"/>
              </a:xfrm>
              <a:prstGeom prst="line">
                <a:avLst/>
              </a:prstGeom>
              <a:ln>
                <a:prstDash val="dash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  <p:pic>
          <p:nvPicPr>
            <p:cNvPr id="87" name="Picture 86">
              <a:extLst>
                <a:ext uri="{FF2B5EF4-FFF2-40B4-BE49-F238E27FC236}">
                  <a16:creationId xmlns:a16="http://schemas.microsoft.com/office/drawing/2014/main" id="{2D9A6027-F22C-DD0F-DF8C-133505CA32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53" t="4045" r="7053" b="9064"/>
            <a:stretch/>
          </p:blipFill>
          <p:spPr>
            <a:xfrm>
              <a:off x="1121783" y="557999"/>
              <a:ext cx="3715048" cy="2588314"/>
            </a:xfrm>
            <a:prstGeom prst="rect">
              <a:avLst/>
            </a:prstGeom>
          </p:spPr>
        </p:pic>
        <p:pic>
          <p:nvPicPr>
            <p:cNvPr id="90" name="Picture 89">
              <a:extLst>
                <a:ext uri="{FF2B5EF4-FFF2-40B4-BE49-F238E27FC236}">
                  <a16:creationId xmlns:a16="http://schemas.microsoft.com/office/drawing/2014/main" id="{29753971-736E-F1B8-50DB-FC04803C39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25" t="3894" r="7054" b="9064"/>
            <a:stretch/>
          </p:blipFill>
          <p:spPr>
            <a:xfrm>
              <a:off x="1121784" y="3190896"/>
              <a:ext cx="3715047" cy="2588313"/>
            </a:xfrm>
            <a:prstGeom prst="rect">
              <a:avLst/>
            </a:prstGeom>
          </p:spPr>
        </p:pic>
      </p:grpSp>
      <p:cxnSp>
        <p:nvCxnSpPr>
          <p:cNvPr id="65" name="Straight Arrow Connector 64">
            <a:extLst>
              <a:ext uri="{FF2B5EF4-FFF2-40B4-BE49-F238E27FC236}">
                <a16:creationId xmlns:a16="http://schemas.microsoft.com/office/drawing/2014/main" id="{7AFC359C-A359-4A0C-17CE-EE670BFDC5F9}"/>
              </a:ext>
            </a:extLst>
          </p:cNvPr>
          <p:cNvCxnSpPr>
            <a:cxnSpLocks/>
          </p:cNvCxnSpPr>
          <p:nvPr/>
        </p:nvCxnSpPr>
        <p:spPr>
          <a:xfrm flipH="1">
            <a:off x="5046562" y="956065"/>
            <a:ext cx="1125485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4EC95BE0-4A82-42DE-2799-70DD85D62FCD}"/>
              </a:ext>
            </a:extLst>
          </p:cNvPr>
          <p:cNvCxnSpPr>
            <a:cxnSpLocks/>
          </p:cNvCxnSpPr>
          <p:nvPr/>
        </p:nvCxnSpPr>
        <p:spPr>
          <a:xfrm flipH="1">
            <a:off x="5046562" y="3421526"/>
            <a:ext cx="1217126" cy="22974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75792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29E502-805D-790C-4F92-2333760E26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roup 73">
            <a:extLst>
              <a:ext uri="{FF2B5EF4-FFF2-40B4-BE49-F238E27FC236}">
                <a16:creationId xmlns:a16="http://schemas.microsoft.com/office/drawing/2014/main" id="{BC2E68E6-BA8E-34D8-9456-004B505130F1}"/>
              </a:ext>
            </a:extLst>
          </p:cNvPr>
          <p:cNvGrpSpPr/>
          <p:nvPr/>
        </p:nvGrpSpPr>
        <p:grpSpPr>
          <a:xfrm>
            <a:off x="5359399" y="252498"/>
            <a:ext cx="4828413" cy="6185047"/>
            <a:chOff x="3808481" y="336335"/>
            <a:chExt cx="4828413" cy="6185047"/>
          </a:xfrm>
        </p:grpSpPr>
        <p:sp>
          <p:nvSpPr>
            <p:cNvPr id="9" name="TextBox 33">
              <a:extLst>
                <a:ext uri="{FF2B5EF4-FFF2-40B4-BE49-F238E27FC236}">
                  <a16:creationId xmlns:a16="http://schemas.microsoft.com/office/drawing/2014/main" id="{4F6397B8-DF0A-D5C2-DF6B-869A50D50248}"/>
                </a:ext>
              </a:extLst>
            </p:cNvPr>
            <p:cNvSpPr/>
            <p:nvPr/>
          </p:nvSpPr>
          <p:spPr>
            <a:xfrm>
              <a:off x="4879972" y="336335"/>
              <a:ext cx="1624669" cy="4369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00000"/>
                </a:lnSpc>
                <a:buNone/>
              </a:pPr>
              <a:r>
                <a:rPr lang="en-US" sz="2400" b="1" strike="noStrike" spc="-1" dirty="0">
                  <a:solidFill>
                    <a:srgbClr val="0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Light</a:t>
              </a:r>
              <a:endParaRPr lang="en-US" sz="2400" b="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C26E78FE-697C-30A0-C9B8-5A71D2A368D2}"/>
                </a:ext>
              </a:extLst>
            </p:cNvPr>
            <p:cNvGrpSpPr/>
            <p:nvPr/>
          </p:nvGrpSpPr>
          <p:grpSpPr>
            <a:xfrm>
              <a:off x="3808481" y="780558"/>
              <a:ext cx="4828413" cy="5740824"/>
              <a:chOff x="6120756" y="903365"/>
              <a:chExt cx="4828413" cy="5740824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967C1CB-28FB-3239-ABEC-F624E5BBC131}"/>
                  </a:ext>
                </a:extLst>
              </p:cNvPr>
              <p:cNvGrpSpPr/>
              <p:nvPr/>
            </p:nvGrpSpPr>
            <p:grpSpPr>
              <a:xfrm>
                <a:off x="6238681" y="1103066"/>
                <a:ext cx="2913447" cy="1896702"/>
                <a:chOff x="4176922" y="937805"/>
                <a:chExt cx="2913447" cy="1896702"/>
              </a:xfrm>
            </p:grpSpPr>
            <p:sp>
              <p:nvSpPr>
                <p:cNvPr id="2" name="Cube 1">
                  <a:extLst>
                    <a:ext uri="{FF2B5EF4-FFF2-40B4-BE49-F238E27FC236}">
                      <a16:creationId xmlns:a16="http://schemas.microsoft.com/office/drawing/2014/main" id="{9593F68B-9E52-8424-2163-E884123BB8BD}"/>
                    </a:ext>
                  </a:extLst>
                </p:cNvPr>
                <p:cNvSpPr/>
                <p:nvPr/>
              </p:nvSpPr>
              <p:spPr>
                <a:xfrm>
                  <a:off x="4184307" y="1951174"/>
                  <a:ext cx="2906061" cy="883333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2400" b="1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/>
                  <a:r>
                    <a:rPr lang="en-US" sz="2400" b="1" strike="noStrike" spc="-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Cs</a:t>
                  </a:r>
                  <a:r>
                    <a:rPr lang="en-US" sz="2400" b="1" strike="noStrike" spc="-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r>
                    <a:rPr lang="en-US" sz="2400" b="1" strike="noStrike" spc="-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Bi</a:t>
                  </a:r>
                  <a:r>
                    <a:rPr lang="en-US" sz="2400" b="1" strike="noStrike" spc="-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2</a:t>
                  </a:r>
                  <a:r>
                    <a:rPr lang="en-US" sz="2400" b="1" strike="noStrike" spc="-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</a:t>
                  </a:r>
                  <a:r>
                    <a:rPr lang="en-US" sz="2400" b="1" strike="noStrike" spc="-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9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  <a:p>
                  <a:pPr algn="ctr">
                    <a:lnSpc>
                      <a:spcPct val="100000"/>
                    </a:lnSpc>
                    <a:buNone/>
                  </a:pP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3" name="Cube 2">
                  <a:extLst>
                    <a:ext uri="{FF2B5EF4-FFF2-40B4-BE49-F238E27FC236}">
                      <a16:creationId xmlns:a16="http://schemas.microsoft.com/office/drawing/2014/main" id="{D05BF1D2-9581-707C-4F59-4313A4AE015B}"/>
                    </a:ext>
                  </a:extLst>
                </p:cNvPr>
                <p:cNvSpPr/>
                <p:nvPr/>
              </p:nvSpPr>
              <p:spPr>
                <a:xfrm>
                  <a:off x="4176922" y="1597144"/>
                  <a:ext cx="2913447" cy="894863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trike="noStrike" spc="-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MASnI</a:t>
                  </a:r>
                  <a:r>
                    <a:rPr lang="en-US" sz="2400" b="1" strike="noStrike" spc="-1" baseline="-25000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3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5" name="Cube 4">
                  <a:extLst>
                    <a:ext uri="{FF2B5EF4-FFF2-40B4-BE49-F238E27FC236}">
                      <a16:creationId xmlns:a16="http://schemas.microsoft.com/office/drawing/2014/main" id="{5347A56A-4FA6-049C-A04A-7553E4FD4E40}"/>
                    </a:ext>
                  </a:extLst>
                </p:cNvPr>
                <p:cNvSpPr/>
                <p:nvPr/>
              </p:nvSpPr>
              <p:spPr>
                <a:xfrm>
                  <a:off x="4176923" y="1244685"/>
                  <a:ext cx="2913446" cy="894574"/>
                </a:xfrm>
                <a:prstGeom prst="cube">
                  <a:avLst>
                    <a:gd name="adj" fmla="val 58858"/>
                  </a:avLst>
                </a:prstGeom>
                <a:solidFill>
                  <a:srgbClr val="FFFF0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trike="noStrike" spc="-1" dirty="0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FTO</a:t>
                  </a:r>
                  <a:endParaRPr lang="en-US" sz="2400" b="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sp>
              <p:nvSpPr>
                <p:cNvPr id="10" name="Cube 9">
                  <a:extLst>
                    <a:ext uri="{FF2B5EF4-FFF2-40B4-BE49-F238E27FC236}">
                      <a16:creationId xmlns:a16="http://schemas.microsoft.com/office/drawing/2014/main" id="{B7E3965F-D853-F14F-41C2-D7CD425EA6F2}"/>
                    </a:ext>
                  </a:extLst>
                </p:cNvPr>
                <p:cNvSpPr/>
                <p:nvPr/>
              </p:nvSpPr>
              <p:spPr>
                <a:xfrm>
                  <a:off x="6261663" y="937805"/>
                  <a:ext cx="578546" cy="481795"/>
                </a:xfrm>
                <a:prstGeom prst="cube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lt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r>
                    <a:rPr lang="en-US" sz="2000" b="1" dirty="0">
                      <a:ln w="0"/>
                      <a:solidFill>
                        <a:schemeClr val="tx1"/>
                      </a:solidFill>
                      <a:effectLst>
                        <a:outerShdw blurRad="38100" dist="19050" dir="2700000" algn="tl" rotWithShape="0">
                          <a:schemeClr val="dk1">
                            <a:alpha val="40000"/>
                          </a:schemeClr>
                        </a:outerShdw>
                      </a:effectLst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Al</a:t>
                  </a:r>
                  <a:endParaRPr lang="en-SG" sz="2000" b="1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grpSp>
            <p:nvGrpSpPr>
              <p:cNvPr id="33" name="Group 32">
                <a:extLst>
                  <a:ext uri="{FF2B5EF4-FFF2-40B4-BE49-F238E27FC236}">
                    <a16:creationId xmlns:a16="http://schemas.microsoft.com/office/drawing/2014/main" id="{02079E96-BB19-6C06-2AE5-2DECC5849D3E}"/>
                  </a:ext>
                </a:extLst>
              </p:cNvPr>
              <p:cNvGrpSpPr/>
              <p:nvPr/>
            </p:nvGrpSpPr>
            <p:grpSpPr>
              <a:xfrm>
                <a:off x="6120756" y="3651753"/>
                <a:ext cx="3043192" cy="2904027"/>
                <a:chOff x="4798139" y="2713554"/>
                <a:chExt cx="3043192" cy="2904027"/>
              </a:xfrm>
            </p:grpSpPr>
            <p:sp>
              <p:nvSpPr>
                <p:cNvPr id="32" name="Cube 31">
                  <a:extLst>
                    <a:ext uri="{FF2B5EF4-FFF2-40B4-BE49-F238E27FC236}">
                      <a16:creationId xmlns:a16="http://schemas.microsoft.com/office/drawing/2014/main" id="{E03069D4-95A0-B434-748E-86E2D07E388F}"/>
                    </a:ext>
                  </a:extLst>
                </p:cNvPr>
                <p:cNvSpPr/>
                <p:nvPr/>
              </p:nvSpPr>
              <p:spPr>
                <a:xfrm>
                  <a:off x="4822335" y="4776467"/>
                  <a:ext cx="3005432" cy="841114"/>
                </a:xfrm>
                <a:prstGeom prst="cube">
                  <a:avLst>
                    <a:gd name="adj" fmla="val 58858"/>
                  </a:avLst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 lIns="90000" tIns="45000" rIns="90000" bIns="45000" anchor="ctr">
                  <a:noAutofit/>
                </a:bodyPr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>
                    <a:lnSpc>
                      <a:spcPct val="100000"/>
                    </a:lnSpc>
                    <a:buNone/>
                  </a:pPr>
                  <a:r>
                    <a:rPr lang="en-US" sz="2400" b="1" spc="-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Au</a:t>
                  </a:r>
                  <a:r>
                    <a:rPr lang="en-US" sz="2400" b="1" strike="noStrike" spc="-1">
                      <a:solidFill>
                        <a:srgbClr val="00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sz="2400" strike="noStrike" spc="-1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  <p:grpSp>
              <p:nvGrpSpPr>
                <p:cNvPr id="31" name="Group 30">
                  <a:extLst>
                    <a:ext uri="{FF2B5EF4-FFF2-40B4-BE49-F238E27FC236}">
                      <a16:creationId xmlns:a16="http://schemas.microsoft.com/office/drawing/2014/main" id="{2F58FC64-0300-13F4-92A6-8793A48A636A}"/>
                    </a:ext>
                  </a:extLst>
                </p:cNvPr>
                <p:cNvGrpSpPr/>
                <p:nvPr/>
              </p:nvGrpSpPr>
              <p:grpSpPr>
                <a:xfrm>
                  <a:off x="4798139" y="2713554"/>
                  <a:ext cx="3043192" cy="2562762"/>
                  <a:chOff x="3935069" y="3645561"/>
                  <a:chExt cx="3043192" cy="2562762"/>
                </a:xfrm>
              </p:grpSpPr>
              <p:sp>
                <p:nvSpPr>
                  <p:cNvPr id="11" name="Cube 10">
                    <a:extLst>
                      <a:ext uri="{FF2B5EF4-FFF2-40B4-BE49-F238E27FC236}">
                        <a16:creationId xmlns:a16="http://schemas.microsoft.com/office/drawing/2014/main" id="{28A94D0D-0BE1-0CDE-AE53-86E730188ACE}"/>
                      </a:ext>
                    </a:extLst>
                  </p:cNvPr>
                  <p:cNvSpPr/>
                  <p:nvPr/>
                </p:nvSpPr>
                <p:spPr>
                  <a:xfrm>
                    <a:off x="3954966" y="5367209"/>
                    <a:ext cx="3005432" cy="841114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rgbClr val="FF000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BSF </a:t>
                    </a:r>
                    <a:endParaRPr lang="en-US" sz="240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2" name="Cube 11">
                    <a:extLst>
                      <a:ext uri="{FF2B5EF4-FFF2-40B4-BE49-F238E27FC236}">
                        <a16:creationId xmlns:a16="http://schemas.microsoft.com/office/drawing/2014/main" id="{EDECA8B2-9D54-7145-5489-B73A7D32CC94}"/>
                      </a:ext>
                    </a:extLst>
                  </p:cNvPr>
                  <p:cNvSpPr/>
                  <p:nvPr/>
                </p:nvSpPr>
                <p:spPr>
                  <a:xfrm>
                    <a:off x="3959289" y="4999686"/>
                    <a:ext cx="3005433" cy="841114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accent5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trike="noStrike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CZT</a:t>
                    </a:r>
                    <a:r>
                      <a:rPr lang="en-US" sz="2400" b="1" spc="-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SSe</a:t>
                    </a: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3" name="Cube 12">
                    <a:extLst>
                      <a:ext uri="{FF2B5EF4-FFF2-40B4-BE49-F238E27FC236}">
                        <a16:creationId xmlns:a16="http://schemas.microsoft.com/office/drawing/2014/main" id="{6D40DB85-83EC-0ADF-E8B5-3EB36A9C2AC1}"/>
                      </a:ext>
                    </a:extLst>
                  </p:cNvPr>
                  <p:cNvSpPr/>
                  <p:nvPr/>
                </p:nvSpPr>
                <p:spPr>
                  <a:xfrm>
                    <a:off x="3956037" y="4653727"/>
                    <a:ext cx="3005433" cy="841113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rgbClr val="00B050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pc="-1" dirty="0" err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CdS</a:t>
                    </a: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4" name="Cube 13">
                    <a:extLst>
                      <a:ext uri="{FF2B5EF4-FFF2-40B4-BE49-F238E27FC236}">
                        <a16:creationId xmlns:a16="http://schemas.microsoft.com/office/drawing/2014/main" id="{AAE22691-96EF-8E0C-9455-4360FD909D85}"/>
                      </a:ext>
                    </a:extLst>
                  </p:cNvPr>
                  <p:cNvSpPr/>
                  <p:nvPr/>
                </p:nvSpPr>
                <p:spPr>
                  <a:xfrm>
                    <a:off x="3935069" y="4304546"/>
                    <a:ext cx="3043192" cy="849801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accent5">
                      <a:lumMod val="60000"/>
                      <a:lumOff val="4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pc="-1" dirty="0" err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i-ZnO</a:t>
                    </a: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5" name="Cube 14">
                    <a:extLst>
                      <a:ext uri="{FF2B5EF4-FFF2-40B4-BE49-F238E27FC236}">
                        <a16:creationId xmlns:a16="http://schemas.microsoft.com/office/drawing/2014/main" id="{916B02DD-8A95-2E07-5CBC-5B2144848502}"/>
                      </a:ext>
                    </a:extLst>
                  </p:cNvPr>
                  <p:cNvSpPr/>
                  <p:nvPr/>
                </p:nvSpPr>
                <p:spPr>
                  <a:xfrm>
                    <a:off x="3947668" y="3963111"/>
                    <a:ext cx="3001202" cy="826514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accent3">
                      <a:lumMod val="20000"/>
                      <a:lumOff val="8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sz="2400" b="1" strike="noStrike" spc="-1" dirty="0" err="1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ZnO:Al</a:t>
                    </a:r>
                    <a:endParaRPr lang="en-US" sz="2400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  <p:sp>
                <p:nvSpPr>
                  <p:cNvPr id="16" name="Cube 15">
                    <a:extLst>
                      <a:ext uri="{FF2B5EF4-FFF2-40B4-BE49-F238E27FC236}">
                        <a16:creationId xmlns:a16="http://schemas.microsoft.com/office/drawing/2014/main" id="{437CA380-CF7E-1E9F-80DC-5A0214A14862}"/>
                      </a:ext>
                    </a:extLst>
                  </p:cNvPr>
                  <p:cNvSpPr/>
                  <p:nvPr/>
                </p:nvSpPr>
                <p:spPr>
                  <a:xfrm>
                    <a:off x="3949783" y="3645561"/>
                    <a:ext cx="2994032" cy="809811"/>
                  </a:xfrm>
                  <a:prstGeom prst="cube">
                    <a:avLst>
                      <a:gd name="adj" fmla="val 58858"/>
                    </a:avLst>
                  </a:prstGeom>
                  <a:solidFill>
                    <a:schemeClr val="bg2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/>
                </p:style>
                <p:txBody>
                  <a:bodyPr lIns="90000" tIns="45000" rIns="90000" bIns="45000" anchor="ctr">
                    <a:no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>
                      <a:lnSpc>
                        <a:spcPct val="100000"/>
                      </a:lnSpc>
                      <a:buNone/>
                    </a:pPr>
                    <a:r>
                      <a:rPr lang="en-US" b="1" strike="noStrike" spc="-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Recombination Layer</a:t>
                    </a:r>
                    <a:endParaRPr lang="en-US" b="0" strike="noStrike" spc="-1" dirty="0">
                      <a:latin typeface="Times New Roman" panose="02020603050405020304" pitchFamily="18" charset="0"/>
                      <a:cs typeface="Times New Roman" panose="02020603050405020304" pitchFamily="18" charset="0"/>
                    </a:endParaRPr>
                  </a:p>
                </p:txBody>
              </p:sp>
            </p:grpSp>
          </p:grpSp>
          <p:sp>
            <p:nvSpPr>
              <p:cNvPr id="34" name="Right Brace 33">
                <a:extLst>
                  <a:ext uri="{FF2B5EF4-FFF2-40B4-BE49-F238E27FC236}">
                    <a16:creationId xmlns:a16="http://schemas.microsoft.com/office/drawing/2014/main" id="{3945BB9E-8B3C-7CAA-3459-8DF37FDA33D5}"/>
                  </a:ext>
                </a:extLst>
              </p:cNvPr>
              <p:cNvSpPr/>
              <p:nvPr/>
            </p:nvSpPr>
            <p:spPr>
              <a:xfrm>
                <a:off x="9213105" y="903365"/>
                <a:ext cx="515281" cy="1916003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>
                <a:noFill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TextBox 46">
                <a:extLst>
                  <a:ext uri="{FF2B5EF4-FFF2-40B4-BE49-F238E27FC236}">
                    <a16:creationId xmlns:a16="http://schemas.microsoft.com/office/drawing/2014/main" id="{CEDD2F97-F080-F15D-D994-C9DDEB14E0A0}"/>
                  </a:ext>
                </a:extLst>
              </p:cNvPr>
              <p:cNvSpPr/>
              <p:nvPr/>
            </p:nvSpPr>
            <p:spPr>
              <a:xfrm>
                <a:off x="9728386" y="1466560"/>
                <a:ext cx="1220783" cy="824432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None/>
                </a:pPr>
                <a:r>
                  <a:rPr lang="en-US" sz="2400" b="1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Top </a:t>
                </a:r>
                <a:r>
                  <a:rPr lang="en-US" sz="2400" b="1" spc="-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</a:t>
                </a:r>
                <a:r>
                  <a:rPr lang="en-US" sz="2400" b="1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ub-cell</a:t>
                </a:r>
                <a:endParaRPr lang="en-US" sz="2400" b="0" strike="noStrike" spc="-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6" name="TextBox 26">
                <a:extLst>
                  <a:ext uri="{FF2B5EF4-FFF2-40B4-BE49-F238E27FC236}">
                    <a16:creationId xmlns:a16="http://schemas.microsoft.com/office/drawing/2014/main" id="{02597585-50D6-876A-5A13-8EB12528A5F2}"/>
                  </a:ext>
                </a:extLst>
              </p:cNvPr>
              <p:cNvSpPr/>
              <p:nvPr/>
            </p:nvSpPr>
            <p:spPr>
              <a:xfrm>
                <a:off x="6668905" y="2960730"/>
                <a:ext cx="2130432" cy="4369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None/>
                </a:pPr>
                <a:r>
                  <a:rPr lang="en-US" sz="2400" b="1" strike="noStrike" spc="-1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Filtered Light</a:t>
                </a:r>
                <a:endParaRPr lang="en-US" sz="2400" b="0" strike="noStrike" spc="-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8" name="Right Brace 37">
                <a:extLst>
                  <a:ext uri="{FF2B5EF4-FFF2-40B4-BE49-F238E27FC236}">
                    <a16:creationId xmlns:a16="http://schemas.microsoft.com/office/drawing/2014/main" id="{76768F8C-D786-2F49-D1C5-1DA5E6A8B11C}"/>
                  </a:ext>
                </a:extLst>
              </p:cNvPr>
              <p:cNvSpPr/>
              <p:nvPr/>
            </p:nvSpPr>
            <p:spPr>
              <a:xfrm>
                <a:off x="9213105" y="3466416"/>
                <a:ext cx="515281" cy="3177773"/>
              </a:xfrm>
              <a:prstGeom prst="rightBrace">
                <a:avLst>
                  <a:gd name="adj1" fmla="val 8333"/>
                  <a:gd name="adj2" fmla="val 50000"/>
                </a:avLst>
              </a:prstGeom>
              <a:noFill/>
              <a:ln>
                <a:noFill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/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TextBox 47">
                <a:extLst>
                  <a:ext uri="{FF2B5EF4-FFF2-40B4-BE49-F238E27FC236}">
                    <a16:creationId xmlns:a16="http://schemas.microsoft.com/office/drawing/2014/main" id="{E8209AB3-0D14-07B7-C28A-C2C353E54C25}"/>
                  </a:ext>
                </a:extLst>
              </p:cNvPr>
              <p:cNvSpPr/>
              <p:nvPr/>
            </p:nvSpPr>
            <p:spPr>
              <a:xfrm>
                <a:off x="9724180" y="4612094"/>
                <a:ext cx="1220783" cy="824432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>
                  <a:lnSpc>
                    <a:spcPct val="100000"/>
                  </a:lnSpc>
                  <a:buNone/>
                </a:pPr>
                <a:r>
                  <a:rPr lang="en-US" sz="2400" b="1" strike="noStrike" spc="-1" dirty="0">
                    <a:solidFill>
                      <a:srgbClr val="00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Bottom sub-cell</a:t>
                </a:r>
                <a:endParaRPr lang="en-US" sz="2400" b="0" strike="noStrike" spc="-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cxnSp>
        <p:nvCxnSpPr>
          <p:cNvPr id="50" name="Connector: Elbow 49">
            <a:extLst>
              <a:ext uri="{FF2B5EF4-FFF2-40B4-BE49-F238E27FC236}">
                <a16:creationId xmlns:a16="http://schemas.microsoft.com/office/drawing/2014/main" id="{08E7C6F9-A2A5-2F68-BA8B-EC735CF9EDD9}"/>
              </a:ext>
            </a:extLst>
          </p:cNvPr>
          <p:cNvCxnSpPr>
            <a:cxnSpLocks/>
            <a:stCxn id="10" idx="0"/>
          </p:cNvCxnSpPr>
          <p:nvPr/>
        </p:nvCxnSpPr>
        <p:spPr>
          <a:xfrm rot="5400000" flipH="1" flipV="1">
            <a:off x="8869658" y="-358482"/>
            <a:ext cx="296808" cy="2213001"/>
          </a:xfrm>
          <a:prstGeom prst="bentConnector2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1" name="Connector: Elbow 50">
            <a:extLst>
              <a:ext uri="{FF2B5EF4-FFF2-40B4-BE49-F238E27FC236}">
                <a16:creationId xmlns:a16="http://schemas.microsoft.com/office/drawing/2014/main" id="{12DB4723-9D31-A0F5-C9EB-638FB329B336}"/>
              </a:ext>
            </a:extLst>
          </p:cNvPr>
          <p:cNvCxnSpPr>
            <a:cxnSpLocks/>
          </p:cNvCxnSpPr>
          <p:nvPr/>
        </p:nvCxnSpPr>
        <p:spPr>
          <a:xfrm>
            <a:off x="7602706" y="6365050"/>
            <a:ext cx="1645367" cy="107368"/>
          </a:xfrm>
          <a:prstGeom prst="bentConnector3">
            <a:avLst>
              <a:gd name="adj1" fmla="val 21255"/>
            </a:avLst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5DE7CB8C-8FE8-52A0-F534-E5CA33055DC7}"/>
              </a:ext>
            </a:extLst>
          </p:cNvPr>
          <p:cNvSpPr/>
          <p:nvPr/>
        </p:nvSpPr>
        <p:spPr>
          <a:xfrm>
            <a:off x="9420057" y="2572000"/>
            <a:ext cx="1510301" cy="66937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Load</a:t>
            </a:r>
            <a:endParaRPr lang="en-SG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53B1581-9154-8973-2838-59120D8A5B8F}"/>
              </a:ext>
            </a:extLst>
          </p:cNvPr>
          <p:cNvCxnSpPr>
            <a:cxnSpLocks/>
            <a:stCxn id="52" idx="0"/>
          </p:cNvCxnSpPr>
          <p:nvPr/>
        </p:nvCxnSpPr>
        <p:spPr>
          <a:xfrm flipH="1" flipV="1">
            <a:off x="10137167" y="592807"/>
            <a:ext cx="38041" cy="1979193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C84AE6B-EA74-3E64-D260-F6B31133FFE2}"/>
              </a:ext>
            </a:extLst>
          </p:cNvPr>
          <p:cNvCxnSpPr>
            <a:cxnSpLocks/>
          </p:cNvCxnSpPr>
          <p:nvPr/>
        </p:nvCxnSpPr>
        <p:spPr>
          <a:xfrm flipV="1">
            <a:off x="10185352" y="3276866"/>
            <a:ext cx="0" cy="3160679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4" name="Picture 3">
            <a:extLst>
              <a:ext uri="{FF2B5EF4-FFF2-40B4-BE49-F238E27FC236}">
                <a16:creationId xmlns:a16="http://schemas.microsoft.com/office/drawing/2014/main" id="{E2175064-E532-9466-43E9-61037AB929C4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53" t="4045" r="7053" b="9064"/>
          <a:stretch/>
        </p:blipFill>
        <p:spPr>
          <a:xfrm>
            <a:off x="1492469" y="673095"/>
            <a:ext cx="3645844" cy="2459059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A8EF6E1-67F6-CCFB-7CB4-863FFBB892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018" t="2509" r="5932" b="6313"/>
          <a:stretch>
            <a:fillRect/>
          </a:stretch>
        </p:blipFill>
        <p:spPr>
          <a:xfrm>
            <a:off x="1497258" y="3132155"/>
            <a:ext cx="3719193" cy="2553034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2DB1F39-F192-C90F-2310-C59B592D0322}"/>
              </a:ext>
            </a:extLst>
          </p:cNvPr>
          <p:cNvCxnSpPr>
            <a:cxnSpLocks/>
          </p:cNvCxnSpPr>
          <p:nvPr/>
        </p:nvCxnSpPr>
        <p:spPr>
          <a:xfrm flipH="1">
            <a:off x="5044116" y="964816"/>
            <a:ext cx="1266696" cy="0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0C45BE3-0D16-5450-C801-BF19F0E102B5}"/>
              </a:ext>
            </a:extLst>
          </p:cNvPr>
          <p:cNvCxnSpPr>
            <a:cxnSpLocks/>
          </p:cNvCxnSpPr>
          <p:nvPr/>
        </p:nvCxnSpPr>
        <p:spPr>
          <a:xfrm flipH="1">
            <a:off x="5033606" y="3376784"/>
            <a:ext cx="1277206" cy="17793"/>
          </a:xfrm>
          <a:prstGeom prst="straightConnector1">
            <a:avLst/>
          </a:prstGeom>
          <a:ln>
            <a:prstDash val="sys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21AD857-130E-BEBA-CD7B-30875AD05DC1}"/>
              </a:ext>
            </a:extLst>
          </p:cNvPr>
          <p:cNvCxnSpPr>
            <a:cxnSpLocks/>
          </p:cNvCxnSpPr>
          <p:nvPr/>
        </p:nvCxnSpPr>
        <p:spPr>
          <a:xfrm flipH="1" flipV="1">
            <a:off x="9248073" y="6488145"/>
            <a:ext cx="927134" cy="24979"/>
          </a:xfrm>
          <a:prstGeom prst="line">
            <a:avLst/>
          </a:prstGeom>
          <a:ln>
            <a:prstDash val="dash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Arrow: Down 22">
            <a:extLst>
              <a:ext uri="{FF2B5EF4-FFF2-40B4-BE49-F238E27FC236}">
                <a16:creationId xmlns:a16="http://schemas.microsoft.com/office/drawing/2014/main" id="{C4BA1AB3-BB41-4825-7436-D70F7714EACA}"/>
              </a:ext>
            </a:extLst>
          </p:cNvPr>
          <p:cNvSpPr/>
          <p:nvPr/>
        </p:nvSpPr>
        <p:spPr>
          <a:xfrm>
            <a:off x="6277157" y="805231"/>
            <a:ext cx="289821" cy="60581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5" name="Arrow: Down 24">
            <a:extLst>
              <a:ext uri="{FF2B5EF4-FFF2-40B4-BE49-F238E27FC236}">
                <a16:creationId xmlns:a16="http://schemas.microsoft.com/office/drawing/2014/main" id="{7173F7AF-ABFC-760E-95A1-775C1D967CAF}"/>
              </a:ext>
            </a:extLst>
          </p:cNvPr>
          <p:cNvSpPr/>
          <p:nvPr/>
        </p:nvSpPr>
        <p:spPr>
          <a:xfrm>
            <a:off x="6757080" y="790050"/>
            <a:ext cx="289821" cy="60581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0404492B-FDC3-5BA1-D958-F9943A669279}"/>
              </a:ext>
            </a:extLst>
          </p:cNvPr>
          <p:cNvSpPr/>
          <p:nvPr/>
        </p:nvSpPr>
        <p:spPr>
          <a:xfrm>
            <a:off x="7185976" y="775509"/>
            <a:ext cx="289821" cy="60581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7" name="Arrow: Down 26">
            <a:extLst>
              <a:ext uri="{FF2B5EF4-FFF2-40B4-BE49-F238E27FC236}">
                <a16:creationId xmlns:a16="http://schemas.microsoft.com/office/drawing/2014/main" id="{231304AD-5BF9-A7CB-A2AC-CD322917557E}"/>
              </a:ext>
            </a:extLst>
          </p:cNvPr>
          <p:cNvSpPr/>
          <p:nvPr/>
        </p:nvSpPr>
        <p:spPr>
          <a:xfrm>
            <a:off x="6340008" y="3234084"/>
            <a:ext cx="303784" cy="58580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SG" dirty="0"/>
          </a:p>
        </p:txBody>
      </p:sp>
      <p:sp>
        <p:nvSpPr>
          <p:cNvPr id="28" name="Arrow: Down 27">
            <a:extLst>
              <a:ext uri="{FF2B5EF4-FFF2-40B4-BE49-F238E27FC236}">
                <a16:creationId xmlns:a16="http://schemas.microsoft.com/office/drawing/2014/main" id="{AB006CE2-C88C-3BEA-7C8E-2E0AB91593EB}"/>
              </a:ext>
            </a:extLst>
          </p:cNvPr>
          <p:cNvSpPr/>
          <p:nvPr/>
        </p:nvSpPr>
        <p:spPr>
          <a:xfrm>
            <a:off x="6736952" y="3234084"/>
            <a:ext cx="303784" cy="58580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54A9D4AB-AD55-9FB7-2C22-441DCDB2E22D}"/>
              </a:ext>
            </a:extLst>
          </p:cNvPr>
          <p:cNvSpPr/>
          <p:nvPr/>
        </p:nvSpPr>
        <p:spPr>
          <a:xfrm>
            <a:off x="7175506" y="3234084"/>
            <a:ext cx="282150" cy="585802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>
            <a:solidFill>
              <a:srgbClr val="32549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3044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8AB34CF8-266E-0E66-B2D7-52E73CCB9F86}"/>
              </a:ext>
            </a:extLst>
          </p:cNvPr>
          <p:cNvGrpSpPr/>
          <p:nvPr/>
        </p:nvGrpSpPr>
        <p:grpSpPr>
          <a:xfrm>
            <a:off x="1687758" y="78658"/>
            <a:ext cx="8950745" cy="5791200"/>
            <a:chOff x="498056" y="-61446"/>
            <a:chExt cx="10744908" cy="6858000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CC7924F-CB9C-08CF-9181-1B7AA84914E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8056" y="-61446"/>
              <a:ext cx="8958297" cy="6858000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AB2A818-6AED-502E-64A5-F7AC0FDF329D}"/>
                </a:ext>
              </a:extLst>
            </p:cNvPr>
            <p:cNvSpPr txBox="1"/>
            <p:nvPr/>
          </p:nvSpPr>
          <p:spPr>
            <a:xfrm>
              <a:off x="9632373" y="810491"/>
              <a:ext cx="161059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Tripple top</a:t>
              </a:r>
            </a:p>
          </p:txBody>
        </p:sp>
        <p:sp>
          <p:nvSpPr>
            <p:cNvPr id="7" name="Text Box 10">
              <a:extLst>
                <a:ext uri="{FF2B5EF4-FFF2-40B4-BE49-F238E27FC236}">
                  <a16:creationId xmlns:a16="http://schemas.microsoft.com/office/drawing/2014/main" id="{0ABB00DA-3A9E-F72F-A1B6-9F9E08C5A73A}"/>
                </a:ext>
              </a:extLst>
            </p:cNvPr>
            <p:cNvSpPr txBox="1"/>
            <p:nvPr/>
          </p:nvSpPr>
          <p:spPr>
            <a:xfrm>
              <a:off x="4258597" y="1434532"/>
              <a:ext cx="1461672" cy="62420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SG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MASnI</a:t>
              </a:r>
              <a:r>
                <a:rPr lang="en-SG" b="1" baseline="-25000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3</a:t>
              </a:r>
              <a:endParaRPr lang="en-SG" sz="1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Text Box 9">
              <a:extLst>
                <a:ext uri="{FF2B5EF4-FFF2-40B4-BE49-F238E27FC236}">
                  <a16:creationId xmlns:a16="http://schemas.microsoft.com/office/drawing/2014/main" id="{A99D7D58-40E5-EB7B-8C65-ECC6C158B185}"/>
                </a:ext>
              </a:extLst>
            </p:cNvPr>
            <p:cNvSpPr txBox="1"/>
            <p:nvPr/>
          </p:nvSpPr>
          <p:spPr>
            <a:xfrm>
              <a:off x="2292967" y="945406"/>
              <a:ext cx="1401629" cy="36957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SG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r>
                <a:rPr lang="en-SG" b="1" baseline="-25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r>
                <a:rPr lang="en-SG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Bi</a:t>
              </a:r>
              <a:r>
                <a:rPr lang="en-SG" b="1" baseline="-25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SG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I</a:t>
              </a:r>
              <a:r>
                <a:rPr lang="en-SG" b="1" baseline="-25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9</a:t>
              </a:r>
              <a:endParaRPr lang="en-S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Text Box 9">
              <a:extLst>
                <a:ext uri="{FF2B5EF4-FFF2-40B4-BE49-F238E27FC236}">
                  <a16:creationId xmlns:a16="http://schemas.microsoft.com/office/drawing/2014/main" id="{055D426C-8F22-5FCA-E178-82998336B5CD}"/>
                </a:ext>
              </a:extLst>
            </p:cNvPr>
            <p:cNvSpPr txBox="1"/>
            <p:nvPr/>
          </p:nvSpPr>
          <p:spPr>
            <a:xfrm>
              <a:off x="6352560" y="1418016"/>
              <a:ext cx="1401629" cy="369570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SG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Cs</a:t>
              </a:r>
              <a:r>
                <a:rPr lang="en-SG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SG" b="1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TiBr</a:t>
              </a:r>
              <a:r>
                <a:rPr lang="en-SG" b="1" baseline="-25000" dirty="0"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rPr>
                <a:t>6</a:t>
              </a:r>
              <a:endParaRPr lang="en-S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Text Box 16">
              <a:extLst>
                <a:ext uri="{FF2B5EF4-FFF2-40B4-BE49-F238E27FC236}">
                  <a16:creationId xmlns:a16="http://schemas.microsoft.com/office/drawing/2014/main" id="{17F05DBD-8FB5-85A7-0DB1-DEC25593AF62}"/>
                </a:ext>
              </a:extLst>
            </p:cNvPr>
            <p:cNvSpPr txBox="1"/>
            <p:nvPr/>
          </p:nvSpPr>
          <p:spPr>
            <a:xfrm>
              <a:off x="7534983" y="2595523"/>
              <a:ext cx="826842" cy="333375"/>
            </a:xfrm>
            <a:prstGeom prst="rect">
              <a:avLst/>
            </a:prstGeom>
            <a:noFill/>
            <a:ln w="6350">
              <a:noFill/>
            </a:ln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>
                <a:lnSpc>
                  <a:spcPct val="107000"/>
                </a:lnSpc>
                <a:spcBef>
                  <a:spcPts val="0"/>
                </a:spcBef>
                <a:spcAft>
                  <a:spcPts val="800"/>
                </a:spcAft>
              </a:pPr>
              <a:r>
                <a:rPr lang="en-US" b="1" dirty="0">
                  <a:effectLst/>
                  <a:latin typeface="Times New Roman" panose="02020603050405020304" pitchFamily="18" charset="0"/>
                  <a:ea typeface="Calibri" panose="020F0502020204030204" pitchFamily="34" charset="0"/>
                  <a:cs typeface="Times New Roman" panose="02020603050405020304" pitchFamily="18" charset="0"/>
                </a:rPr>
                <a:t>FTO</a:t>
              </a:r>
              <a:endParaRPr lang="en-SG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4C33F31-AC86-D6E3-A012-871A305268F5}"/>
                </a:ext>
              </a:extLst>
            </p:cNvPr>
            <p:cNvCxnSpPr>
              <a:cxnSpLocks/>
            </p:cNvCxnSpPr>
            <p:nvPr/>
          </p:nvCxnSpPr>
          <p:spPr>
            <a:xfrm>
              <a:off x="2199546" y="1371161"/>
              <a:ext cx="125365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9E7EE70C-110A-9191-E013-DE9734E6FEE4}"/>
                </a:ext>
              </a:extLst>
            </p:cNvPr>
            <p:cNvCxnSpPr>
              <a:cxnSpLocks/>
            </p:cNvCxnSpPr>
            <p:nvPr/>
          </p:nvCxnSpPr>
          <p:spPr>
            <a:xfrm>
              <a:off x="3563007" y="1787586"/>
              <a:ext cx="2314734" cy="1576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A8E9523E-6A21-71BB-8F27-17BE767B8E15}"/>
                </a:ext>
              </a:extLst>
            </p:cNvPr>
            <p:cNvCxnSpPr>
              <a:cxnSpLocks/>
            </p:cNvCxnSpPr>
            <p:nvPr/>
          </p:nvCxnSpPr>
          <p:spPr>
            <a:xfrm>
              <a:off x="5959736" y="1803350"/>
              <a:ext cx="170119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1D7DA1A-C12D-6E80-E6BD-4ABB67459FCB}"/>
                </a:ext>
              </a:extLst>
            </p:cNvPr>
            <p:cNvCxnSpPr>
              <a:cxnSpLocks/>
            </p:cNvCxnSpPr>
            <p:nvPr/>
          </p:nvCxnSpPr>
          <p:spPr>
            <a:xfrm>
              <a:off x="7730621" y="3011961"/>
              <a:ext cx="48404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11282583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C4D19BA5-6D20-F26E-AE47-6FD8427D3B7F}"/>
              </a:ext>
            </a:extLst>
          </p:cNvPr>
          <p:cNvGrpSpPr/>
          <p:nvPr/>
        </p:nvGrpSpPr>
        <p:grpSpPr>
          <a:xfrm>
            <a:off x="2731627" y="317024"/>
            <a:ext cx="10093123" cy="5354571"/>
            <a:chOff x="1509057" y="240438"/>
            <a:chExt cx="13083725" cy="639633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DA063EF5-E4C6-E997-A791-1ED2A95E182A}"/>
                </a:ext>
              </a:extLst>
            </p:cNvPr>
            <p:cNvSpPr txBox="1"/>
            <p:nvPr/>
          </p:nvSpPr>
          <p:spPr>
            <a:xfrm>
              <a:off x="10565857" y="240438"/>
              <a:ext cx="162614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Dual ab</a:t>
              </a:r>
            </a:p>
            <a:p>
              <a:endParaRPr lang="en-US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AE4E05-7E54-52E1-DCA1-BFFBB148B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374" t="8064" r="13173" b="3226"/>
            <a:stretch>
              <a:fillRect/>
            </a:stretch>
          </p:blipFill>
          <p:spPr>
            <a:xfrm>
              <a:off x="1509057" y="553065"/>
              <a:ext cx="7782520" cy="6083710"/>
            </a:xfrm>
            <a:prstGeom prst="rect">
              <a:avLst/>
            </a:prstGeom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3582D0A-F507-5C17-27F0-87D093E43185}"/>
                </a:ext>
              </a:extLst>
            </p:cNvPr>
            <p:cNvGrpSpPr/>
            <p:nvPr/>
          </p:nvGrpSpPr>
          <p:grpSpPr>
            <a:xfrm>
              <a:off x="2685327" y="1112830"/>
              <a:ext cx="11907455" cy="2747214"/>
              <a:chOff x="2685327" y="1112830"/>
              <a:chExt cx="11907455" cy="2747214"/>
            </a:xfrm>
          </p:grpSpPr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8712C383-A72D-6521-791F-05657CFA4937}"/>
                  </a:ext>
                </a:extLst>
              </p:cNvPr>
              <p:cNvSpPr txBox="1"/>
              <p:nvPr/>
            </p:nvSpPr>
            <p:spPr>
              <a:xfrm>
                <a:off x="3197506" y="1112830"/>
                <a:ext cx="6094070" cy="37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SG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Cs</a:t>
                </a:r>
                <a:r>
                  <a:rPr lang="en-SG" b="1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SG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Bi</a:t>
                </a:r>
                <a:r>
                  <a:rPr lang="en-SG" b="1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SG" b="1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SG" b="1" baseline="-25000">
                    <a:effectLst/>
                    <a:latin typeface="Times New Roman" panose="02020603050405020304" pitchFamily="18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9</a:t>
                </a:r>
                <a:endParaRPr lang="en-S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0" name="Straight Arrow Connector 9">
                <a:extLst>
                  <a:ext uri="{FF2B5EF4-FFF2-40B4-BE49-F238E27FC236}">
                    <a16:creationId xmlns:a16="http://schemas.microsoft.com/office/drawing/2014/main" id="{168F9DCD-3BDD-6565-F638-30E22AF81D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685327" y="1486907"/>
                <a:ext cx="2025569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31692B0-E944-3386-36A1-5C4CEC74505E}"/>
                  </a:ext>
                </a:extLst>
              </p:cNvPr>
              <p:cNvSpPr txBox="1"/>
              <p:nvPr/>
            </p:nvSpPr>
            <p:spPr>
              <a:xfrm>
                <a:off x="6096000" y="1614123"/>
                <a:ext cx="6094070" cy="37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SG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MASnI</a:t>
                </a:r>
                <a:r>
                  <a:rPr lang="en-SG" b="1" baseline="-25000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3</a:t>
                </a:r>
                <a:endParaRPr lang="en-SG" sz="1100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15" name="Straight Arrow Connector 14">
                <a:extLst>
                  <a:ext uri="{FF2B5EF4-FFF2-40B4-BE49-F238E27FC236}">
                    <a16:creationId xmlns:a16="http://schemas.microsoft.com/office/drawing/2014/main" id="{C872A8FF-A002-5115-598D-0B954E2F47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874871" y="1988200"/>
                <a:ext cx="349362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EADD775A-3465-CC82-CCA0-2587F11B2085}"/>
                  </a:ext>
                </a:extLst>
              </p:cNvPr>
              <p:cNvSpPr txBox="1"/>
              <p:nvPr/>
            </p:nvSpPr>
            <p:spPr>
              <a:xfrm>
                <a:off x="8498712" y="3422359"/>
                <a:ext cx="6094070" cy="3740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>
                  <a:lnSpc>
                    <a:spcPct val="107000"/>
                  </a:lnSpc>
                  <a:spcBef>
                    <a:spcPts val="0"/>
                  </a:spcBef>
                  <a:spcAft>
                    <a:spcPts val="800"/>
                  </a:spcAft>
                </a:pPr>
                <a:r>
                  <a:rPr lang="en-US" b="1">
                    <a:effectLst/>
                    <a:latin typeface="Times New Roman" panose="02020603050405020304" pitchFamily="18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FTO</a:t>
                </a:r>
                <a:endParaRPr lang="en-SG" dirty="0">
                  <a:effectLst/>
                  <a:latin typeface="Calibri" panose="020F0502020204030204" pitchFamily="34" charset="0"/>
                  <a:ea typeface="Calibri" panose="020F0502020204030204" pitchFamily="34" charset="0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1B2AAEB-30ED-AEE9-6F3E-F2092B2410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498712" y="3860044"/>
                <a:ext cx="703161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</p:grpSp>
      </p:grpSp>
    </p:spTree>
    <p:extLst>
      <p:ext uri="{BB962C8B-B14F-4D97-AF65-F5344CB8AC3E}">
        <p14:creationId xmlns:p14="http://schemas.microsoft.com/office/powerpoint/2010/main" val="82019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662F908D-FC69-0A0C-99FD-C652E48A7780}"/>
              </a:ext>
            </a:extLst>
          </p:cNvPr>
          <p:cNvGrpSpPr/>
          <p:nvPr/>
        </p:nvGrpSpPr>
        <p:grpSpPr>
          <a:xfrm>
            <a:off x="2129876" y="137826"/>
            <a:ext cx="11244807" cy="5729472"/>
            <a:chOff x="2083444" y="0"/>
            <a:chExt cx="11244807" cy="624974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CD8469EA-5A67-417D-DD9F-2C29E2F734C2}"/>
                </a:ext>
              </a:extLst>
            </p:cNvPr>
            <p:cNvSpPr txBox="1"/>
            <p:nvPr/>
          </p:nvSpPr>
          <p:spPr>
            <a:xfrm>
              <a:off x="10089572" y="768927"/>
              <a:ext cx="148231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Cu2O 3 ab</a:t>
              </a:r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0ED91222-011B-32AC-CB37-785B79FE7B7D}"/>
                </a:ext>
              </a:extLst>
            </p:cNvPr>
            <p:cNvGrpSpPr/>
            <p:nvPr/>
          </p:nvGrpSpPr>
          <p:grpSpPr>
            <a:xfrm>
              <a:off x="2083444" y="0"/>
              <a:ext cx="11244807" cy="6249741"/>
              <a:chOff x="2083444" y="0"/>
              <a:chExt cx="11244807" cy="6249741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B2FBB3E8-D135-5FFD-31E8-35D54A401B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083444" y="0"/>
                <a:ext cx="7465670" cy="6249741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4C24596B-E68F-FEFF-A70E-8393016AEFAD}"/>
                  </a:ext>
                </a:extLst>
              </p:cNvPr>
              <p:cNvSpPr txBox="1"/>
              <p:nvPr/>
            </p:nvSpPr>
            <p:spPr>
              <a:xfrm>
                <a:off x="3416818" y="918185"/>
                <a:ext cx="60940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Cu₂O</a:t>
                </a:r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E4F8013-93F3-C601-CA50-8415339122F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429666" y="1313613"/>
                <a:ext cx="318137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061399CA-0F80-108B-F2CE-BCE5A85818E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63720" y="1788176"/>
                <a:ext cx="310747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846CEAE3-12FE-BF21-3761-1B6A5D5EBBD0}"/>
                  </a:ext>
                </a:extLst>
              </p:cNvPr>
              <p:cNvSpPr txBox="1"/>
              <p:nvPr/>
            </p:nvSpPr>
            <p:spPr>
              <a:xfrm>
                <a:off x="4563320" y="1418844"/>
                <a:ext cx="60940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CZTSSe </a:t>
                </a:r>
              </a:p>
            </p:txBody>
          </p:sp>
          <p:cxnSp>
            <p:nvCxnSpPr>
              <p:cNvPr id="27" name="Straight Arrow Connector 26">
                <a:extLst>
                  <a:ext uri="{FF2B5EF4-FFF2-40B4-BE49-F238E27FC236}">
                    <a16:creationId xmlns:a16="http://schemas.microsoft.com/office/drawing/2014/main" id="{B97E6344-1C45-321C-B386-A592CED59D3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771190" y="1793851"/>
                <a:ext cx="347240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55883BA-DEBF-575C-1706-60C2B14F0511}"/>
                  </a:ext>
                </a:extLst>
              </p:cNvPr>
              <p:cNvSpPr txBox="1"/>
              <p:nvPr/>
            </p:nvSpPr>
            <p:spPr>
              <a:xfrm>
                <a:off x="6670624" y="1371192"/>
                <a:ext cx="60940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</a:t>
                </a:r>
              </a:p>
            </p:txBody>
          </p: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0575B21C-D32A-1773-E25D-F8A1606AA31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025830" y="4563054"/>
                <a:ext cx="1493135" cy="0"/>
              </a:xfrm>
              <a:prstGeom prst="straightConnector1">
                <a:avLst/>
              </a:prstGeom>
              <a:ln>
                <a:headEnd type="triangle"/>
                <a:tailEnd type="triangle"/>
              </a:ln>
            </p:spPr>
            <p:style>
              <a:lnRef idx="3">
                <a:schemeClr val="dk1"/>
              </a:lnRef>
              <a:fillRef idx="0">
                <a:schemeClr val="dk1"/>
              </a:fillRef>
              <a:effectRef idx="2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7705FA0-93D9-1F81-1204-2778865D1878}"/>
                  </a:ext>
                </a:extLst>
              </p:cNvPr>
              <p:cNvSpPr txBox="1"/>
              <p:nvPr/>
            </p:nvSpPr>
            <p:spPr>
              <a:xfrm>
                <a:off x="6944810" y="4123622"/>
                <a:ext cx="6383441" cy="36929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1600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 + ZnO:Al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5459EBCA-2A5B-F92D-3B48-E36729AA3EE3}"/>
                  </a:ext>
                </a:extLst>
              </p:cNvPr>
              <p:cNvSpPr txBox="1"/>
              <p:nvPr/>
            </p:nvSpPr>
            <p:spPr>
              <a:xfrm>
                <a:off x="4285528" y="2438093"/>
                <a:ext cx="663808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Graded (linear): x = 1.00 → 0.90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136626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CA2CEBD-BBB5-E442-9220-AE70FDBBCC73}"/>
              </a:ext>
            </a:extLst>
          </p:cNvPr>
          <p:cNvSpPr txBox="1"/>
          <p:nvPr/>
        </p:nvSpPr>
        <p:spPr>
          <a:xfrm>
            <a:off x="9882939" y="478903"/>
            <a:ext cx="2015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Cu2O 2 ab</a:t>
            </a:r>
          </a:p>
          <a:p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33DCF7D7-DADC-7B9E-FBB6-C2B4291B9A50}"/>
              </a:ext>
            </a:extLst>
          </p:cNvPr>
          <p:cNvGrpSpPr/>
          <p:nvPr/>
        </p:nvGrpSpPr>
        <p:grpSpPr>
          <a:xfrm>
            <a:off x="2268638" y="161464"/>
            <a:ext cx="10521388" cy="5695905"/>
            <a:chOff x="1802046" y="393539"/>
            <a:chExt cx="10669675" cy="57989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2E7DEDD-C44A-5573-3852-974F885D99F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2046" y="393539"/>
              <a:ext cx="7574864" cy="5798916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04EA83E9-BD29-A7AB-1C21-02DA3EACD39B}"/>
                </a:ext>
              </a:extLst>
            </p:cNvPr>
            <p:cNvCxnSpPr>
              <a:cxnSpLocks/>
            </p:cNvCxnSpPr>
            <p:nvPr/>
          </p:nvCxnSpPr>
          <p:spPr>
            <a:xfrm>
              <a:off x="3162785" y="1637709"/>
              <a:ext cx="34434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13A29DC-BC28-41A5-51FC-EA694931487D}"/>
                </a:ext>
              </a:extLst>
            </p:cNvPr>
            <p:cNvSpPr txBox="1"/>
            <p:nvPr/>
          </p:nvSpPr>
          <p:spPr>
            <a:xfrm>
              <a:off x="3162785" y="1268377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Cu₂O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70766B45-D520-D39A-E07F-DF23A1310E92}"/>
                </a:ext>
              </a:extLst>
            </p:cNvPr>
            <p:cNvCxnSpPr>
              <a:cxnSpLocks/>
            </p:cNvCxnSpPr>
            <p:nvPr/>
          </p:nvCxnSpPr>
          <p:spPr>
            <a:xfrm>
              <a:off x="3472406" y="2123842"/>
              <a:ext cx="2623594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2142B53-CF3B-B31E-3C8D-E1CF54D105A5}"/>
                </a:ext>
              </a:extLst>
            </p:cNvPr>
            <p:cNvSpPr txBox="1"/>
            <p:nvPr/>
          </p:nvSpPr>
          <p:spPr>
            <a:xfrm>
              <a:off x="4295884" y="1696109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CZTSSe 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F562EDA2-EC44-7D6C-ACA6-4321AE4FE27B}"/>
                </a:ext>
              </a:extLst>
            </p:cNvPr>
            <p:cNvCxnSpPr>
              <a:cxnSpLocks/>
            </p:cNvCxnSpPr>
            <p:nvPr/>
          </p:nvCxnSpPr>
          <p:spPr>
            <a:xfrm>
              <a:off x="6096000" y="2123842"/>
              <a:ext cx="35109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3EE1CF7-2165-5627-4C5D-2CF0C443703C}"/>
                </a:ext>
              </a:extLst>
            </p:cNvPr>
            <p:cNvSpPr txBox="1"/>
            <p:nvPr/>
          </p:nvSpPr>
          <p:spPr>
            <a:xfrm>
              <a:off x="5975431" y="1696109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2A272A8-F313-69F3-86DE-E046B974E45F}"/>
                </a:ext>
              </a:extLst>
            </p:cNvPr>
            <p:cNvCxnSpPr>
              <a:cxnSpLocks/>
            </p:cNvCxnSpPr>
            <p:nvPr/>
          </p:nvCxnSpPr>
          <p:spPr>
            <a:xfrm>
              <a:off x="6354501" y="4562128"/>
              <a:ext cx="1967696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974E6AC-10DF-ABEA-44BE-D312B62E851C}"/>
                </a:ext>
              </a:extLst>
            </p:cNvPr>
            <p:cNvSpPr txBox="1"/>
            <p:nvPr/>
          </p:nvSpPr>
          <p:spPr>
            <a:xfrm>
              <a:off x="6377651" y="4136761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 + ZnO:Al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CF122ACC-DD36-9A93-22CA-AC8B2630CD1E}"/>
                </a:ext>
              </a:extLst>
            </p:cNvPr>
            <p:cNvSpPr txBox="1"/>
            <p:nvPr/>
          </p:nvSpPr>
          <p:spPr>
            <a:xfrm>
              <a:off x="4054197" y="2710858"/>
              <a:ext cx="62329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Graded (linear): x = 1.00 → 0.973</a:t>
              </a:r>
            </a:p>
            <a:p>
              <a:endParaRPr 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179433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4A5AB44-BBAA-1483-CFD9-DB7B5A3F911C}"/>
              </a:ext>
            </a:extLst>
          </p:cNvPr>
          <p:cNvSpPr txBox="1"/>
          <p:nvPr/>
        </p:nvSpPr>
        <p:spPr>
          <a:xfrm>
            <a:off x="9850582" y="862445"/>
            <a:ext cx="1943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V2O5 dual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CB2621-E538-73FA-EBB9-C45D7D37CB5F}"/>
              </a:ext>
            </a:extLst>
          </p:cNvPr>
          <p:cNvGrpSpPr/>
          <p:nvPr/>
        </p:nvGrpSpPr>
        <p:grpSpPr>
          <a:xfrm>
            <a:off x="2189953" y="161466"/>
            <a:ext cx="10840246" cy="5695328"/>
            <a:chOff x="1541771" y="601121"/>
            <a:chExt cx="10840246" cy="605075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A9A8273-12F8-13FE-C21F-01057A367E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1771" y="601121"/>
              <a:ext cx="7555932" cy="6050759"/>
            </a:xfrm>
            <a:prstGeom prst="rect">
              <a:avLst/>
            </a:prstGeom>
          </p:spPr>
        </p:pic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3C00AC9D-584E-DFAE-AF47-DFBEBAC148B1}"/>
                </a:ext>
              </a:extLst>
            </p:cNvPr>
            <p:cNvCxnSpPr>
              <a:cxnSpLocks/>
            </p:cNvCxnSpPr>
            <p:nvPr/>
          </p:nvCxnSpPr>
          <p:spPr>
            <a:xfrm>
              <a:off x="2919715" y="1811325"/>
              <a:ext cx="26332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30A1F70-E63C-A84B-4DBA-24F9D4AB4732}"/>
                </a:ext>
              </a:extLst>
            </p:cNvPr>
            <p:cNvSpPr txBox="1"/>
            <p:nvPr/>
          </p:nvSpPr>
          <p:spPr>
            <a:xfrm>
              <a:off x="2919715" y="1401369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V₂O₅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0D1CA723-078D-05B2-0CB7-7FB6B29E2A95}"/>
                </a:ext>
              </a:extLst>
            </p:cNvPr>
            <p:cNvCxnSpPr>
              <a:cxnSpLocks/>
            </p:cNvCxnSpPr>
            <p:nvPr/>
          </p:nvCxnSpPr>
          <p:spPr>
            <a:xfrm>
              <a:off x="3183038" y="2359679"/>
              <a:ext cx="321776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E6E60B6-EC2C-5435-5DCD-DED012A468BE}"/>
                </a:ext>
              </a:extLst>
            </p:cNvPr>
            <p:cNvSpPr txBox="1"/>
            <p:nvPr/>
          </p:nvSpPr>
          <p:spPr>
            <a:xfrm>
              <a:off x="4181355" y="1974429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CZTSSe 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A6435C1-8AC4-418B-11AE-B66FC671BD43}"/>
                </a:ext>
              </a:extLst>
            </p:cNvPr>
            <p:cNvCxnSpPr>
              <a:cxnSpLocks/>
            </p:cNvCxnSpPr>
            <p:nvPr/>
          </p:nvCxnSpPr>
          <p:spPr>
            <a:xfrm>
              <a:off x="6408516" y="2349962"/>
              <a:ext cx="321564" cy="9717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CB2ECB4-7BB7-0E74-6493-FB9B9355020F}"/>
                </a:ext>
              </a:extLst>
            </p:cNvPr>
            <p:cNvSpPr txBox="1"/>
            <p:nvPr/>
          </p:nvSpPr>
          <p:spPr>
            <a:xfrm>
              <a:off x="6287947" y="1922229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</a:t>
              </a:r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0E8ADB97-42A4-2676-BB25-2C4AE4E442E4}"/>
                </a:ext>
              </a:extLst>
            </p:cNvPr>
            <p:cNvCxnSpPr>
              <a:cxnSpLocks/>
            </p:cNvCxnSpPr>
            <p:nvPr/>
          </p:nvCxnSpPr>
          <p:spPr>
            <a:xfrm>
              <a:off x="6528122" y="4953599"/>
              <a:ext cx="150470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2DD16304-3944-8376-071A-D0EE64D08DBD}"/>
                </a:ext>
              </a:extLst>
            </p:cNvPr>
            <p:cNvSpPr txBox="1"/>
            <p:nvPr/>
          </p:nvSpPr>
          <p:spPr>
            <a:xfrm>
              <a:off x="6481980" y="4543242"/>
              <a:ext cx="586989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 + ZnO:Al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6724FB9-F236-6B38-E4BA-E1DB88BEF076}"/>
                </a:ext>
              </a:extLst>
            </p:cNvPr>
            <p:cNvSpPr txBox="1"/>
            <p:nvPr/>
          </p:nvSpPr>
          <p:spPr>
            <a:xfrm>
              <a:off x="3767563" y="2955575"/>
              <a:ext cx="6192454" cy="64633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Graded (linear): x = 0.914 → 1</a:t>
              </a:r>
            </a:p>
            <a:p>
              <a:endParaRPr 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712283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421D607-C331-B594-47D4-B6BDFB09E5E0}"/>
              </a:ext>
            </a:extLst>
          </p:cNvPr>
          <p:cNvSpPr txBox="1"/>
          <p:nvPr/>
        </p:nvSpPr>
        <p:spPr>
          <a:xfrm>
            <a:off x="9933709" y="675409"/>
            <a:ext cx="17872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V2O5 triple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6D911742-261D-3FC8-B21D-9E4F09F0B094}"/>
              </a:ext>
            </a:extLst>
          </p:cNvPr>
          <p:cNvGrpSpPr/>
          <p:nvPr/>
        </p:nvGrpSpPr>
        <p:grpSpPr>
          <a:xfrm>
            <a:off x="2245489" y="173043"/>
            <a:ext cx="10718158" cy="5661183"/>
            <a:chOff x="2151147" y="750178"/>
            <a:chExt cx="10675915" cy="568433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181FC94-8FF7-0EDE-710B-0A5CEDA14A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51147" y="750178"/>
              <a:ext cx="7453909" cy="5684330"/>
            </a:xfrm>
            <a:prstGeom prst="rect">
              <a:avLst/>
            </a:prstGeom>
          </p:spPr>
        </p:pic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C3445770-65D7-4A57-D177-921195657DC1}"/>
                </a:ext>
              </a:extLst>
            </p:cNvPr>
            <p:cNvCxnSpPr>
              <a:cxnSpLocks/>
            </p:cNvCxnSpPr>
            <p:nvPr/>
          </p:nvCxnSpPr>
          <p:spPr>
            <a:xfrm>
              <a:off x="3509216" y="1904443"/>
              <a:ext cx="26332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B247EA2-F4A5-19A4-D9B8-5ED6B664739B}"/>
                </a:ext>
              </a:extLst>
            </p:cNvPr>
            <p:cNvSpPr txBox="1"/>
            <p:nvPr/>
          </p:nvSpPr>
          <p:spPr>
            <a:xfrm>
              <a:off x="3532275" y="1552602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V₂O₅</a:t>
              </a:r>
            </a:p>
          </p:txBody>
        </p:sp>
        <p:cxnSp>
          <p:nvCxnSpPr>
            <p:cNvPr id="8" name="Straight Arrow Connector 7">
              <a:extLst>
                <a:ext uri="{FF2B5EF4-FFF2-40B4-BE49-F238E27FC236}">
                  <a16:creationId xmlns:a16="http://schemas.microsoft.com/office/drawing/2014/main" id="{7771D4B6-9964-59AF-4826-6617CB7DFFEB}"/>
                </a:ext>
              </a:extLst>
            </p:cNvPr>
            <p:cNvCxnSpPr>
              <a:cxnSpLocks/>
            </p:cNvCxnSpPr>
            <p:nvPr/>
          </p:nvCxnSpPr>
          <p:spPr>
            <a:xfrm>
              <a:off x="3761774" y="2204878"/>
              <a:ext cx="3125163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7830DAC-B232-B4BF-0777-1C6E8668C152}"/>
                </a:ext>
              </a:extLst>
            </p:cNvPr>
            <p:cNvSpPr txBox="1"/>
            <p:nvPr/>
          </p:nvSpPr>
          <p:spPr>
            <a:xfrm>
              <a:off x="4741562" y="1835546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CZTSSe </a:t>
              </a:r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248E66D5-7CA9-3F85-4B8C-71FC646539AB}"/>
                </a:ext>
              </a:extLst>
            </p:cNvPr>
            <p:cNvCxnSpPr>
              <a:cxnSpLocks/>
            </p:cNvCxnSpPr>
            <p:nvPr/>
          </p:nvCxnSpPr>
          <p:spPr>
            <a:xfrm>
              <a:off x="6853561" y="2204334"/>
              <a:ext cx="351099" cy="970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F111C46D-7BC0-BAD3-1F59-0A048B8D97A6}"/>
                </a:ext>
              </a:extLst>
            </p:cNvPr>
            <p:cNvSpPr txBox="1"/>
            <p:nvPr/>
          </p:nvSpPr>
          <p:spPr>
            <a:xfrm>
              <a:off x="6732992" y="1776601"/>
              <a:ext cx="609407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</a:t>
              </a:r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AC887E8D-4B56-4594-DD95-923C021648DE}"/>
                </a:ext>
              </a:extLst>
            </p:cNvPr>
            <p:cNvCxnSpPr>
              <a:cxnSpLocks/>
            </p:cNvCxnSpPr>
            <p:nvPr/>
          </p:nvCxnSpPr>
          <p:spPr>
            <a:xfrm>
              <a:off x="7057469" y="4821888"/>
              <a:ext cx="1504709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679B028-9978-7C8B-C57E-9225F5D2BA8B}"/>
                </a:ext>
              </a:extLst>
            </p:cNvPr>
            <p:cNvSpPr txBox="1"/>
            <p:nvPr/>
          </p:nvSpPr>
          <p:spPr>
            <a:xfrm>
              <a:off x="7015595" y="4474568"/>
              <a:ext cx="4025558" cy="33993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 + ZnO:Al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8439852-7B4C-BFB3-3307-C1947D478B08}"/>
                </a:ext>
              </a:extLst>
            </p:cNvPr>
            <p:cNvSpPr txBox="1"/>
            <p:nvPr/>
          </p:nvSpPr>
          <p:spPr>
            <a:xfrm>
              <a:off x="4166273" y="2951550"/>
              <a:ext cx="623296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Graded (linear): x = 1.00 → 0.914</a:t>
              </a:r>
            </a:p>
            <a:p>
              <a:endParaRPr 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391851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E2FC5E61-EFDA-907A-15AA-F5FDC2237BA6}"/>
              </a:ext>
            </a:extLst>
          </p:cNvPr>
          <p:cNvGrpSpPr/>
          <p:nvPr/>
        </p:nvGrpSpPr>
        <p:grpSpPr>
          <a:xfrm>
            <a:off x="2257063" y="115746"/>
            <a:ext cx="11916562" cy="5780931"/>
            <a:chOff x="2257063" y="115746"/>
            <a:chExt cx="11916562" cy="5780931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FBCC616-2A41-4984-CB0A-AF0F55180DE0}"/>
                </a:ext>
              </a:extLst>
            </p:cNvPr>
            <p:cNvSpPr txBox="1"/>
            <p:nvPr/>
          </p:nvSpPr>
          <p:spPr>
            <a:xfrm>
              <a:off x="10131136" y="893618"/>
              <a:ext cx="1226128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/>
                <a:t>With out T bsf</a:t>
              </a:r>
            </a:p>
          </p:txBody>
        </p: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75C1724-04BA-1BFE-35B2-123312ADAF13}"/>
                </a:ext>
              </a:extLst>
            </p:cNvPr>
            <p:cNvGrpSpPr/>
            <p:nvPr/>
          </p:nvGrpSpPr>
          <p:grpSpPr>
            <a:xfrm>
              <a:off x="2257063" y="115746"/>
              <a:ext cx="11005842" cy="5780931"/>
              <a:chOff x="1678329" y="520861"/>
              <a:chExt cx="11005842" cy="5780931"/>
            </a:xfrm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5D7E7FF6-4760-E2EA-2CB7-2ED72192E7BD}"/>
                  </a:ext>
                </a:extLst>
              </p:cNvPr>
              <p:cNvGrpSpPr/>
              <p:nvPr/>
            </p:nvGrpSpPr>
            <p:grpSpPr>
              <a:xfrm>
                <a:off x="1678329" y="520861"/>
                <a:ext cx="11005842" cy="5780931"/>
                <a:chOff x="1678329" y="520861"/>
                <a:chExt cx="11005842" cy="5780931"/>
              </a:xfrm>
            </p:grpSpPr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7A208326-C55B-6A84-DAAD-278E564450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78329" y="520861"/>
                  <a:ext cx="7511970" cy="5780931"/>
                </a:xfrm>
                <a:prstGeom prst="rect">
                  <a:avLst/>
                </a:prstGeom>
              </p:spPr>
            </p:pic>
            <p:cxnSp>
              <p:nvCxnSpPr>
                <p:cNvPr id="10" name="Straight Arrow Connector 9">
                  <a:extLst>
                    <a:ext uri="{FF2B5EF4-FFF2-40B4-BE49-F238E27FC236}">
                      <a16:creationId xmlns:a16="http://schemas.microsoft.com/office/drawing/2014/main" id="{FA8F5AC0-1E45-CA70-2662-23845EFBD0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036825" y="2321920"/>
                  <a:ext cx="3697361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1" name="TextBox 10">
                  <a:extLst>
                    <a:ext uri="{FF2B5EF4-FFF2-40B4-BE49-F238E27FC236}">
                      <a16:creationId xmlns:a16="http://schemas.microsoft.com/office/drawing/2014/main" id="{7D7F7738-52E5-63BC-D7CB-9D42DE0F18B1}"/>
                    </a:ext>
                  </a:extLst>
                </p:cNvPr>
                <p:cNvSpPr txBox="1"/>
                <p:nvPr/>
              </p:nvSpPr>
              <p:spPr>
                <a:xfrm>
                  <a:off x="4037066" y="1868691"/>
                  <a:ext cx="609407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CZTSSe </a:t>
                  </a:r>
                </a:p>
              </p:txBody>
            </p:sp>
            <p:cxnSp>
              <p:nvCxnSpPr>
                <p:cNvPr id="13" name="Straight Arrow Connector 12">
                  <a:extLst>
                    <a:ext uri="{FF2B5EF4-FFF2-40B4-BE49-F238E27FC236}">
                      <a16:creationId xmlns:a16="http://schemas.microsoft.com/office/drawing/2014/main" id="{2A26A93F-5807-03C0-2657-D6603509FE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741135" y="2320373"/>
                  <a:ext cx="258090" cy="8917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AC38F179-65A3-D280-0F57-614FA8FA494F}"/>
                    </a:ext>
                  </a:extLst>
                </p:cNvPr>
                <p:cNvSpPr txBox="1"/>
                <p:nvPr/>
              </p:nvSpPr>
              <p:spPr>
                <a:xfrm>
                  <a:off x="6590101" y="1959958"/>
                  <a:ext cx="609407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CdS</a:t>
                  </a:r>
                </a:p>
              </p:txBody>
            </p:sp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30713DA8-CE4A-83A5-BCDC-F69CC83148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146369" y="2329290"/>
                  <a:ext cx="935421" cy="7703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74DAE143-6521-90B2-00C2-831AF8F2F7E1}"/>
                  </a:ext>
                </a:extLst>
              </p:cNvPr>
              <p:cNvSpPr txBox="1"/>
              <p:nvPr/>
            </p:nvSpPr>
            <p:spPr>
              <a:xfrm>
                <a:off x="3762399" y="2842944"/>
                <a:ext cx="645867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Graded (linear): x = 0.5 → 0.537</a:t>
                </a:r>
              </a:p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5168792-1D8C-34A4-39FE-DB10F02E60A7}"/>
                </a:ext>
              </a:extLst>
            </p:cNvPr>
            <p:cNvSpPr txBox="1"/>
            <p:nvPr/>
          </p:nvSpPr>
          <p:spPr>
            <a:xfrm>
              <a:off x="7732182" y="1562539"/>
              <a:ext cx="144335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</a:t>
              </a:r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3F37ABE-008B-6C8C-B791-4EFC3D2EF021}"/>
                </a:ext>
              </a:extLst>
            </p:cNvPr>
            <p:cNvSpPr txBox="1"/>
            <p:nvPr/>
          </p:nvSpPr>
          <p:spPr>
            <a:xfrm>
              <a:off x="7425985" y="4031800"/>
              <a:ext cx="67476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  <a:endParaRPr lang="en-US"/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61B84049-85E2-CE2C-CE9A-06AFE337E10F}"/>
                </a:ext>
              </a:extLst>
            </p:cNvPr>
            <p:cNvCxnSpPr>
              <a:cxnSpLocks/>
            </p:cNvCxnSpPr>
            <p:nvPr/>
          </p:nvCxnSpPr>
          <p:spPr>
            <a:xfrm>
              <a:off x="7472290" y="4401132"/>
              <a:ext cx="34397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219406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>
            <a:extLst>
              <a:ext uri="{FF2B5EF4-FFF2-40B4-BE49-F238E27FC236}">
                <a16:creationId xmlns:a16="http://schemas.microsoft.com/office/drawing/2014/main" id="{B595FBD2-ED81-E1E8-FB35-091A9B3A75A8}"/>
              </a:ext>
            </a:extLst>
          </p:cNvPr>
          <p:cNvGrpSpPr/>
          <p:nvPr/>
        </p:nvGrpSpPr>
        <p:grpSpPr>
          <a:xfrm>
            <a:off x="1569634" y="333396"/>
            <a:ext cx="13781386" cy="5682113"/>
            <a:chOff x="2210765" y="186251"/>
            <a:chExt cx="13781386" cy="5682113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CBF2BD9-FBBD-189C-BFE1-7A3D37B79641}"/>
                </a:ext>
              </a:extLst>
            </p:cNvPr>
            <p:cNvGrpSpPr/>
            <p:nvPr/>
          </p:nvGrpSpPr>
          <p:grpSpPr>
            <a:xfrm>
              <a:off x="2210765" y="186251"/>
              <a:ext cx="13781386" cy="5682113"/>
              <a:chOff x="1721023" y="186251"/>
              <a:chExt cx="14271129" cy="5682113"/>
            </a:xfrm>
          </p:grpSpPr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BC4DDAB4-F1E8-4BB0-5FD2-AC2A0070DCF2}"/>
                  </a:ext>
                </a:extLst>
              </p:cNvPr>
              <p:cNvSpPr txBox="1"/>
              <p:nvPr/>
            </p:nvSpPr>
            <p:spPr>
              <a:xfrm>
                <a:off x="9898082" y="186251"/>
                <a:ext cx="60940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With out D bsf</a:t>
                </a:r>
              </a:p>
            </p:txBody>
          </p: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0EEE9D2A-F6CE-FA9B-659B-CA0787DEE5AA}"/>
                  </a:ext>
                </a:extLst>
              </p:cNvPr>
              <p:cNvGrpSpPr/>
              <p:nvPr/>
            </p:nvGrpSpPr>
            <p:grpSpPr>
              <a:xfrm>
                <a:off x="1721023" y="186251"/>
                <a:ext cx="7802892" cy="5682113"/>
                <a:chOff x="1616852" y="462986"/>
                <a:chExt cx="7802892" cy="5682113"/>
              </a:xfrm>
            </p:grpSpPr>
            <p:pic>
              <p:nvPicPr>
                <p:cNvPr id="3" name="Picture 2">
                  <a:extLst>
                    <a:ext uri="{FF2B5EF4-FFF2-40B4-BE49-F238E27FC236}">
                      <a16:creationId xmlns:a16="http://schemas.microsoft.com/office/drawing/2014/main" id="{B07BCD4A-9B8A-79CD-17E2-B75622EE41F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616852" y="462986"/>
                  <a:ext cx="7802892" cy="5682113"/>
                </a:xfrm>
                <a:prstGeom prst="rect">
                  <a:avLst/>
                </a:prstGeom>
              </p:spPr>
            </p:pic>
            <p:cxnSp>
              <p:nvCxnSpPr>
                <p:cNvPr id="6" name="Straight Arrow Connector 5">
                  <a:extLst>
                    <a:ext uri="{FF2B5EF4-FFF2-40B4-BE49-F238E27FC236}">
                      <a16:creationId xmlns:a16="http://schemas.microsoft.com/office/drawing/2014/main" id="{AAF5A168-67CE-6AC0-82CF-532757DE10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2994556" y="2312565"/>
                  <a:ext cx="3570724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7" name="TextBox 6">
                  <a:extLst>
                    <a:ext uri="{FF2B5EF4-FFF2-40B4-BE49-F238E27FC236}">
                      <a16:creationId xmlns:a16="http://schemas.microsoft.com/office/drawing/2014/main" id="{61B24A02-3D9E-D016-281A-4D71E71353F1}"/>
                    </a:ext>
                  </a:extLst>
                </p:cNvPr>
                <p:cNvSpPr txBox="1"/>
                <p:nvPr/>
              </p:nvSpPr>
              <p:spPr>
                <a:xfrm>
                  <a:off x="4070231" y="1962868"/>
                  <a:ext cx="1809370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CZTSSe </a:t>
                  </a:r>
                </a:p>
              </p:txBody>
            </p:sp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733E8E0F-3306-A82E-69D7-2B9B0E75A0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529227" y="2312565"/>
                  <a:ext cx="252594" cy="11006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91BAF673-90C8-1154-2861-BED4FFF8A0F8}"/>
                    </a:ext>
                  </a:extLst>
                </p:cNvPr>
                <p:cNvSpPr txBox="1"/>
                <p:nvPr/>
              </p:nvSpPr>
              <p:spPr>
                <a:xfrm>
                  <a:off x="6380910" y="1969880"/>
                  <a:ext cx="742904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b="1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CdS</a:t>
                  </a:r>
                </a:p>
              </p:txBody>
            </p:sp>
            <p:cxnSp>
              <p:nvCxnSpPr>
                <p:cNvPr id="14" name="Straight Arrow Connector 13">
                  <a:extLst>
                    <a:ext uri="{FF2B5EF4-FFF2-40B4-BE49-F238E27FC236}">
                      <a16:creationId xmlns:a16="http://schemas.microsoft.com/office/drawing/2014/main" id="{5247D728-4735-259A-037A-64E0298E47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6977990" y="2558632"/>
                  <a:ext cx="1289962" cy="0"/>
                </a:xfrm>
                <a:prstGeom prst="straightConnector1">
                  <a:avLst/>
                </a:prstGeom>
                <a:ln>
                  <a:headEnd type="triangle"/>
                  <a:tailEnd type="triangle"/>
                </a:ln>
              </p:spPr>
              <p:style>
                <a:lnRef idx="3">
                  <a:schemeClr val="dk1"/>
                </a:lnRef>
                <a:fillRef idx="0">
                  <a:schemeClr val="dk1"/>
                </a:fillRef>
                <a:effectRef idx="2">
                  <a:schemeClr val="dk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C3E8EA4E-526E-522D-4627-DE24D08D4F59}"/>
                  </a:ext>
                </a:extLst>
              </p:cNvPr>
              <p:cNvSpPr txBox="1"/>
              <p:nvPr/>
            </p:nvSpPr>
            <p:spPr>
              <a:xfrm>
                <a:off x="4041989" y="2538554"/>
                <a:ext cx="6458672" cy="6463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Graded (linear): x = 0.5 → 0.537</a:t>
                </a:r>
              </a:p>
              <a:p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B68F0A90-5171-D11A-8449-10AC3D0411C3}"/>
                </a:ext>
              </a:extLst>
            </p:cNvPr>
            <p:cNvSpPr txBox="1"/>
            <p:nvPr/>
          </p:nvSpPr>
          <p:spPr>
            <a:xfrm>
              <a:off x="7528745" y="1949801"/>
              <a:ext cx="197428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</a:t>
              </a:r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2A50B759-6275-496A-A8F8-9CB4DFC81880}"/>
                </a:ext>
              </a:extLst>
            </p:cNvPr>
            <p:cNvSpPr txBox="1"/>
            <p:nvPr/>
          </p:nvSpPr>
          <p:spPr>
            <a:xfrm>
              <a:off x="7076525" y="4029807"/>
              <a:ext cx="79983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8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  <a:endParaRPr lang="en-US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E45F614D-EBBE-A9AB-3FDB-004F93DF284C}"/>
                </a:ext>
              </a:extLst>
            </p:cNvPr>
            <p:cNvCxnSpPr>
              <a:cxnSpLocks/>
            </p:cNvCxnSpPr>
            <p:nvPr/>
          </p:nvCxnSpPr>
          <p:spPr>
            <a:xfrm>
              <a:off x="7093923" y="4401132"/>
              <a:ext cx="343972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3">
              <a:schemeClr val="dk1"/>
            </a:lnRef>
            <a:fillRef idx="0">
              <a:schemeClr val="dk1"/>
            </a:fillRef>
            <a:effectRef idx="2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62345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numbers and lines&#10;&#10;Description automatically generated">
            <a:extLst>
              <a:ext uri="{FF2B5EF4-FFF2-40B4-BE49-F238E27FC236}">
                <a16:creationId xmlns:a16="http://schemas.microsoft.com/office/drawing/2014/main" id="{B0EE40AB-97D4-D0F8-C5FF-E0CFB678659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760" y="404014"/>
            <a:ext cx="5826251" cy="4107444"/>
          </a:xfrm>
          <a:prstGeom prst="rect">
            <a:avLst/>
          </a:prstGeom>
        </p:spPr>
      </p:pic>
      <p:pic>
        <p:nvPicPr>
          <p:cNvPr id="4" name="Picture 3" descr="A graph of a graph with numbers and lines&#10;&#10;Description automatically generated with medium confidence">
            <a:extLst>
              <a:ext uri="{FF2B5EF4-FFF2-40B4-BE49-F238E27FC236}">
                <a16:creationId xmlns:a16="http://schemas.microsoft.com/office/drawing/2014/main" id="{DC5456A3-ADBA-A22E-853B-75E595CB1F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76"/>
          <a:stretch/>
        </p:blipFill>
        <p:spPr>
          <a:xfrm>
            <a:off x="5716328" y="222399"/>
            <a:ext cx="5426883" cy="440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5717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007A13A-76CB-D00D-C880-633E507178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2080" y="558801"/>
            <a:ext cx="7284720" cy="5455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7761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8458D3-5FF2-4A62-4682-4EDAD12082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4711" y="325820"/>
            <a:ext cx="8000309" cy="567186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FC7F639-1AE3-6D25-766D-0A2F0146D9C5}"/>
              </a:ext>
            </a:extLst>
          </p:cNvPr>
          <p:cNvSpPr txBox="1"/>
          <p:nvPr/>
        </p:nvSpPr>
        <p:spPr>
          <a:xfrm>
            <a:off x="7480300" y="986790"/>
            <a:ext cx="9525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>
                <a:latin typeface="Times New Roman" panose="02020603050405020304" pitchFamily="18" charset="0"/>
                <a:cs typeface="Times New Roman" panose="02020603050405020304" pitchFamily="18" charset="0"/>
              </a:rPr>
              <a:t>(Dual</a:t>
            </a:r>
            <a:r>
              <a:rPr lang="en-US" sz="140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0427077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B24B6CF-1B8F-2D40-B27A-F52385720A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0452" y="403556"/>
            <a:ext cx="8534935" cy="6050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06883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E327D7D-6EFB-2850-1DEE-DFCB4864BC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6041" y="227462"/>
            <a:ext cx="8271624" cy="663053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31D0B5-82A5-4B5B-E891-7611D27A4739}"/>
              </a:ext>
            </a:extLst>
          </p:cNvPr>
          <p:cNvSpPr txBox="1"/>
          <p:nvPr/>
        </p:nvSpPr>
        <p:spPr>
          <a:xfrm>
            <a:off x="5023945" y="620036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2076976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534E3FE-EB5B-55AA-1274-5DA41CF176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18" y="210206"/>
            <a:ext cx="8345196" cy="673187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2787F2B-6097-66E8-A9E5-959B982EF7D9}"/>
              </a:ext>
            </a:extLst>
          </p:cNvPr>
          <p:cNvSpPr txBox="1"/>
          <p:nvPr/>
        </p:nvSpPr>
        <p:spPr>
          <a:xfrm>
            <a:off x="5023945" y="6200363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187705364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A741F8C-9E53-949D-0C6A-B4CECD4559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038" y="225972"/>
            <a:ext cx="8334685" cy="663202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2DAA40-5A36-D54A-252A-097AA1C12405}"/>
              </a:ext>
            </a:extLst>
          </p:cNvPr>
          <p:cNvSpPr txBox="1">
            <a:spLocks/>
          </p:cNvSpPr>
          <p:nvPr/>
        </p:nvSpPr>
        <p:spPr>
          <a:xfrm>
            <a:off x="5023945" y="6143296"/>
            <a:ext cx="16816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17244225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CF87399-89D7-E3AE-6471-6D4EE0256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531" y="210206"/>
            <a:ext cx="8334703" cy="664779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9D3F0E5-287F-3FD9-7434-005153622A70}"/>
              </a:ext>
            </a:extLst>
          </p:cNvPr>
          <p:cNvSpPr txBox="1"/>
          <p:nvPr/>
        </p:nvSpPr>
        <p:spPr>
          <a:xfrm>
            <a:off x="5070382" y="6136347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35C786-7B81-78D6-1BB3-BA684C55D936}"/>
              </a:ext>
            </a:extLst>
          </p:cNvPr>
          <p:cNvSpPr txBox="1"/>
          <p:nvPr/>
        </p:nvSpPr>
        <p:spPr>
          <a:xfrm>
            <a:off x="-1965435" y="382502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37434834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F8C207F-4FB8-A055-9728-08608F1BA9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2487" y="241738"/>
            <a:ext cx="8397747" cy="66162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2837207-FB6B-17A3-7550-C2508DC5794E}"/>
              </a:ext>
            </a:extLst>
          </p:cNvPr>
          <p:cNvSpPr txBox="1"/>
          <p:nvPr/>
        </p:nvSpPr>
        <p:spPr>
          <a:xfrm>
            <a:off x="5063336" y="6141418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37300708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D50D40A-07CE-AA8B-2FF3-5EDE739A85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5021" y="199696"/>
            <a:ext cx="8324193" cy="665830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B1589A-8349-CB16-7C63-2BAABD65DD62}"/>
              </a:ext>
            </a:extLst>
          </p:cNvPr>
          <p:cNvSpPr txBox="1">
            <a:spLocks/>
          </p:cNvSpPr>
          <p:nvPr/>
        </p:nvSpPr>
        <p:spPr>
          <a:xfrm>
            <a:off x="5091308" y="6134116"/>
            <a:ext cx="60960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200" b="1">
                <a:latin typeface="Times New Roman" panose="02020603050405020304" pitchFamily="18" charset="0"/>
                <a:cs typeface="Times New Roman" panose="02020603050405020304" pitchFamily="18" charset="0"/>
              </a:rPr>
              <a:t>Voltage (V) </a:t>
            </a:r>
          </a:p>
        </p:txBody>
      </p:sp>
    </p:spTree>
    <p:extLst>
      <p:ext uri="{BB962C8B-B14F-4D97-AF65-F5344CB8AC3E}">
        <p14:creationId xmlns:p14="http://schemas.microsoft.com/office/powerpoint/2010/main" val="21508473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D102EF5-9F80-FDCA-99E0-FC31A3A0DE8E}"/>
              </a:ext>
            </a:extLst>
          </p:cNvPr>
          <p:cNvGrpSpPr/>
          <p:nvPr/>
        </p:nvGrpSpPr>
        <p:grpSpPr>
          <a:xfrm>
            <a:off x="2493818" y="-2333244"/>
            <a:ext cx="13321561" cy="8521209"/>
            <a:chOff x="2493818" y="-2333244"/>
            <a:chExt cx="13321561" cy="8521209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C59C86A-A772-38F8-FB31-6D78A394BC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818" y="670034"/>
              <a:ext cx="7207826" cy="551793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</p:pic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A682BA5D-2455-C32A-4D77-3F39F2BC11FF}"/>
                </a:ext>
              </a:extLst>
            </p:cNvPr>
            <p:cNvSpPr/>
            <p:nvPr/>
          </p:nvSpPr>
          <p:spPr>
            <a:xfrm>
              <a:off x="8042481" y="2881884"/>
              <a:ext cx="504544" cy="1207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F063192-6614-2F22-A7A4-D28D34D302E4}"/>
                </a:ext>
              </a:extLst>
            </p:cNvPr>
            <p:cNvGrpSpPr/>
            <p:nvPr/>
          </p:nvGrpSpPr>
          <p:grpSpPr>
            <a:xfrm>
              <a:off x="3960776" y="-2333244"/>
              <a:ext cx="4512691" cy="7636764"/>
              <a:chOff x="3960776" y="-2333244"/>
              <a:chExt cx="4512691" cy="7636764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6F7F23D2-CEA2-71E0-D5BD-C2E5AA1E2E3B}"/>
                  </a:ext>
                </a:extLst>
              </p:cNvPr>
              <p:cNvSpPr/>
              <p:nvPr/>
            </p:nvSpPr>
            <p:spPr>
              <a:xfrm>
                <a:off x="3960776" y="3261359"/>
                <a:ext cx="504544" cy="186690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150F09F0-D15C-FE7B-5B05-70825D905DBB}"/>
                  </a:ext>
                </a:extLst>
              </p:cNvPr>
              <p:cNvSpPr/>
              <p:nvPr/>
            </p:nvSpPr>
            <p:spPr>
              <a:xfrm>
                <a:off x="4545783" y="3295650"/>
                <a:ext cx="504544" cy="96393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69AA3DA5-61FA-B068-F25C-B8F3B9559CBC}"/>
                  </a:ext>
                </a:extLst>
              </p:cNvPr>
              <p:cNvSpPr/>
              <p:nvPr/>
            </p:nvSpPr>
            <p:spPr>
              <a:xfrm>
                <a:off x="5130790" y="3133344"/>
                <a:ext cx="504544" cy="8305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865229B0-97BA-BE02-ED2E-6037ED87800C}"/>
                  </a:ext>
                </a:extLst>
              </p:cNvPr>
              <p:cNvSpPr/>
              <p:nvPr/>
            </p:nvSpPr>
            <p:spPr>
              <a:xfrm>
                <a:off x="5715797" y="2674620"/>
                <a:ext cx="504544" cy="120777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DB4F0482-A9D0-51A2-D01B-C5C7DF8EB231}"/>
                  </a:ext>
                </a:extLst>
              </p:cNvPr>
              <p:cNvSpPr/>
              <p:nvPr/>
            </p:nvSpPr>
            <p:spPr>
              <a:xfrm>
                <a:off x="6297761" y="3364992"/>
                <a:ext cx="504544" cy="193852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D3FAEF6-3014-5D24-1DD2-14384BA2B3E4}"/>
                  </a:ext>
                </a:extLst>
              </p:cNvPr>
              <p:cNvSpPr/>
              <p:nvPr/>
            </p:nvSpPr>
            <p:spPr>
              <a:xfrm>
                <a:off x="6879803" y="3364992"/>
                <a:ext cx="504544" cy="19385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53D4368-C48D-8117-63E6-82A201D7A3F7}"/>
                  </a:ext>
                </a:extLst>
              </p:cNvPr>
              <p:cNvSpPr/>
              <p:nvPr/>
            </p:nvSpPr>
            <p:spPr>
              <a:xfrm>
                <a:off x="7461142" y="3139440"/>
                <a:ext cx="504544" cy="142036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D537F37B-886C-5823-0CFF-495048086B59}"/>
                  </a:ext>
                </a:extLst>
              </p:cNvPr>
              <p:cNvSpPr txBox="1"/>
              <p:nvPr/>
            </p:nvSpPr>
            <p:spPr>
              <a:xfrm rot="16200000">
                <a:off x="3788454" y="3983885"/>
                <a:ext cx="843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FTO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59E27C42-6A3B-D363-8D3D-8CFB1DA77740}"/>
                  </a:ext>
                </a:extLst>
              </p:cNvPr>
              <p:cNvSpPr txBox="1"/>
              <p:nvPr/>
            </p:nvSpPr>
            <p:spPr>
              <a:xfrm rot="16200000">
                <a:off x="1753103" y="1089398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Cs₂TiBr₆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CEAE90E2-D1A5-A083-06CF-2039073492E9}"/>
                  </a:ext>
                </a:extLst>
              </p:cNvPr>
              <p:cNvSpPr txBox="1"/>
              <p:nvPr/>
            </p:nvSpPr>
            <p:spPr>
              <a:xfrm rot="16200000">
                <a:off x="2299121" y="775662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MASnI₃</a:t>
                </a:r>
              </a:p>
            </p:txBody>
          </p:sp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3F18E78-1432-E332-F59E-C62C6F0DB591}"/>
                  </a:ext>
                </a:extLst>
              </p:cNvPr>
              <p:cNvSpPr txBox="1"/>
              <p:nvPr/>
            </p:nvSpPr>
            <p:spPr>
              <a:xfrm rot="16200000">
                <a:off x="2887716" y="534662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Cs₃Bi₂I₉</a:t>
                </a:r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257EACE5-7BFE-EE77-1F52-AF1569083C84}"/>
                  </a:ext>
                </a:extLst>
              </p:cNvPr>
              <p:cNvSpPr txBox="1"/>
              <p:nvPr/>
            </p:nvSpPr>
            <p:spPr>
              <a:xfrm rot="16200000">
                <a:off x="3504225" y="1636015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ZnO:Al 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EAE20AE0-7B61-4D73-9CA6-64EA034124F7}"/>
                  </a:ext>
                </a:extLst>
              </p:cNvPr>
              <p:cNvSpPr txBox="1"/>
              <p:nvPr/>
            </p:nvSpPr>
            <p:spPr>
              <a:xfrm rot="16200000">
                <a:off x="4086188" y="1527119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F343EE8-5700-0706-7549-0B09C169BFC9}"/>
                  </a:ext>
                </a:extLst>
              </p:cNvPr>
              <p:cNvSpPr txBox="1"/>
              <p:nvPr/>
            </p:nvSpPr>
            <p:spPr>
              <a:xfrm rot="16200000">
                <a:off x="4658919" y="970859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 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DA57EC5-6D6D-F55C-FBAB-1BB2628E3555}"/>
                  </a:ext>
                </a:extLst>
              </p:cNvPr>
              <p:cNvSpPr txBox="1"/>
              <p:nvPr/>
            </p:nvSpPr>
            <p:spPr>
              <a:xfrm rot="16200000">
                <a:off x="5236229" y="809744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CZTSSe </a:t>
                </a:r>
              </a:p>
            </p:txBody>
          </p:sp>
        </p:grpSp>
        <p:sp>
          <p:nvSpPr>
            <p:cNvPr id="49" name="Cube 48">
              <a:extLst>
                <a:ext uri="{FF2B5EF4-FFF2-40B4-BE49-F238E27FC236}">
                  <a16:creationId xmlns:a16="http://schemas.microsoft.com/office/drawing/2014/main" id="{950C31CB-6E0E-4DE2-CFEA-CCF9E1BF8640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0" name="Cube 49">
              <a:extLst>
                <a:ext uri="{FF2B5EF4-FFF2-40B4-BE49-F238E27FC236}">
                  <a16:creationId xmlns:a16="http://schemas.microsoft.com/office/drawing/2014/main" id="{511F63E3-30C7-FB33-88CD-3B69FE9465FE}"/>
                </a:ext>
              </a:extLst>
            </p:cNvPr>
            <p:cNvSpPr/>
            <p:nvPr/>
          </p:nvSpPr>
          <p:spPr>
            <a:xfrm>
              <a:off x="8543607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F5B996E-5F75-0F58-AFFA-D8406521910B}"/>
                </a:ext>
              </a:extLst>
            </p:cNvPr>
            <p:cNvSpPr txBox="1"/>
            <p:nvPr/>
          </p:nvSpPr>
          <p:spPr>
            <a:xfrm>
              <a:off x="3496953" y="2824971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9334491-36B8-7102-60CE-C96CFFB76953}"/>
                </a:ext>
              </a:extLst>
            </p:cNvPr>
            <p:cNvSpPr txBox="1"/>
            <p:nvPr/>
          </p:nvSpPr>
          <p:spPr>
            <a:xfrm>
              <a:off x="8543607" y="3244333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62C02AF3-5382-0C82-6ECA-A6D3A9506749}"/>
                </a:ext>
              </a:extLst>
            </p:cNvPr>
            <p:cNvSpPr txBox="1"/>
            <p:nvPr/>
          </p:nvSpPr>
          <p:spPr>
            <a:xfrm>
              <a:off x="3907420" y="294699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4F0E0508-3F7D-1867-27DD-7A68D8495EFB}"/>
                </a:ext>
              </a:extLst>
            </p:cNvPr>
            <p:cNvSpPr txBox="1"/>
            <p:nvPr/>
          </p:nvSpPr>
          <p:spPr>
            <a:xfrm>
              <a:off x="3907420" y="505493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A65934EB-BA1F-B79F-3C8A-EC4DBB6FE58F}"/>
                </a:ext>
              </a:extLst>
            </p:cNvPr>
            <p:cNvSpPr txBox="1"/>
            <p:nvPr/>
          </p:nvSpPr>
          <p:spPr>
            <a:xfrm>
              <a:off x="4476698" y="299100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-4.5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96EF84BA-46F1-830D-E676-FFACEB2D89C9}"/>
                </a:ext>
              </a:extLst>
            </p:cNvPr>
            <p:cNvSpPr txBox="1"/>
            <p:nvPr/>
          </p:nvSpPr>
          <p:spPr>
            <a:xfrm>
              <a:off x="4518676" y="4179121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-6.1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930744F3-A06C-8022-8E14-7FF1AAAEEE60}"/>
                </a:ext>
              </a:extLst>
            </p:cNvPr>
            <p:cNvSpPr txBox="1"/>
            <p:nvPr/>
          </p:nvSpPr>
          <p:spPr>
            <a:xfrm>
              <a:off x="5080957" y="282634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0D1B2BB1-BD62-FBF1-4B87-B44780C9AF9A}"/>
                </a:ext>
              </a:extLst>
            </p:cNvPr>
            <p:cNvSpPr txBox="1"/>
            <p:nvPr/>
          </p:nvSpPr>
          <p:spPr>
            <a:xfrm>
              <a:off x="5097754" y="387441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081EB628-6AA4-77DB-2AB3-D0B65836B17B}"/>
                </a:ext>
              </a:extLst>
            </p:cNvPr>
            <p:cNvSpPr txBox="1"/>
            <p:nvPr/>
          </p:nvSpPr>
          <p:spPr>
            <a:xfrm>
              <a:off x="5655347" y="2373224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E4DBA59-13F8-EB95-57AB-64EB441FFDB7}"/>
                </a:ext>
              </a:extLst>
            </p:cNvPr>
            <p:cNvSpPr txBox="1"/>
            <p:nvPr/>
          </p:nvSpPr>
          <p:spPr>
            <a:xfrm>
              <a:off x="7977205" y="2571762"/>
              <a:ext cx="5664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4D82CB46-30D5-5F1C-6510-82C01155E372}"/>
                </a:ext>
              </a:extLst>
            </p:cNvPr>
            <p:cNvSpPr txBox="1"/>
            <p:nvPr/>
          </p:nvSpPr>
          <p:spPr>
            <a:xfrm>
              <a:off x="6252766" y="305042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5047C5AA-D161-C24B-2EE1-6AB1FFDDDD79}"/>
                </a:ext>
              </a:extLst>
            </p:cNvPr>
            <p:cNvSpPr txBox="1"/>
            <p:nvPr/>
          </p:nvSpPr>
          <p:spPr>
            <a:xfrm>
              <a:off x="6262926" y="5213113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100" name="TextBox 99">
              <a:extLst>
                <a:ext uri="{FF2B5EF4-FFF2-40B4-BE49-F238E27FC236}">
                  <a16:creationId xmlns:a16="http://schemas.microsoft.com/office/drawing/2014/main" id="{3904E972-AC6F-4F4D-C0FC-0CAE90D28CFF}"/>
                </a:ext>
              </a:extLst>
            </p:cNvPr>
            <p:cNvSpPr txBox="1"/>
            <p:nvPr/>
          </p:nvSpPr>
          <p:spPr>
            <a:xfrm>
              <a:off x="6818852" y="5206468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078EE5BB-7E7D-19C0-5C6D-2B925EF11CE2}"/>
                </a:ext>
              </a:extLst>
            </p:cNvPr>
            <p:cNvSpPr txBox="1"/>
            <p:nvPr/>
          </p:nvSpPr>
          <p:spPr>
            <a:xfrm>
              <a:off x="6842405" y="3062818"/>
              <a:ext cx="7195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53717BBE-E28F-4FA3-6F7D-128883FB6647}"/>
                </a:ext>
              </a:extLst>
            </p:cNvPr>
            <p:cNvSpPr txBox="1"/>
            <p:nvPr/>
          </p:nvSpPr>
          <p:spPr>
            <a:xfrm>
              <a:off x="7381446" y="2847990"/>
              <a:ext cx="6208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36B40224-2BE4-31C6-283A-075C1DBA9F8C}"/>
                </a:ext>
              </a:extLst>
            </p:cNvPr>
            <p:cNvSpPr txBox="1"/>
            <p:nvPr/>
          </p:nvSpPr>
          <p:spPr>
            <a:xfrm>
              <a:off x="7419562" y="4463278"/>
              <a:ext cx="7518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F0EEE26E-A2D6-1713-6473-D247C0A78F56}"/>
                </a:ext>
              </a:extLst>
            </p:cNvPr>
            <p:cNvSpPr txBox="1"/>
            <p:nvPr/>
          </p:nvSpPr>
          <p:spPr>
            <a:xfrm>
              <a:off x="8002339" y="4027012"/>
              <a:ext cx="7813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0A848583-2DD3-C2F6-EE48-4E22F2013207}"/>
                </a:ext>
              </a:extLst>
            </p:cNvPr>
            <p:cNvSpPr txBox="1"/>
            <p:nvPr/>
          </p:nvSpPr>
          <p:spPr>
            <a:xfrm>
              <a:off x="5647465" y="3795744"/>
              <a:ext cx="79112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219862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9163E1BC-724D-BC6C-4497-B7C6389DC606}"/>
              </a:ext>
            </a:extLst>
          </p:cNvPr>
          <p:cNvGrpSpPr/>
          <p:nvPr/>
        </p:nvGrpSpPr>
        <p:grpSpPr>
          <a:xfrm>
            <a:off x="2493817" y="-2468826"/>
            <a:ext cx="14360442" cy="8652805"/>
            <a:chOff x="2493817" y="-2468826"/>
            <a:chExt cx="14360442" cy="8652805"/>
          </a:xfrm>
        </p:grpSpPr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3D67A97C-27CE-ADAC-3E29-0657919E8805}"/>
                </a:ext>
              </a:extLst>
            </p:cNvPr>
            <p:cNvGrpSpPr/>
            <p:nvPr/>
          </p:nvGrpSpPr>
          <p:grpSpPr>
            <a:xfrm>
              <a:off x="2493817" y="-2468826"/>
              <a:ext cx="7206095" cy="8652805"/>
              <a:chOff x="2493817" y="-2468826"/>
              <a:chExt cx="7206095" cy="8652805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C45AD528-926E-DE93-19EB-9B534D15DF4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3817" y="665374"/>
                <a:ext cx="7206095" cy="5518605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6FBB35F-539C-31A9-21F4-CBA5F37E89E6}"/>
                  </a:ext>
                </a:extLst>
              </p:cNvPr>
              <p:cNvSpPr/>
              <p:nvPr/>
            </p:nvSpPr>
            <p:spPr>
              <a:xfrm>
                <a:off x="3960776" y="3230284"/>
                <a:ext cx="504544" cy="189656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8C8122A-C308-02AB-9A8E-171CFC29B717}"/>
                  </a:ext>
                </a:extLst>
              </p:cNvPr>
              <p:cNvSpPr txBox="1"/>
              <p:nvPr/>
            </p:nvSpPr>
            <p:spPr>
              <a:xfrm rot="16200000">
                <a:off x="3788454" y="3983885"/>
                <a:ext cx="843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FTO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5CF8C4AA-F20E-45F7-FD71-0BA153F234C4}"/>
                  </a:ext>
                </a:extLst>
              </p:cNvPr>
              <p:cNvSpPr/>
              <p:nvPr/>
            </p:nvSpPr>
            <p:spPr>
              <a:xfrm>
                <a:off x="4545783" y="3295650"/>
                <a:ext cx="504544" cy="96393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9578F21-266C-8260-86A3-7F1B8277D8E9}"/>
                  </a:ext>
                </a:extLst>
              </p:cNvPr>
              <p:cNvSpPr txBox="1"/>
              <p:nvPr/>
            </p:nvSpPr>
            <p:spPr>
              <a:xfrm rot="16200000">
                <a:off x="1753103" y="1089398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Cs₂TiBr₆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B087D58C-23E0-0E40-7D3F-4A3924B03607}"/>
                  </a:ext>
                </a:extLst>
              </p:cNvPr>
              <p:cNvSpPr/>
              <p:nvPr/>
            </p:nvSpPr>
            <p:spPr>
              <a:xfrm>
                <a:off x="5130790" y="3131929"/>
                <a:ext cx="504544" cy="8305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35FE1C-2769-2188-EF90-93213B9BD2D3}"/>
                  </a:ext>
                </a:extLst>
              </p:cNvPr>
              <p:cNvSpPr txBox="1"/>
              <p:nvPr/>
            </p:nvSpPr>
            <p:spPr>
              <a:xfrm rot="16200000">
                <a:off x="2334004" y="775022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MASnI₃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00B93944-FDDF-BEA8-7F31-FE897F5E3208}"/>
                  </a:ext>
                </a:extLst>
              </p:cNvPr>
              <p:cNvSpPr/>
              <p:nvPr/>
            </p:nvSpPr>
            <p:spPr>
              <a:xfrm>
                <a:off x="5715797" y="2674620"/>
                <a:ext cx="504544" cy="120777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B6AE5C50-3AB5-865B-9238-3D2A56A420A7}"/>
                  </a:ext>
                </a:extLst>
              </p:cNvPr>
              <p:cNvSpPr txBox="1"/>
              <p:nvPr/>
            </p:nvSpPr>
            <p:spPr>
              <a:xfrm rot="16200000">
                <a:off x="2887716" y="534662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Cs₃Bi₂I₉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BEEB81E-6B70-9FC8-FFEE-8D8D472FA359}"/>
                  </a:ext>
                </a:extLst>
              </p:cNvPr>
              <p:cNvSpPr/>
              <p:nvPr/>
            </p:nvSpPr>
            <p:spPr>
              <a:xfrm>
                <a:off x="6297761" y="3364992"/>
                <a:ext cx="504544" cy="193852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7228CEDF-F925-8FB5-3E6B-672D2F52E9FE}"/>
                  </a:ext>
                </a:extLst>
              </p:cNvPr>
              <p:cNvSpPr txBox="1"/>
              <p:nvPr/>
            </p:nvSpPr>
            <p:spPr>
              <a:xfrm rot="16200000">
                <a:off x="3504226" y="1636016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ZnO:Al 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3B7B4CFA-EF54-EAFB-840D-51520218DB40}"/>
                  </a:ext>
                </a:extLst>
              </p:cNvPr>
              <p:cNvSpPr/>
              <p:nvPr/>
            </p:nvSpPr>
            <p:spPr>
              <a:xfrm>
                <a:off x="6879803" y="3364992"/>
                <a:ext cx="504544" cy="19385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5C4CC151-4C9D-1B9D-1439-02812B416C8A}"/>
                  </a:ext>
                </a:extLst>
              </p:cNvPr>
              <p:cNvSpPr txBox="1"/>
              <p:nvPr/>
            </p:nvSpPr>
            <p:spPr>
              <a:xfrm rot="16200000">
                <a:off x="4086188" y="1527119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AA5F781E-2460-928D-930D-D406C8121727}"/>
                  </a:ext>
                </a:extLst>
              </p:cNvPr>
              <p:cNvSpPr/>
              <p:nvPr/>
            </p:nvSpPr>
            <p:spPr>
              <a:xfrm>
                <a:off x="7461142" y="3139440"/>
                <a:ext cx="504544" cy="142036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99C47DA7-1E1B-E70B-DD6A-0C319EF960F2}"/>
                  </a:ext>
                </a:extLst>
              </p:cNvPr>
              <p:cNvSpPr txBox="1"/>
              <p:nvPr/>
            </p:nvSpPr>
            <p:spPr>
              <a:xfrm rot="16200000">
                <a:off x="4658919" y="970859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 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BE7995C-AC5E-8072-007B-83845110D959}"/>
                  </a:ext>
                </a:extLst>
              </p:cNvPr>
              <p:cNvSpPr/>
              <p:nvPr/>
            </p:nvSpPr>
            <p:spPr>
              <a:xfrm>
                <a:off x="8042481" y="2881884"/>
                <a:ext cx="504544" cy="120777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2625E3F-CAAD-E730-D267-C6C4CC72C3F0}"/>
                  </a:ext>
                </a:extLst>
              </p:cNvPr>
              <p:cNvSpPr txBox="1"/>
              <p:nvPr/>
            </p:nvSpPr>
            <p:spPr>
              <a:xfrm rot="16200000">
                <a:off x="5236229" y="809744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CZTSSe </a:t>
                </a:r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727A542D-0DBA-74BF-F85D-DF797ECCC0A5}"/>
                  </a:ext>
                </a:extLst>
              </p:cNvPr>
              <p:cNvSpPr/>
              <p:nvPr/>
            </p:nvSpPr>
            <p:spPr>
              <a:xfrm>
                <a:off x="8634746" y="2573890"/>
                <a:ext cx="504544" cy="1296925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solidFill>
                  <a:schemeClr val="accent3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45984842-EC2C-9E9D-CC1D-F25B6D812E1C}"/>
                  </a:ext>
                </a:extLst>
              </p:cNvPr>
              <p:cNvSpPr txBox="1"/>
              <p:nvPr/>
            </p:nvSpPr>
            <p:spPr>
              <a:xfrm rot="16200000">
                <a:off x="5845456" y="399330"/>
                <a:ext cx="6105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Cu₂O</a:t>
                </a:r>
              </a:p>
            </p:txBody>
          </p:sp>
        </p:grp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DCA05C3E-4FA8-FF34-FE7C-3BF7403B5292}"/>
                </a:ext>
              </a:extLst>
            </p:cNvPr>
            <p:cNvSpPr txBox="1"/>
            <p:nvPr/>
          </p:nvSpPr>
          <p:spPr>
            <a:xfrm>
              <a:off x="3930570" y="2922524"/>
              <a:ext cx="63312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  <p:sp>
          <p:nvSpPr>
            <p:cNvPr id="39" name="Cube 38">
              <a:extLst>
                <a:ext uri="{FF2B5EF4-FFF2-40B4-BE49-F238E27FC236}">
                  <a16:creationId xmlns:a16="http://schemas.microsoft.com/office/drawing/2014/main" id="{13B833AB-3A5B-527D-6BAD-B306F43D89CD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42B7F645-95DE-ADE0-B09A-8783B8A2F973}"/>
                </a:ext>
              </a:extLst>
            </p:cNvPr>
            <p:cNvSpPr txBox="1"/>
            <p:nvPr/>
          </p:nvSpPr>
          <p:spPr>
            <a:xfrm>
              <a:off x="3496953" y="2824971"/>
              <a:ext cx="42741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59E6C0D2-87E1-8E75-4533-B0E6EB228C41}"/>
                </a:ext>
              </a:extLst>
            </p:cNvPr>
            <p:cNvSpPr txBox="1"/>
            <p:nvPr/>
          </p:nvSpPr>
          <p:spPr>
            <a:xfrm>
              <a:off x="3907420" y="505493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55657F1C-DB6A-1838-C383-45B8EA5A5B90}"/>
                </a:ext>
              </a:extLst>
            </p:cNvPr>
            <p:cNvSpPr txBox="1"/>
            <p:nvPr/>
          </p:nvSpPr>
          <p:spPr>
            <a:xfrm>
              <a:off x="4518676" y="4179121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-6.1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D5107C27-28A5-BDA4-31D7-0BD29BC83F58}"/>
                </a:ext>
              </a:extLst>
            </p:cNvPr>
            <p:cNvSpPr txBox="1"/>
            <p:nvPr/>
          </p:nvSpPr>
          <p:spPr>
            <a:xfrm>
              <a:off x="5086980" y="3871769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8AE1DF5-F103-2786-4741-24DEA53ACF1D}"/>
                </a:ext>
              </a:extLst>
            </p:cNvPr>
            <p:cNvSpPr txBox="1"/>
            <p:nvPr/>
          </p:nvSpPr>
          <p:spPr>
            <a:xfrm>
              <a:off x="7977205" y="2571762"/>
              <a:ext cx="5664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86F1909-4953-E9FE-2409-5CAAE7380604}"/>
                </a:ext>
              </a:extLst>
            </p:cNvPr>
            <p:cNvSpPr txBox="1"/>
            <p:nvPr/>
          </p:nvSpPr>
          <p:spPr>
            <a:xfrm>
              <a:off x="6252766" y="305042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48635880-0D51-E240-39E2-1DA3B26D9330}"/>
                </a:ext>
              </a:extLst>
            </p:cNvPr>
            <p:cNvSpPr/>
            <p:nvPr/>
          </p:nvSpPr>
          <p:spPr>
            <a:xfrm>
              <a:off x="9145496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F412A591-2B60-AE67-E1AE-A4E1D4180850}"/>
                </a:ext>
              </a:extLst>
            </p:cNvPr>
            <p:cNvSpPr txBox="1"/>
            <p:nvPr/>
          </p:nvSpPr>
          <p:spPr>
            <a:xfrm>
              <a:off x="9157061" y="3267483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CF958DE-F566-7572-20B6-1C3630975841}"/>
                </a:ext>
              </a:extLst>
            </p:cNvPr>
            <p:cNvSpPr txBox="1"/>
            <p:nvPr/>
          </p:nvSpPr>
          <p:spPr>
            <a:xfrm>
              <a:off x="4476698" y="299100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-4.5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E2373BBA-E3F3-1948-FC9C-C6206BC6B561}"/>
                </a:ext>
              </a:extLst>
            </p:cNvPr>
            <p:cNvSpPr txBox="1"/>
            <p:nvPr/>
          </p:nvSpPr>
          <p:spPr>
            <a:xfrm>
              <a:off x="5080957" y="280602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CEA048F6-2CDC-CB7D-806C-287ABFBF89A9}"/>
                </a:ext>
              </a:extLst>
            </p:cNvPr>
            <p:cNvSpPr txBox="1"/>
            <p:nvPr/>
          </p:nvSpPr>
          <p:spPr>
            <a:xfrm>
              <a:off x="6262926" y="5213113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9095F810-B167-BEB8-9D39-0C0F5E572E2C}"/>
                </a:ext>
              </a:extLst>
            </p:cNvPr>
            <p:cNvSpPr txBox="1"/>
            <p:nvPr/>
          </p:nvSpPr>
          <p:spPr>
            <a:xfrm>
              <a:off x="6818852" y="5216628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DBF0CB6E-1EF6-176E-E97F-73380AE02E8A}"/>
                </a:ext>
              </a:extLst>
            </p:cNvPr>
            <p:cNvSpPr txBox="1"/>
            <p:nvPr/>
          </p:nvSpPr>
          <p:spPr>
            <a:xfrm>
              <a:off x="7419562" y="4473438"/>
              <a:ext cx="7518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41DC8D2-DCD5-D809-27C8-89917F24F314}"/>
                </a:ext>
              </a:extLst>
            </p:cNvPr>
            <p:cNvSpPr txBox="1"/>
            <p:nvPr/>
          </p:nvSpPr>
          <p:spPr>
            <a:xfrm>
              <a:off x="8002339" y="4027012"/>
              <a:ext cx="7813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4F4D0820-447D-0D1E-CA63-F8F0BB239DE8}"/>
                </a:ext>
              </a:extLst>
            </p:cNvPr>
            <p:cNvSpPr txBox="1"/>
            <p:nvPr/>
          </p:nvSpPr>
          <p:spPr>
            <a:xfrm>
              <a:off x="6252766" y="305042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1FED63D5-500F-EFDA-C2D6-7D337048828D}"/>
                </a:ext>
              </a:extLst>
            </p:cNvPr>
            <p:cNvSpPr txBox="1"/>
            <p:nvPr/>
          </p:nvSpPr>
          <p:spPr>
            <a:xfrm>
              <a:off x="6842405" y="3052658"/>
              <a:ext cx="7195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82615C7C-BBF2-DECE-8CE5-DCEADFABD54F}"/>
                </a:ext>
              </a:extLst>
            </p:cNvPr>
            <p:cNvSpPr txBox="1"/>
            <p:nvPr/>
          </p:nvSpPr>
          <p:spPr>
            <a:xfrm>
              <a:off x="7381446" y="2837830"/>
              <a:ext cx="6208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FDA9B9A2-FC81-9B1C-D241-F8EC6763A938}"/>
                </a:ext>
              </a:extLst>
            </p:cNvPr>
            <p:cNvSpPr txBox="1"/>
            <p:nvPr/>
          </p:nvSpPr>
          <p:spPr>
            <a:xfrm>
              <a:off x="5647465" y="3805904"/>
              <a:ext cx="79112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39400C46-73A5-EDEC-730F-2AF83092D2AD}"/>
                </a:ext>
              </a:extLst>
            </p:cNvPr>
            <p:cNvSpPr txBox="1"/>
            <p:nvPr/>
          </p:nvSpPr>
          <p:spPr>
            <a:xfrm>
              <a:off x="5655347" y="2373224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C7C183CE-0A2F-F0E2-110F-917333A17A6E}"/>
                </a:ext>
              </a:extLst>
            </p:cNvPr>
            <p:cNvSpPr txBox="1"/>
            <p:nvPr/>
          </p:nvSpPr>
          <p:spPr>
            <a:xfrm>
              <a:off x="8575263" y="2252494"/>
              <a:ext cx="79112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-3.2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40D1D1F-B824-049F-3BE4-6FE1029A5191}"/>
                </a:ext>
              </a:extLst>
            </p:cNvPr>
            <p:cNvSpPr txBox="1"/>
            <p:nvPr/>
          </p:nvSpPr>
          <p:spPr>
            <a:xfrm>
              <a:off x="8520487" y="3849228"/>
              <a:ext cx="83337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31749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" name="Group 106">
            <a:extLst>
              <a:ext uri="{FF2B5EF4-FFF2-40B4-BE49-F238E27FC236}">
                <a16:creationId xmlns:a16="http://schemas.microsoft.com/office/drawing/2014/main" id="{BA7BA20C-9866-D1DD-F120-D73836E1D044}"/>
              </a:ext>
            </a:extLst>
          </p:cNvPr>
          <p:cNvGrpSpPr/>
          <p:nvPr/>
        </p:nvGrpSpPr>
        <p:grpSpPr>
          <a:xfrm>
            <a:off x="2493818" y="-2468826"/>
            <a:ext cx="14417474" cy="8651417"/>
            <a:chOff x="2493818" y="-2468826"/>
            <a:chExt cx="14417474" cy="865141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7416BE3-18B8-6E99-6067-0659A6896B7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818" y="665374"/>
              <a:ext cx="7206095" cy="5517217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D51AD08-9F10-E5E9-C947-E5570CA42A18}"/>
                </a:ext>
              </a:extLst>
            </p:cNvPr>
            <p:cNvSpPr/>
            <p:nvPr/>
          </p:nvSpPr>
          <p:spPr>
            <a:xfrm>
              <a:off x="3960776" y="3249784"/>
              <a:ext cx="504544" cy="186690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ctr"/>
              <a:endParaRPr 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2A825A9-44D1-236C-4ACE-9B98709FB7DD}"/>
                </a:ext>
              </a:extLst>
            </p:cNvPr>
            <p:cNvSpPr txBox="1"/>
            <p:nvPr/>
          </p:nvSpPr>
          <p:spPr>
            <a:xfrm rot="16200000">
              <a:off x="3788454" y="3983885"/>
              <a:ext cx="8439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FTO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47C4202-6E79-9F9F-CEA1-48D41D2DF963}"/>
                </a:ext>
              </a:extLst>
            </p:cNvPr>
            <p:cNvSpPr/>
            <p:nvPr/>
          </p:nvSpPr>
          <p:spPr>
            <a:xfrm>
              <a:off x="5130790" y="3121769"/>
              <a:ext cx="504544" cy="8305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DC08CF4-0B3B-CB9C-49AA-0908568C671C}"/>
                </a:ext>
              </a:extLst>
            </p:cNvPr>
            <p:cNvSpPr txBox="1"/>
            <p:nvPr/>
          </p:nvSpPr>
          <p:spPr>
            <a:xfrm rot="16200000">
              <a:off x="2345577" y="809744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6B84669-4710-31DC-7035-4321C09662CE}"/>
                </a:ext>
              </a:extLst>
            </p:cNvPr>
            <p:cNvSpPr/>
            <p:nvPr/>
          </p:nvSpPr>
          <p:spPr>
            <a:xfrm>
              <a:off x="5715797" y="2674620"/>
              <a:ext cx="504544" cy="120777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5FBED37-671D-97ED-5866-343CC12207D2}"/>
                </a:ext>
              </a:extLst>
            </p:cNvPr>
            <p:cNvSpPr txBox="1"/>
            <p:nvPr/>
          </p:nvSpPr>
          <p:spPr>
            <a:xfrm rot="16200000">
              <a:off x="2887716" y="534662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DF5B8D5-9F09-0F03-5431-21B973E43810}"/>
                </a:ext>
              </a:extLst>
            </p:cNvPr>
            <p:cNvSpPr/>
            <p:nvPr/>
          </p:nvSpPr>
          <p:spPr>
            <a:xfrm>
              <a:off x="6297761" y="3364992"/>
              <a:ext cx="504544" cy="19385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AB5E1FF-22A5-B756-4DE1-976C8D98CE87}"/>
                </a:ext>
              </a:extLst>
            </p:cNvPr>
            <p:cNvSpPr txBox="1"/>
            <p:nvPr/>
          </p:nvSpPr>
          <p:spPr>
            <a:xfrm rot="16200000">
              <a:off x="3504226" y="1636016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 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42EDED8-36DC-C4FA-184E-8BBC2F0E9648}"/>
                </a:ext>
              </a:extLst>
            </p:cNvPr>
            <p:cNvSpPr/>
            <p:nvPr/>
          </p:nvSpPr>
          <p:spPr>
            <a:xfrm>
              <a:off x="6879803" y="3364992"/>
              <a:ext cx="504544" cy="193852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4E465F80-6368-C5F7-FE8E-0708AD3B4A6D}"/>
                </a:ext>
              </a:extLst>
            </p:cNvPr>
            <p:cNvSpPr txBox="1"/>
            <p:nvPr/>
          </p:nvSpPr>
          <p:spPr>
            <a:xfrm rot="16200000">
              <a:off x="4086188" y="1527119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09D5D65-AAFA-0EC1-DF6C-B1FF6C9FAB29}"/>
                </a:ext>
              </a:extLst>
            </p:cNvPr>
            <p:cNvSpPr/>
            <p:nvPr/>
          </p:nvSpPr>
          <p:spPr>
            <a:xfrm>
              <a:off x="7461142" y="3139440"/>
              <a:ext cx="504544" cy="142036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B8195972-0EF8-62E7-A135-A08AA351319C}"/>
                </a:ext>
              </a:extLst>
            </p:cNvPr>
            <p:cNvSpPr txBox="1"/>
            <p:nvPr/>
          </p:nvSpPr>
          <p:spPr>
            <a:xfrm rot="16200000">
              <a:off x="4658919" y="970859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 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923F442F-901A-4378-2847-CE382D620137}"/>
                </a:ext>
              </a:extLst>
            </p:cNvPr>
            <p:cNvSpPr/>
            <p:nvPr/>
          </p:nvSpPr>
          <p:spPr>
            <a:xfrm>
              <a:off x="8042481" y="2881884"/>
              <a:ext cx="504544" cy="1207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D91837C5-D48F-1E03-944D-A80C5F852F4C}"/>
                </a:ext>
              </a:extLst>
            </p:cNvPr>
            <p:cNvGrpSpPr/>
            <p:nvPr/>
          </p:nvGrpSpPr>
          <p:grpSpPr>
            <a:xfrm>
              <a:off x="3960776" y="-2333244"/>
              <a:ext cx="4512691" cy="7636764"/>
              <a:chOff x="3960776" y="-2333244"/>
              <a:chExt cx="4512691" cy="7636764"/>
            </a:xfrm>
          </p:grpSpPr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42E1B5C-E88E-B37D-C136-AFABC92CAAE3}"/>
                  </a:ext>
                </a:extLst>
              </p:cNvPr>
              <p:cNvSpPr/>
              <p:nvPr/>
            </p:nvSpPr>
            <p:spPr>
              <a:xfrm>
                <a:off x="3960776" y="3261359"/>
                <a:ext cx="504544" cy="186690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30" name="Rectangle 29">
                <a:extLst>
                  <a:ext uri="{FF2B5EF4-FFF2-40B4-BE49-F238E27FC236}">
                    <a16:creationId xmlns:a16="http://schemas.microsoft.com/office/drawing/2014/main" id="{121C28FE-C00F-88A4-A788-A11E82F8D7C3}"/>
                  </a:ext>
                </a:extLst>
              </p:cNvPr>
              <p:cNvSpPr/>
              <p:nvPr/>
            </p:nvSpPr>
            <p:spPr>
              <a:xfrm>
                <a:off x="4545783" y="3295650"/>
                <a:ext cx="504544" cy="963930"/>
              </a:xfrm>
              <a:prstGeom prst="rect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C45F6C8-8D3B-082F-DC32-B29711290158}"/>
                  </a:ext>
                </a:extLst>
              </p:cNvPr>
              <p:cNvSpPr/>
              <p:nvPr/>
            </p:nvSpPr>
            <p:spPr>
              <a:xfrm>
                <a:off x="5130790" y="3133344"/>
                <a:ext cx="504544" cy="830580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294CF97-DA6D-6776-896D-28E9BA2FCBE9}"/>
                  </a:ext>
                </a:extLst>
              </p:cNvPr>
              <p:cNvSpPr/>
              <p:nvPr/>
            </p:nvSpPr>
            <p:spPr>
              <a:xfrm>
                <a:off x="5715797" y="2674620"/>
                <a:ext cx="504544" cy="120777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3337A793-ED3B-2D84-CDD0-0EC79D691AF2}"/>
                  </a:ext>
                </a:extLst>
              </p:cNvPr>
              <p:cNvSpPr/>
              <p:nvPr/>
            </p:nvSpPr>
            <p:spPr>
              <a:xfrm>
                <a:off x="6297761" y="3364992"/>
                <a:ext cx="504544" cy="193852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 33">
                <a:extLst>
                  <a:ext uri="{FF2B5EF4-FFF2-40B4-BE49-F238E27FC236}">
                    <a16:creationId xmlns:a16="http://schemas.microsoft.com/office/drawing/2014/main" id="{E30AF57F-1AA8-D97F-49FE-CD4EAC249B91}"/>
                  </a:ext>
                </a:extLst>
              </p:cNvPr>
              <p:cNvSpPr/>
              <p:nvPr/>
            </p:nvSpPr>
            <p:spPr>
              <a:xfrm>
                <a:off x="6879803" y="3364992"/>
                <a:ext cx="504544" cy="19385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 34">
                <a:extLst>
                  <a:ext uri="{FF2B5EF4-FFF2-40B4-BE49-F238E27FC236}">
                    <a16:creationId xmlns:a16="http://schemas.microsoft.com/office/drawing/2014/main" id="{3263C28F-DCA5-79D1-D509-1E501F789481}"/>
                  </a:ext>
                </a:extLst>
              </p:cNvPr>
              <p:cNvSpPr/>
              <p:nvPr/>
            </p:nvSpPr>
            <p:spPr>
              <a:xfrm>
                <a:off x="7461142" y="3139440"/>
                <a:ext cx="504544" cy="142036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A561037-F3F7-630B-5F44-19AEBD8F28FC}"/>
                  </a:ext>
                </a:extLst>
              </p:cNvPr>
              <p:cNvSpPr txBox="1"/>
              <p:nvPr/>
            </p:nvSpPr>
            <p:spPr>
              <a:xfrm rot="16200000">
                <a:off x="3788454" y="3983885"/>
                <a:ext cx="843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FTO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1146286A-79D3-74D8-D8BB-4C3CAD1209F3}"/>
                  </a:ext>
                </a:extLst>
              </p:cNvPr>
              <p:cNvSpPr txBox="1"/>
              <p:nvPr/>
            </p:nvSpPr>
            <p:spPr>
              <a:xfrm rot="16200000">
                <a:off x="1753103" y="1089398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Cs₂TiBr₆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17877364-F388-CBEB-34D5-B5F7EF5EC34A}"/>
                  </a:ext>
                </a:extLst>
              </p:cNvPr>
              <p:cNvSpPr txBox="1"/>
              <p:nvPr/>
            </p:nvSpPr>
            <p:spPr>
              <a:xfrm rot="16200000">
                <a:off x="2345577" y="809744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MASnI₃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689360F-9D9E-B8DA-CD71-99BC1CCE3245}"/>
                  </a:ext>
                </a:extLst>
              </p:cNvPr>
              <p:cNvSpPr txBox="1"/>
              <p:nvPr/>
            </p:nvSpPr>
            <p:spPr>
              <a:xfrm rot="16200000">
                <a:off x="2887716" y="534662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Cs₃Bi₂I₉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52261E1C-12E1-A18E-7AA7-88D0E841A585}"/>
                  </a:ext>
                </a:extLst>
              </p:cNvPr>
              <p:cNvSpPr txBox="1"/>
              <p:nvPr/>
            </p:nvSpPr>
            <p:spPr>
              <a:xfrm rot="16200000">
                <a:off x="3504225" y="1636015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ZnO:Al 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404F9B8B-7E5A-B0BF-6511-820639094B9E}"/>
                  </a:ext>
                </a:extLst>
              </p:cNvPr>
              <p:cNvSpPr txBox="1"/>
              <p:nvPr/>
            </p:nvSpPr>
            <p:spPr>
              <a:xfrm rot="16200000">
                <a:off x="4086188" y="1527119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CF5CE9DB-318D-4E48-0A6B-C6F39615A203}"/>
                  </a:ext>
                </a:extLst>
              </p:cNvPr>
              <p:cNvSpPr txBox="1"/>
              <p:nvPr/>
            </p:nvSpPr>
            <p:spPr>
              <a:xfrm rot="16200000">
                <a:off x="4658919" y="970859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675A5813-63D5-047E-D95B-A37998D1889A}"/>
                  </a:ext>
                </a:extLst>
              </p:cNvPr>
              <p:cNvSpPr txBox="1"/>
              <p:nvPr/>
            </p:nvSpPr>
            <p:spPr>
              <a:xfrm rot="16200000">
                <a:off x="5236229" y="809744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CZTSSe </a:t>
                </a:r>
              </a:p>
            </p:txBody>
          </p:sp>
        </p:grp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84E980B5-C7F5-4F40-7080-5F8D0680CA98}"/>
                </a:ext>
              </a:extLst>
            </p:cNvPr>
            <p:cNvSpPr/>
            <p:nvPr/>
          </p:nvSpPr>
          <p:spPr>
            <a:xfrm>
              <a:off x="8634746" y="2410692"/>
              <a:ext cx="504544" cy="1460124"/>
            </a:xfrm>
            <a:prstGeom prst="rect">
              <a:avLst/>
            </a:prstGeom>
            <a:solidFill>
              <a:srgbClr val="FFC000"/>
            </a:solidFill>
            <a:ln>
              <a:solidFill>
                <a:srgbClr val="FFC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90B1720-175F-584A-84F5-66362D76DE18}"/>
                </a:ext>
              </a:extLst>
            </p:cNvPr>
            <p:cNvSpPr txBox="1"/>
            <p:nvPr/>
          </p:nvSpPr>
          <p:spPr>
            <a:xfrm rot="16200000">
              <a:off x="5845456" y="399330"/>
              <a:ext cx="61056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V₂O₅ </a:t>
              </a:r>
            </a:p>
          </p:txBody>
        </p:sp>
        <p:sp>
          <p:nvSpPr>
            <p:cNvPr id="46" name="Cube 45">
              <a:extLst>
                <a:ext uri="{FF2B5EF4-FFF2-40B4-BE49-F238E27FC236}">
                  <a16:creationId xmlns:a16="http://schemas.microsoft.com/office/drawing/2014/main" id="{D41C4B56-2770-8CE8-D31F-463C95AC8E51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BA32E289-639B-EF0D-ABEF-8C9DB374E7E9}"/>
                </a:ext>
              </a:extLst>
            </p:cNvPr>
            <p:cNvSpPr txBox="1"/>
            <p:nvPr/>
          </p:nvSpPr>
          <p:spPr>
            <a:xfrm>
              <a:off x="3496953" y="2824971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350CD70-9B08-2EE6-8729-FCBD0762D783}"/>
                </a:ext>
              </a:extLst>
            </p:cNvPr>
            <p:cNvSpPr txBox="1"/>
            <p:nvPr/>
          </p:nvSpPr>
          <p:spPr>
            <a:xfrm>
              <a:off x="3907420" y="505493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F424A630-CE82-78EC-4614-367E31653A69}"/>
                </a:ext>
              </a:extLst>
            </p:cNvPr>
            <p:cNvSpPr txBox="1"/>
            <p:nvPr/>
          </p:nvSpPr>
          <p:spPr>
            <a:xfrm>
              <a:off x="4518676" y="4179121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-6.1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F4A9B1E2-D5D9-90D1-6782-419EC176FC76}"/>
                </a:ext>
              </a:extLst>
            </p:cNvPr>
            <p:cNvSpPr txBox="1"/>
            <p:nvPr/>
          </p:nvSpPr>
          <p:spPr>
            <a:xfrm>
              <a:off x="5097754" y="388457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249DC0F-16FF-E363-BE56-43450549054E}"/>
                </a:ext>
              </a:extLst>
            </p:cNvPr>
            <p:cNvSpPr txBox="1"/>
            <p:nvPr/>
          </p:nvSpPr>
          <p:spPr>
            <a:xfrm>
              <a:off x="5655347" y="2373224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ACBFA67B-4D1E-044B-055E-09F642D6D4A8}"/>
                </a:ext>
              </a:extLst>
            </p:cNvPr>
            <p:cNvSpPr txBox="1"/>
            <p:nvPr/>
          </p:nvSpPr>
          <p:spPr>
            <a:xfrm>
              <a:off x="3496953" y="2824971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FA9154F7-D5E1-687D-BC8F-08DE7BE4E872}"/>
                </a:ext>
              </a:extLst>
            </p:cNvPr>
            <p:cNvSpPr txBox="1"/>
            <p:nvPr/>
          </p:nvSpPr>
          <p:spPr>
            <a:xfrm>
              <a:off x="3907420" y="505493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8BF36C75-5DFC-B227-AF0F-B1883C92E0FA}"/>
                </a:ext>
              </a:extLst>
            </p:cNvPr>
            <p:cNvSpPr txBox="1"/>
            <p:nvPr/>
          </p:nvSpPr>
          <p:spPr>
            <a:xfrm>
              <a:off x="4518676" y="4179121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-6.1</a:t>
              </a:r>
            </a:p>
          </p:txBody>
        </p:sp>
        <p:sp>
          <p:nvSpPr>
            <p:cNvPr id="87" name="TextBox 86">
              <a:extLst>
                <a:ext uri="{FF2B5EF4-FFF2-40B4-BE49-F238E27FC236}">
                  <a16:creationId xmlns:a16="http://schemas.microsoft.com/office/drawing/2014/main" id="{1ECD2EA1-2E02-08F1-BEDD-6E80D3E20D32}"/>
                </a:ext>
              </a:extLst>
            </p:cNvPr>
            <p:cNvSpPr txBox="1"/>
            <p:nvPr/>
          </p:nvSpPr>
          <p:spPr>
            <a:xfrm>
              <a:off x="9157061" y="3267483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AC59BB32-FFC9-9BFC-90F2-074F81B95A48}"/>
                </a:ext>
              </a:extLst>
            </p:cNvPr>
            <p:cNvSpPr txBox="1"/>
            <p:nvPr/>
          </p:nvSpPr>
          <p:spPr>
            <a:xfrm>
              <a:off x="4476698" y="299100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-4.5</a:t>
              </a:r>
            </a:p>
          </p:txBody>
        </p:sp>
        <p:sp>
          <p:nvSpPr>
            <p:cNvPr id="89" name="TextBox 88">
              <a:extLst>
                <a:ext uri="{FF2B5EF4-FFF2-40B4-BE49-F238E27FC236}">
                  <a16:creationId xmlns:a16="http://schemas.microsoft.com/office/drawing/2014/main" id="{AD346019-12A4-D228-D816-44A8B15CB1C1}"/>
                </a:ext>
              </a:extLst>
            </p:cNvPr>
            <p:cNvSpPr txBox="1"/>
            <p:nvPr/>
          </p:nvSpPr>
          <p:spPr>
            <a:xfrm>
              <a:off x="5080957" y="282634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90" name="TextBox 89">
              <a:extLst>
                <a:ext uri="{FF2B5EF4-FFF2-40B4-BE49-F238E27FC236}">
                  <a16:creationId xmlns:a16="http://schemas.microsoft.com/office/drawing/2014/main" id="{E5340284-57A9-DB60-C46E-BB17BD989EDF}"/>
                </a:ext>
              </a:extLst>
            </p:cNvPr>
            <p:cNvSpPr txBox="1"/>
            <p:nvPr/>
          </p:nvSpPr>
          <p:spPr>
            <a:xfrm>
              <a:off x="6262926" y="5213113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91" name="TextBox 90">
              <a:extLst>
                <a:ext uri="{FF2B5EF4-FFF2-40B4-BE49-F238E27FC236}">
                  <a16:creationId xmlns:a16="http://schemas.microsoft.com/office/drawing/2014/main" id="{91B23F53-C78A-B0D3-0590-DC186E544AE4}"/>
                </a:ext>
              </a:extLst>
            </p:cNvPr>
            <p:cNvSpPr txBox="1"/>
            <p:nvPr/>
          </p:nvSpPr>
          <p:spPr>
            <a:xfrm>
              <a:off x="6818852" y="5216628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92" name="TextBox 91">
              <a:extLst>
                <a:ext uri="{FF2B5EF4-FFF2-40B4-BE49-F238E27FC236}">
                  <a16:creationId xmlns:a16="http://schemas.microsoft.com/office/drawing/2014/main" id="{F6D3E6FF-C062-0807-C076-A635E9CBFB9F}"/>
                </a:ext>
              </a:extLst>
            </p:cNvPr>
            <p:cNvSpPr txBox="1"/>
            <p:nvPr/>
          </p:nvSpPr>
          <p:spPr>
            <a:xfrm>
              <a:off x="7419562" y="4473438"/>
              <a:ext cx="7518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52E3106B-BC5A-F47D-57D1-1FA8405158E0}"/>
                </a:ext>
              </a:extLst>
            </p:cNvPr>
            <p:cNvSpPr txBox="1"/>
            <p:nvPr/>
          </p:nvSpPr>
          <p:spPr>
            <a:xfrm>
              <a:off x="8002339" y="4027012"/>
              <a:ext cx="7813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D5126F6-5736-AD65-0ACA-E1383C06C514}"/>
                </a:ext>
              </a:extLst>
            </p:cNvPr>
            <p:cNvSpPr txBox="1"/>
            <p:nvPr/>
          </p:nvSpPr>
          <p:spPr>
            <a:xfrm>
              <a:off x="6252766" y="305042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2DE243F0-8E06-8111-4E33-90B6284F12EA}"/>
                </a:ext>
              </a:extLst>
            </p:cNvPr>
            <p:cNvSpPr txBox="1"/>
            <p:nvPr/>
          </p:nvSpPr>
          <p:spPr>
            <a:xfrm>
              <a:off x="6842405" y="3062818"/>
              <a:ext cx="7195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1715752E-01BE-7E09-DF7F-084D1BAB9333}"/>
                </a:ext>
              </a:extLst>
            </p:cNvPr>
            <p:cNvSpPr txBox="1"/>
            <p:nvPr/>
          </p:nvSpPr>
          <p:spPr>
            <a:xfrm>
              <a:off x="7381446" y="2837830"/>
              <a:ext cx="6208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97" name="TextBox 96">
              <a:extLst>
                <a:ext uri="{FF2B5EF4-FFF2-40B4-BE49-F238E27FC236}">
                  <a16:creationId xmlns:a16="http://schemas.microsoft.com/office/drawing/2014/main" id="{4FC46B44-1AD9-D201-F0F9-EEF09AE9CFB7}"/>
                </a:ext>
              </a:extLst>
            </p:cNvPr>
            <p:cNvSpPr txBox="1"/>
            <p:nvPr/>
          </p:nvSpPr>
          <p:spPr>
            <a:xfrm>
              <a:off x="5647465" y="3795744"/>
              <a:ext cx="79112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3B8882B1-30D1-A39A-A7C4-718D76FAD79B}"/>
                </a:ext>
              </a:extLst>
            </p:cNvPr>
            <p:cNvSpPr txBox="1"/>
            <p:nvPr/>
          </p:nvSpPr>
          <p:spPr>
            <a:xfrm>
              <a:off x="5655347" y="2373224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99" name="TextBox 98">
              <a:extLst>
                <a:ext uri="{FF2B5EF4-FFF2-40B4-BE49-F238E27FC236}">
                  <a16:creationId xmlns:a16="http://schemas.microsoft.com/office/drawing/2014/main" id="{8ED4B8D1-8E95-93EF-7AC5-EC7F2A2584FD}"/>
                </a:ext>
              </a:extLst>
            </p:cNvPr>
            <p:cNvSpPr txBox="1"/>
            <p:nvPr/>
          </p:nvSpPr>
          <p:spPr>
            <a:xfrm>
              <a:off x="8691008" y="2102027"/>
              <a:ext cx="7911296" cy="64633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</a:t>
              </a:r>
            </a:p>
            <a:p>
              <a:endParaRPr 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1" name="Cube 100">
              <a:extLst>
                <a:ext uri="{FF2B5EF4-FFF2-40B4-BE49-F238E27FC236}">
                  <a16:creationId xmlns:a16="http://schemas.microsoft.com/office/drawing/2014/main" id="{F3D0E20C-9DE8-6085-9F0A-CD725F074BDD}"/>
                </a:ext>
              </a:extLst>
            </p:cNvPr>
            <p:cNvSpPr/>
            <p:nvPr/>
          </p:nvSpPr>
          <p:spPr>
            <a:xfrm>
              <a:off x="9145496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67574D4-6177-D203-F7EB-034E6230AB0C}"/>
                </a:ext>
              </a:extLst>
            </p:cNvPr>
            <p:cNvSpPr txBox="1"/>
            <p:nvPr/>
          </p:nvSpPr>
          <p:spPr>
            <a:xfrm>
              <a:off x="7977205" y="2571762"/>
              <a:ext cx="5664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00ADA081-7FA7-985D-3258-79AE625F632D}"/>
                </a:ext>
              </a:extLst>
            </p:cNvPr>
            <p:cNvSpPr txBox="1"/>
            <p:nvPr/>
          </p:nvSpPr>
          <p:spPr>
            <a:xfrm>
              <a:off x="8600670" y="3802767"/>
              <a:ext cx="831062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  <p:sp>
          <p:nvSpPr>
            <p:cNvPr id="106" name="TextBox 105">
              <a:extLst>
                <a:ext uri="{FF2B5EF4-FFF2-40B4-BE49-F238E27FC236}">
                  <a16:creationId xmlns:a16="http://schemas.microsoft.com/office/drawing/2014/main" id="{6FAE3D7D-9A85-F831-52C1-2AF609566DE0}"/>
                </a:ext>
              </a:extLst>
            </p:cNvPr>
            <p:cNvSpPr txBox="1"/>
            <p:nvPr/>
          </p:nvSpPr>
          <p:spPr>
            <a:xfrm>
              <a:off x="3926999" y="2947723"/>
              <a:ext cx="606289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04872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301AF4C8-43E0-FDA6-1F0E-922CD43FD101}"/>
              </a:ext>
            </a:extLst>
          </p:cNvPr>
          <p:cNvGrpSpPr/>
          <p:nvPr/>
        </p:nvGrpSpPr>
        <p:grpSpPr>
          <a:xfrm>
            <a:off x="2493818" y="-2333244"/>
            <a:ext cx="12742821" cy="8515835"/>
            <a:chOff x="2493818" y="-2333244"/>
            <a:chExt cx="12742821" cy="851583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390105D-375D-9758-F2BB-012874ABEC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818" y="665374"/>
              <a:ext cx="7206096" cy="5517217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70BA5FE-058A-4C8B-2977-229638085953}"/>
                </a:ext>
              </a:extLst>
            </p:cNvPr>
            <p:cNvSpPr/>
            <p:nvPr/>
          </p:nvSpPr>
          <p:spPr>
            <a:xfrm>
              <a:off x="3960776" y="3230284"/>
              <a:ext cx="504544" cy="1906065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ctr"/>
              <a:endParaRPr 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9C8DF24-8732-FAB6-8BA9-7694746D0ECF}"/>
                </a:ext>
              </a:extLst>
            </p:cNvPr>
            <p:cNvSpPr/>
            <p:nvPr/>
          </p:nvSpPr>
          <p:spPr>
            <a:xfrm>
              <a:off x="4552051" y="3121769"/>
              <a:ext cx="504544" cy="873352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54CD7C6-7C06-BD23-4995-C65203C52793}"/>
                </a:ext>
              </a:extLst>
            </p:cNvPr>
            <p:cNvSpPr/>
            <p:nvPr/>
          </p:nvSpPr>
          <p:spPr>
            <a:xfrm>
              <a:off x="5125484" y="2674620"/>
              <a:ext cx="504544" cy="120777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4636D89-CACF-FD1A-58A3-3270C4BA6B9A}"/>
                </a:ext>
              </a:extLst>
            </p:cNvPr>
            <p:cNvSpPr/>
            <p:nvPr/>
          </p:nvSpPr>
          <p:spPr>
            <a:xfrm>
              <a:off x="5719022" y="3364992"/>
              <a:ext cx="504544" cy="19385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6D32334-EFF6-E6A0-5561-EF9B9CBC52A7}"/>
                </a:ext>
              </a:extLst>
            </p:cNvPr>
            <p:cNvSpPr/>
            <p:nvPr/>
          </p:nvSpPr>
          <p:spPr>
            <a:xfrm>
              <a:off x="6301063" y="3364992"/>
              <a:ext cx="504544" cy="193852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E37CB86-FE50-F48F-3344-6FE52E92A258}"/>
                </a:ext>
              </a:extLst>
            </p:cNvPr>
            <p:cNvSpPr txBox="1"/>
            <p:nvPr/>
          </p:nvSpPr>
          <p:spPr>
            <a:xfrm rot="16200000">
              <a:off x="2913913" y="1636015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 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BE8C172D-F81A-BE6B-B6CB-F41B51338FA0}"/>
                </a:ext>
              </a:extLst>
            </p:cNvPr>
            <p:cNvSpPr/>
            <p:nvPr/>
          </p:nvSpPr>
          <p:spPr>
            <a:xfrm>
              <a:off x="6882403" y="3139440"/>
              <a:ext cx="504544" cy="142036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8D95846-2E18-7292-568F-FC501779230A}"/>
                </a:ext>
              </a:extLst>
            </p:cNvPr>
            <p:cNvSpPr/>
            <p:nvPr/>
          </p:nvSpPr>
          <p:spPr>
            <a:xfrm>
              <a:off x="7463743" y="2881884"/>
              <a:ext cx="504544" cy="1207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Cube 18">
              <a:extLst>
                <a:ext uri="{FF2B5EF4-FFF2-40B4-BE49-F238E27FC236}">
                  <a16:creationId xmlns:a16="http://schemas.microsoft.com/office/drawing/2014/main" id="{578B5521-683A-D566-2B65-F94DEB73E70A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3EAFB1EA-CF04-37EF-6E05-6B71BAB282F9}"/>
                </a:ext>
              </a:extLst>
            </p:cNvPr>
            <p:cNvSpPr txBox="1"/>
            <p:nvPr/>
          </p:nvSpPr>
          <p:spPr>
            <a:xfrm>
              <a:off x="3496953" y="2824971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21" name="Cube 20">
              <a:extLst>
                <a:ext uri="{FF2B5EF4-FFF2-40B4-BE49-F238E27FC236}">
                  <a16:creationId xmlns:a16="http://schemas.microsoft.com/office/drawing/2014/main" id="{4AB20FBB-407C-01D2-6476-4A9A7AC22CE2}"/>
                </a:ext>
              </a:extLst>
            </p:cNvPr>
            <p:cNvSpPr/>
            <p:nvPr/>
          </p:nvSpPr>
          <p:spPr>
            <a:xfrm>
              <a:off x="7988015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C4605DA-E61C-8F6A-0096-C26EAE2A8B11}"/>
                </a:ext>
              </a:extLst>
            </p:cNvPr>
            <p:cNvSpPr txBox="1"/>
            <p:nvPr/>
          </p:nvSpPr>
          <p:spPr>
            <a:xfrm>
              <a:off x="7988015" y="3244333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3AB8E7A-739C-F487-3B3B-A91070D20DD5}"/>
                </a:ext>
              </a:extLst>
            </p:cNvPr>
            <p:cNvSpPr txBox="1"/>
            <p:nvPr/>
          </p:nvSpPr>
          <p:spPr>
            <a:xfrm rot="16200000">
              <a:off x="3788454" y="3983885"/>
              <a:ext cx="8439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FTO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3C3B16D-2A75-02D1-4E6F-8843C63EFAB5}"/>
                </a:ext>
              </a:extLst>
            </p:cNvPr>
            <p:cNvSpPr txBox="1"/>
            <p:nvPr/>
          </p:nvSpPr>
          <p:spPr>
            <a:xfrm rot="16200000">
              <a:off x="1731968" y="787234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EC030D2-5A43-0146-ED48-E7D55CDF35F2}"/>
                </a:ext>
              </a:extLst>
            </p:cNvPr>
            <p:cNvSpPr txBox="1"/>
            <p:nvPr/>
          </p:nvSpPr>
          <p:spPr>
            <a:xfrm rot="16200000">
              <a:off x="2308983" y="534662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510518D-CF0C-219F-F75A-1CA7DE169771}"/>
                </a:ext>
              </a:extLst>
            </p:cNvPr>
            <p:cNvSpPr txBox="1"/>
            <p:nvPr/>
          </p:nvSpPr>
          <p:spPr>
            <a:xfrm rot="16200000">
              <a:off x="3472734" y="1527119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876471B-9CE9-8B5C-2F6A-47DC28F823DE}"/>
                </a:ext>
              </a:extLst>
            </p:cNvPr>
            <p:cNvSpPr txBox="1"/>
            <p:nvPr/>
          </p:nvSpPr>
          <p:spPr>
            <a:xfrm rot="16200000">
              <a:off x="4057046" y="970859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 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972A3FB9-92A1-74E0-14B1-389BA9FB263D}"/>
                </a:ext>
              </a:extLst>
            </p:cNvPr>
            <p:cNvSpPr txBox="1"/>
            <p:nvPr/>
          </p:nvSpPr>
          <p:spPr>
            <a:xfrm rot="16200000">
              <a:off x="4657494" y="809744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CZTSSe 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04938DEC-45F7-369B-A395-44B82763DEC3}"/>
                </a:ext>
              </a:extLst>
            </p:cNvPr>
            <p:cNvSpPr txBox="1"/>
            <p:nvPr/>
          </p:nvSpPr>
          <p:spPr>
            <a:xfrm>
              <a:off x="3907420" y="2927331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5A67ED2-D359-B13E-7C52-11220EC1C162}"/>
                </a:ext>
              </a:extLst>
            </p:cNvPr>
            <p:cNvSpPr txBox="1"/>
            <p:nvPr/>
          </p:nvSpPr>
          <p:spPr>
            <a:xfrm>
              <a:off x="4483158" y="281337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33B5D8F-DD62-7E64-D8E9-90900E3420FF}"/>
                </a:ext>
              </a:extLst>
            </p:cNvPr>
            <p:cNvSpPr txBox="1"/>
            <p:nvPr/>
          </p:nvSpPr>
          <p:spPr>
            <a:xfrm>
              <a:off x="5053464" y="2373224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24640908-BFD1-598B-0277-3ED517978060}"/>
                </a:ext>
              </a:extLst>
            </p:cNvPr>
            <p:cNvSpPr txBox="1"/>
            <p:nvPr/>
          </p:nvSpPr>
          <p:spPr>
            <a:xfrm>
              <a:off x="5674031" y="3053911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1CD0F7E9-9529-0F28-1115-52BA24498266}"/>
                </a:ext>
              </a:extLst>
            </p:cNvPr>
            <p:cNvSpPr txBox="1"/>
            <p:nvPr/>
          </p:nvSpPr>
          <p:spPr>
            <a:xfrm>
              <a:off x="6229616" y="3065486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BC487CE-EDB9-209A-CB8A-2B29764CFFB8}"/>
                </a:ext>
              </a:extLst>
            </p:cNvPr>
            <p:cNvSpPr txBox="1"/>
            <p:nvPr/>
          </p:nvSpPr>
          <p:spPr>
            <a:xfrm>
              <a:off x="6825859" y="2838158"/>
              <a:ext cx="6208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1D252F5-0EA9-6416-A54A-DE11C9821952}"/>
                </a:ext>
              </a:extLst>
            </p:cNvPr>
            <p:cNvSpPr txBox="1"/>
            <p:nvPr/>
          </p:nvSpPr>
          <p:spPr>
            <a:xfrm>
              <a:off x="6819179" y="4473254"/>
              <a:ext cx="7518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5CEB177-8C5A-CE0E-8667-811004661682}"/>
                </a:ext>
              </a:extLst>
            </p:cNvPr>
            <p:cNvSpPr txBox="1"/>
            <p:nvPr/>
          </p:nvSpPr>
          <p:spPr>
            <a:xfrm>
              <a:off x="5684532" y="5235964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8F29B5B1-3375-EEA1-C447-73C00A588C4C}"/>
                </a:ext>
              </a:extLst>
            </p:cNvPr>
            <p:cNvSpPr txBox="1"/>
            <p:nvPr/>
          </p:nvSpPr>
          <p:spPr>
            <a:xfrm>
              <a:off x="6240119" y="5226132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D4FBAF31-27EE-A9B8-C7A6-9E59E897D951}"/>
                </a:ext>
              </a:extLst>
            </p:cNvPr>
            <p:cNvSpPr txBox="1"/>
            <p:nvPr/>
          </p:nvSpPr>
          <p:spPr>
            <a:xfrm>
              <a:off x="7398467" y="2571762"/>
              <a:ext cx="5664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F90179AB-E123-CFC1-A656-927C86C1A7FC}"/>
                </a:ext>
              </a:extLst>
            </p:cNvPr>
            <p:cNvSpPr txBox="1"/>
            <p:nvPr/>
          </p:nvSpPr>
          <p:spPr>
            <a:xfrm>
              <a:off x="7423599" y="4013694"/>
              <a:ext cx="7813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25829A0-046A-ADAA-9B90-9CB2C5FFD54F}"/>
                </a:ext>
              </a:extLst>
            </p:cNvPr>
            <p:cNvSpPr txBox="1"/>
            <p:nvPr/>
          </p:nvSpPr>
          <p:spPr>
            <a:xfrm>
              <a:off x="3895845" y="5043355"/>
              <a:ext cx="135458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13CF3C2B-72B1-4912-BCFC-4F1B59FE4A9A}"/>
                </a:ext>
              </a:extLst>
            </p:cNvPr>
            <p:cNvSpPr txBox="1"/>
            <p:nvPr/>
          </p:nvSpPr>
          <p:spPr>
            <a:xfrm>
              <a:off x="4519826" y="3910769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071D706-614A-F426-CC8F-669631D58F33}"/>
                </a:ext>
              </a:extLst>
            </p:cNvPr>
            <p:cNvSpPr txBox="1"/>
            <p:nvPr/>
          </p:nvSpPr>
          <p:spPr>
            <a:xfrm>
              <a:off x="5057149" y="3795744"/>
              <a:ext cx="79112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932236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" name="Group 58">
            <a:extLst>
              <a:ext uri="{FF2B5EF4-FFF2-40B4-BE49-F238E27FC236}">
                <a16:creationId xmlns:a16="http://schemas.microsoft.com/office/drawing/2014/main" id="{12225A83-52AC-A641-09D3-B2933EFDE23A}"/>
              </a:ext>
            </a:extLst>
          </p:cNvPr>
          <p:cNvGrpSpPr/>
          <p:nvPr/>
        </p:nvGrpSpPr>
        <p:grpSpPr>
          <a:xfrm>
            <a:off x="2493818" y="-2490342"/>
            <a:ext cx="13804848" cy="8651417"/>
            <a:chOff x="2493818" y="-2468826"/>
            <a:chExt cx="13804848" cy="8651417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2C396B23-EC5E-A86F-F18B-6963D9FC0B0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93818" y="665374"/>
              <a:ext cx="7206096" cy="551721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16CC553-F940-C2D2-1977-C54419673EB5}"/>
                </a:ext>
              </a:extLst>
            </p:cNvPr>
            <p:cNvSpPr/>
            <p:nvPr/>
          </p:nvSpPr>
          <p:spPr>
            <a:xfrm>
              <a:off x="8206451" y="775504"/>
              <a:ext cx="995422" cy="68290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FB439B7-1857-ED5E-F108-6049FA220763}"/>
                </a:ext>
              </a:extLst>
            </p:cNvPr>
            <p:cNvSpPr/>
            <p:nvPr/>
          </p:nvSpPr>
          <p:spPr>
            <a:xfrm>
              <a:off x="3960776" y="3230284"/>
              <a:ext cx="504544" cy="1896561"/>
            </a:xfrm>
            <a:prstGeom prst="rect">
              <a:avLst/>
            </a:prstGeom>
            <a:solidFill>
              <a:srgbClr val="FFFF00"/>
            </a:solidFill>
            <a:ln>
              <a:solidFill>
                <a:srgbClr val="FFFF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1" algn="ctr"/>
              <a:endParaRPr lang="en-US" b="1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C2FB3EF-0E95-16E7-43F7-560DE7D6F8A6}"/>
                </a:ext>
              </a:extLst>
            </p:cNvPr>
            <p:cNvSpPr/>
            <p:nvPr/>
          </p:nvSpPr>
          <p:spPr>
            <a:xfrm>
              <a:off x="4552051" y="3121769"/>
              <a:ext cx="504544" cy="830580"/>
            </a:xfrm>
            <a:prstGeom prst="rect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solidFill>
                <a:schemeClr val="accent1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76597A-B4A0-E932-2983-0DBEDE1F1469}"/>
                </a:ext>
              </a:extLst>
            </p:cNvPr>
            <p:cNvSpPr/>
            <p:nvPr/>
          </p:nvSpPr>
          <p:spPr>
            <a:xfrm>
              <a:off x="5125484" y="2674620"/>
              <a:ext cx="504544" cy="120777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0DCB63B0-5C3C-1631-5AC1-FD70B337B0B5}"/>
                </a:ext>
              </a:extLst>
            </p:cNvPr>
            <p:cNvSpPr/>
            <p:nvPr/>
          </p:nvSpPr>
          <p:spPr>
            <a:xfrm>
              <a:off x="5719022" y="3364992"/>
              <a:ext cx="504544" cy="193852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chemeClr val="accent3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EF8E949-6D7E-CF81-053F-D35B850290D2}"/>
                </a:ext>
              </a:extLst>
            </p:cNvPr>
            <p:cNvSpPr/>
            <p:nvPr/>
          </p:nvSpPr>
          <p:spPr>
            <a:xfrm>
              <a:off x="6301063" y="3364992"/>
              <a:ext cx="504544" cy="1938528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solidFill>
                <a:schemeClr val="accent5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7487EA1-F84F-83C0-F644-8D08DD5B4BC8}"/>
                </a:ext>
              </a:extLst>
            </p:cNvPr>
            <p:cNvSpPr/>
            <p:nvPr/>
          </p:nvSpPr>
          <p:spPr>
            <a:xfrm>
              <a:off x="6882403" y="3139440"/>
              <a:ext cx="504544" cy="142036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947A6D7-CE0D-4C98-75FE-BB355828F380}"/>
                </a:ext>
              </a:extLst>
            </p:cNvPr>
            <p:cNvSpPr/>
            <p:nvPr/>
          </p:nvSpPr>
          <p:spPr>
            <a:xfrm>
              <a:off x="7463743" y="2881884"/>
              <a:ext cx="504544" cy="120777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accent5">
                  <a:lumMod val="20000"/>
                  <a:lumOff val="8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B7224316-A065-193E-04AA-D075C0D59A0A}"/>
                </a:ext>
              </a:extLst>
            </p:cNvPr>
            <p:cNvSpPr/>
            <p:nvPr/>
          </p:nvSpPr>
          <p:spPr>
            <a:xfrm>
              <a:off x="8056007" y="2563380"/>
              <a:ext cx="504544" cy="1296925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solidFill>
                <a:schemeClr val="accent3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DD7929AF-F4F7-AF81-FD09-17C079483782}"/>
                </a:ext>
              </a:extLst>
            </p:cNvPr>
            <p:cNvSpPr txBox="1"/>
            <p:nvPr/>
          </p:nvSpPr>
          <p:spPr>
            <a:xfrm rot="16200000">
              <a:off x="3788454" y="3983885"/>
              <a:ext cx="84391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FTO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5C3D2B89-EB88-60EC-1218-ABCB89748EB3}"/>
                </a:ext>
              </a:extLst>
            </p:cNvPr>
            <p:cNvSpPr txBox="1"/>
            <p:nvPr/>
          </p:nvSpPr>
          <p:spPr>
            <a:xfrm rot="16200000">
              <a:off x="1731968" y="787234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MASnI₃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88B5DE62-C024-D834-E288-F152596CC06C}"/>
                </a:ext>
              </a:extLst>
            </p:cNvPr>
            <p:cNvSpPr txBox="1"/>
            <p:nvPr/>
          </p:nvSpPr>
          <p:spPr>
            <a:xfrm rot="16200000">
              <a:off x="2308983" y="534662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Cs₃Bi₂I₉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DCF4CB6E-C494-0621-4CF1-95AD20A4043C}"/>
                </a:ext>
              </a:extLst>
            </p:cNvPr>
            <p:cNvSpPr txBox="1"/>
            <p:nvPr/>
          </p:nvSpPr>
          <p:spPr>
            <a:xfrm rot="16200000">
              <a:off x="2913913" y="1636015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ZnO:Al 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A81A97B-03BE-84CA-E78B-6A3A6AAD9E92}"/>
                </a:ext>
              </a:extLst>
            </p:cNvPr>
            <p:cNvSpPr txBox="1"/>
            <p:nvPr/>
          </p:nvSpPr>
          <p:spPr>
            <a:xfrm rot="16200000">
              <a:off x="3472734" y="1527119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i-ZnO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6A82398-E47C-6938-B415-C5B41B38C223}"/>
                </a:ext>
              </a:extLst>
            </p:cNvPr>
            <p:cNvSpPr txBox="1"/>
            <p:nvPr/>
          </p:nvSpPr>
          <p:spPr>
            <a:xfrm rot="16200000">
              <a:off x="4057046" y="970859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CdS 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BF9B35BF-E46E-317D-B4A3-567972AE8103}"/>
                </a:ext>
              </a:extLst>
            </p:cNvPr>
            <p:cNvSpPr txBox="1"/>
            <p:nvPr/>
          </p:nvSpPr>
          <p:spPr>
            <a:xfrm rot="16200000">
              <a:off x="4657494" y="809744"/>
              <a:ext cx="61051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/>
                <a:t>CZTSSe 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657DC8B-D329-6356-E49A-6DD327581305}"/>
                </a:ext>
              </a:extLst>
            </p:cNvPr>
            <p:cNvSpPr txBox="1"/>
            <p:nvPr/>
          </p:nvSpPr>
          <p:spPr>
            <a:xfrm rot="16200000">
              <a:off x="5243575" y="399330"/>
              <a:ext cx="61056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Cu₂O</a:t>
              </a:r>
            </a:p>
          </p:txBody>
        </p:sp>
        <p:sp>
          <p:nvSpPr>
            <p:cNvPr id="27" name="Cube 26">
              <a:extLst>
                <a:ext uri="{FF2B5EF4-FFF2-40B4-BE49-F238E27FC236}">
                  <a16:creationId xmlns:a16="http://schemas.microsoft.com/office/drawing/2014/main" id="{28FEC49F-5F0C-A996-550E-00527B6E58B1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27DD63-5CA3-F964-C66A-A51E08FFD017}"/>
                </a:ext>
              </a:extLst>
            </p:cNvPr>
            <p:cNvSpPr txBox="1"/>
            <p:nvPr/>
          </p:nvSpPr>
          <p:spPr>
            <a:xfrm>
              <a:off x="3496953" y="2824971"/>
              <a:ext cx="610616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29" name="Cube 28">
              <a:extLst>
                <a:ext uri="{FF2B5EF4-FFF2-40B4-BE49-F238E27FC236}">
                  <a16:creationId xmlns:a16="http://schemas.microsoft.com/office/drawing/2014/main" id="{AF4BAB29-1717-DDCF-B290-456EC140F9C4}"/>
                </a:ext>
              </a:extLst>
            </p:cNvPr>
            <p:cNvSpPr/>
            <p:nvPr/>
          </p:nvSpPr>
          <p:spPr>
            <a:xfrm>
              <a:off x="8566753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DEE494C-9D26-0062-C830-58048A118299}"/>
                </a:ext>
              </a:extLst>
            </p:cNvPr>
            <p:cNvSpPr txBox="1"/>
            <p:nvPr/>
          </p:nvSpPr>
          <p:spPr>
            <a:xfrm>
              <a:off x="8560551" y="3260718"/>
              <a:ext cx="61056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2845B7BE-69E1-6606-947D-20BE4C52CE29}"/>
                </a:ext>
              </a:extLst>
            </p:cNvPr>
            <p:cNvSpPr txBox="1"/>
            <p:nvPr/>
          </p:nvSpPr>
          <p:spPr>
            <a:xfrm>
              <a:off x="3907420" y="292667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A0F5EB1-79F9-2DE9-654C-C0F2D9ABAC2D}"/>
                </a:ext>
              </a:extLst>
            </p:cNvPr>
            <p:cNvSpPr txBox="1"/>
            <p:nvPr/>
          </p:nvSpPr>
          <p:spPr>
            <a:xfrm>
              <a:off x="3895845" y="504335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-7.6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E034B93-3C9B-D86E-64E0-52B60881FEBD}"/>
                </a:ext>
              </a:extLst>
            </p:cNvPr>
            <p:cNvSpPr txBox="1"/>
            <p:nvPr/>
          </p:nvSpPr>
          <p:spPr>
            <a:xfrm>
              <a:off x="4483158" y="281337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3DE1A005-A7D7-B95E-6AB7-4F3008DE8887}"/>
                </a:ext>
              </a:extLst>
            </p:cNvPr>
            <p:cNvSpPr txBox="1"/>
            <p:nvPr/>
          </p:nvSpPr>
          <p:spPr>
            <a:xfrm>
              <a:off x="4519826" y="3873184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-5.6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DD0085A-1389-66E4-8CF6-4907E1DDCD33}"/>
                </a:ext>
              </a:extLst>
            </p:cNvPr>
            <p:cNvSpPr txBox="1"/>
            <p:nvPr/>
          </p:nvSpPr>
          <p:spPr>
            <a:xfrm>
              <a:off x="5053464" y="2373224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-3.4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93D9E5F-BF5E-D265-0EB8-64AB04716ED7}"/>
                </a:ext>
              </a:extLst>
            </p:cNvPr>
            <p:cNvSpPr txBox="1"/>
            <p:nvPr/>
          </p:nvSpPr>
          <p:spPr>
            <a:xfrm>
              <a:off x="5057149" y="3795744"/>
              <a:ext cx="79112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-5.4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74A4F00-55C8-80D7-6917-DFAF487B412E}"/>
                </a:ext>
              </a:extLst>
            </p:cNvPr>
            <p:cNvSpPr txBox="1"/>
            <p:nvPr/>
          </p:nvSpPr>
          <p:spPr>
            <a:xfrm>
              <a:off x="5674031" y="3043095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ACFBFF4D-BB34-198F-F77F-E56F47BEE422}"/>
                </a:ext>
              </a:extLst>
            </p:cNvPr>
            <p:cNvSpPr txBox="1"/>
            <p:nvPr/>
          </p:nvSpPr>
          <p:spPr>
            <a:xfrm>
              <a:off x="5684532" y="5226788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1F48133E-B7CB-8C78-9550-2C7158DA0C27}"/>
                </a:ext>
              </a:extLst>
            </p:cNvPr>
            <p:cNvSpPr txBox="1"/>
            <p:nvPr/>
          </p:nvSpPr>
          <p:spPr>
            <a:xfrm>
              <a:off x="6258056" y="5221563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-7.9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1FECBD8A-0E80-EA2F-C29D-FEC0A357E52C}"/>
                </a:ext>
              </a:extLst>
            </p:cNvPr>
            <p:cNvSpPr txBox="1"/>
            <p:nvPr/>
          </p:nvSpPr>
          <p:spPr>
            <a:xfrm>
              <a:off x="6229616" y="3054670"/>
              <a:ext cx="748792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-4.6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423B26CD-A856-44C7-537B-A2BB58028789}"/>
                </a:ext>
              </a:extLst>
            </p:cNvPr>
            <p:cNvSpPr txBox="1"/>
            <p:nvPr/>
          </p:nvSpPr>
          <p:spPr>
            <a:xfrm>
              <a:off x="6825859" y="2847990"/>
              <a:ext cx="62089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-4.2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2C9B3DF8-F1E8-601E-98F3-811CA01B13CC}"/>
                </a:ext>
              </a:extLst>
            </p:cNvPr>
            <p:cNvSpPr txBox="1"/>
            <p:nvPr/>
          </p:nvSpPr>
          <p:spPr>
            <a:xfrm>
              <a:off x="6819179" y="4473254"/>
              <a:ext cx="75184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-6.6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B39AA834-D630-DFE4-7F38-90AD024D9FB5}"/>
                </a:ext>
              </a:extLst>
            </p:cNvPr>
            <p:cNvSpPr txBox="1"/>
            <p:nvPr/>
          </p:nvSpPr>
          <p:spPr>
            <a:xfrm>
              <a:off x="7398467" y="2571762"/>
              <a:ext cx="56640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-3.8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442D54A8-0746-CB88-60DB-A2AEADC9EDDD}"/>
                </a:ext>
              </a:extLst>
            </p:cNvPr>
            <p:cNvSpPr txBox="1"/>
            <p:nvPr/>
          </p:nvSpPr>
          <p:spPr>
            <a:xfrm>
              <a:off x="7423599" y="4003862"/>
              <a:ext cx="781304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-5.2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BA8F2267-3974-6544-9DB8-7FEF15A77030}"/>
                </a:ext>
              </a:extLst>
            </p:cNvPr>
            <p:cNvSpPr txBox="1"/>
            <p:nvPr/>
          </p:nvSpPr>
          <p:spPr>
            <a:xfrm>
              <a:off x="8008099" y="2252496"/>
              <a:ext cx="791129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-3.2</a:t>
              </a:r>
            </a:p>
          </p:txBody>
        </p:sp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A902F8-F3E5-F09E-5AE9-F29D993C5F8A}"/>
                </a:ext>
              </a:extLst>
            </p:cNvPr>
            <p:cNvSpPr txBox="1"/>
            <p:nvPr/>
          </p:nvSpPr>
          <p:spPr>
            <a:xfrm>
              <a:off x="7964894" y="3779778"/>
              <a:ext cx="833377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-5.37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515212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roup 62">
            <a:extLst>
              <a:ext uri="{FF2B5EF4-FFF2-40B4-BE49-F238E27FC236}">
                <a16:creationId xmlns:a16="http://schemas.microsoft.com/office/drawing/2014/main" id="{BFF7FD54-B406-19E9-ADF7-36BFCBB10B49}"/>
              </a:ext>
            </a:extLst>
          </p:cNvPr>
          <p:cNvGrpSpPr/>
          <p:nvPr/>
        </p:nvGrpSpPr>
        <p:grpSpPr>
          <a:xfrm>
            <a:off x="2493818" y="-2584576"/>
            <a:ext cx="13850308" cy="8767167"/>
            <a:chOff x="2493818" y="-2584576"/>
            <a:chExt cx="13850308" cy="8767167"/>
          </a:xfrm>
        </p:grpSpPr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01DBEA52-B3CD-CBD7-4511-F98AAA0CEF04}"/>
                </a:ext>
              </a:extLst>
            </p:cNvPr>
            <p:cNvGrpSpPr/>
            <p:nvPr/>
          </p:nvGrpSpPr>
          <p:grpSpPr>
            <a:xfrm>
              <a:off x="2493818" y="-2584576"/>
              <a:ext cx="13850308" cy="8767167"/>
              <a:chOff x="2493818" y="-2584576"/>
              <a:chExt cx="13850308" cy="8767167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32D70042-C7A2-EA7B-DBAA-EA7C3F36D6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493818" y="665374"/>
                <a:ext cx="7206096" cy="5517217"/>
              </a:xfrm>
              <a:prstGeom prst="rect">
                <a:avLst/>
              </a:prstGeom>
            </p:spPr>
          </p:pic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AE72255-8720-AF00-4E96-A0FA078044DD}"/>
                  </a:ext>
                </a:extLst>
              </p:cNvPr>
              <p:cNvSpPr/>
              <p:nvPr/>
            </p:nvSpPr>
            <p:spPr>
              <a:xfrm>
                <a:off x="3960776" y="3249784"/>
                <a:ext cx="504544" cy="1866901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rgbClr val="FFFF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1" algn="ctr"/>
                <a:endParaRPr lang="en-US" b="1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6FA2E58B-01CE-E67E-D445-AB42146F271A}"/>
                  </a:ext>
                </a:extLst>
              </p:cNvPr>
              <p:cNvSpPr txBox="1"/>
              <p:nvPr/>
            </p:nvSpPr>
            <p:spPr>
              <a:xfrm rot="16200000">
                <a:off x="3788454" y="3983885"/>
                <a:ext cx="8439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FTO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366BF0C3-5CE5-752A-C409-8FDCAAB8E6BA}"/>
                  </a:ext>
                </a:extLst>
              </p:cNvPr>
              <p:cNvSpPr/>
              <p:nvPr/>
            </p:nvSpPr>
            <p:spPr>
              <a:xfrm>
                <a:off x="4541891" y="3103662"/>
                <a:ext cx="504544" cy="858847"/>
              </a:xfrm>
              <a:prstGeom prst="rect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solidFill>
                  <a:schemeClr val="accent1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Rectangle 23">
                <a:extLst>
                  <a:ext uri="{FF2B5EF4-FFF2-40B4-BE49-F238E27FC236}">
                    <a16:creationId xmlns:a16="http://schemas.microsoft.com/office/drawing/2014/main" id="{663C8F2A-56A2-15B9-BEB2-2E54A1AEB637}"/>
                  </a:ext>
                </a:extLst>
              </p:cNvPr>
              <p:cNvSpPr/>
              <p:nvPr/>
            </p:nvSpPr>
            <p:spPr>
              <a:xfrm>
                <a:off x="5125484" y="2674620"/>
                <a:ext cx="504544" cy="1207770"/>
              </a:xfrm>
              <a:prstGeom prst="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10C73F57-1353-4D84-3B70-9D159E2BD8AC}"/>
                  </a:ext>
                </a:extLst>
              </p:cNvPr>
              <p:cNvSpPr/>
              <p:nvPr/>
            </p:nvSpPr>
            <p:spPr>
              <a:xfrm>
                <a:off x="5719022" y="3364992"/>
                <a:ext cx="504544" cy="1938528"/>
              </a:xfrm>
              <a:prstGeom prst="rect">
                <a:avLst/>
              </a:prstGeom>
              <a:solidFill>
                <a:schemeClr val="accent3">
                  <a:lumMod val="20000"/>
                  <a:lumOff val="80000"/>
                </a:schemeClr>
              </a:solidFill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74942B3-B596-77EA-C0FD-8690A2CA1CAB}"/>
                  </a:ext>
                </a:extLst>
              </p:cNvPr>
              <p:cNvSpPr/>
              <p:nvPr/>
            </p:nvSpPr>
            <p:spPr>
              <a:xfrm>
                <a:off x="6301063" y="3364992"/>
                <a:ext cx="504544" cy="1938528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solidFill>
                  <a:schemeClr val="accent5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92EA6EDC-45CC-F059-15EA-D49C8D18F207}"/>
                  </a:ext>
                </a:extLst>
              </p:cNvPr>
              <p:cNvSpPr/>
              <p:nvPr/>
            </p:nvSpPr>
            <p:spPr>
              <a:xfrm>
                <a:off x="6882403" y="3139440"/>
                <a:ext cx="504544" cy="1420369"/>
              </a:xfrm>
              <a:prstGeom prst="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solidFill>
                  <a:schemeClr val="accent3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14F163C7-A404-8780-A7F9-CCA82B706486}"/>
                  </a:ext>
                </a:extLst>
              </p:cNvPr>
              <p:cNvSpPr/>
              <p:nvPr/>
            </p:nvSpPr>
            <p:spPr>
              <a:xfrm>
                <a:off x="7463743" y="2881884"/>
                <a:ext cx="504544" cy="120777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accent5">
                    <a:lumMod val="20000"/>
                    <a:lumOff val="8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A779D82-D30A-06E4-590A-125DF91138BE}"/>
                  </a:ext>
                </a:extLst>
              </p:cNvPr>
              <p:cNvSpPr txBox="1"/>
              <p:nvPr/>
            </p:nvSpPr>
            <p:spPr>
              <a:xfrm>
                <a:off x="3895845" y="5053515"/>
                <a:ext cx="748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-7.6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0CDCCC4-294C-B795-C5BB-0FFAF5E0311D}"/>
                  </a:ext>
                </a:extLst>
              </p:cNvPr>
              <p:cNvSpPr txBox="1"/>
              <p:nvPr/>
            </p:nvSpPr>
            <p:spPr>
              <a:xfrm>
                <a:off x="5056702" y="3795734"/>
                <a:ext cx="79112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-5.4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F432684-CFD3-B495-FF51-11222ADF385A}"/>
                  </a:ext>
                </a:extLst>
              </p:cNvPr>
              <p:cNvSpPr txBox="1"/>
              <p:nvPr/>
            </p:nvSpPr>
            <p:spPr>
              <a:xfrm rot="16200000">
                <a:off x="1731968" y="787234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MASnI₃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FDEFC9CB-0AEA-AF3C-3D12-05E59B2796C1}"/>
                  </a:ext>
                </a:extLst>
              </p:cNvPr>
              <p:cNvSpPr txBox="1"/>
              <p:nvPr/>
            </p:nvSpPr>
            <p:spPr>
              <a:xfrm rot="16200000">
                <a:off x="2308983" y="534662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Cs₃Bi₂I₉</a:t>
                </a:r>
              </a:p>
            </p:txBody>
          </p: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65D87F3-029D-1B2E-4E20-AC2925FE4030}"/>
                  </a:ext>
                </a:extLst>
              </p:cNvPr>
              <p:cNvSpPr txBox="1"/>
              <p:nvPr/>
            </p:nvSpPr>
            <p:spPr>
              <a:xfrm rot="16200000">
                <a:off x="2913913" y="1636015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ZnO:Al 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85A89AA-84B0-626A-3583-0A041DA4C1D1}"/>
                  </a:ext>
                </a:extLst>
              </p:cNvPr>
              <p:cNvSpPr txBox="1"/>
              <p:nvPr/>
            </p:nvSpPr>
            <p:spPr>
              <a:xfrm rot="16200000">
                <a:off x="3472734" y="1527119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i-ZnO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9283BC15-1324-6BF2-D6C3-DBF3EA5C7DDC}"/>
                  </a:ext>
                </a:extLst>
              </p:cNvPr>
              <p:cNvSpPr txBox="1"/>
              <p:nvPr/>
            </p:nvSpPr>
            <p:spPr>
              <a:xfrm rot="16200000">
                <a:off x="4057046" y="970859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CdS 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7FA38E2-92FE-1FAC-16FD-59AB32F60B69}"/>
                  </a:ext>
                </a:extLst>
              </p:cNvPr>
              <p:cNvSpPr txBox="1"/>
              <p:nvPr/>
            </p:nvSpPr>
            <p:spPr>
              <a:xfrm rot="16200000">
                <a:off x="4657494" y="809744"/>
                <a:ext cx="61051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/>
                  <a:t>CZTSSe 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F0F2236-8992-B5FE-8E2B-80E20B47F5E9}"/>
                  </a:ext>
                </a:extLst>
              </p:cNvPr>
              <p:cNvSpPr txBox="1"/>
              <p:nvPr/>
            </p:nvSpPr>
            <p:spPr>
              <a:xfrm>
                <a:off x="5053464" y="2373224"/>
                <a:ext cx="748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-3.4</a:t>
                </a:r>
              </a:p>
            </p:txBody>
          </p:sp>
          <p:sp>
            <p:nvSpPr>
              <p:cNvPr id="38" name="Rectangle 37">
                <a:extLst>
                  <a:ext uri="{FF2B5EF4-FFF2-40B4-BE49-F238E27FC236}">
                    <a16:creationId xmlns:a16="http://schemas.microsoft.com/office/drawing/2014/main" id="{CB886885-47F2-0A7A-C69A-63D77E77FD7C}"/>
                  </a:ext>
                </a:extLst>
              </p:cNvPr>
              <p:cNvSpPr/>
              <p:nvPr/>
            </p:nvSpPr>
            <p:spPr>
              <a:xfrm>
                <a:off x="8056010" y="2410692"/>
                <a:ext cx="504544" cy="1460124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rgbClr val="FFC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585820A5-D1CD-FDDC-4964-925782DCF7DE}"/>
                  </a:ext>
                </a:extLst>
              </p:cNvPr>
              <p:cNvSpPr txBox="1"/>
              <p:nvPr/>
            </p:nvSpPr>
            <p:spPr>
              <a:xfrm rot="16200000">
                <a:off x="5266727" y="283580"/>
                <a:ext cx="610564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V₂O₅ </a:t>
                </a:r>
              </a:p>
            </p:txBody>
          </p:sp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3A08164E-86B9-C752-E5FC-939B13E42BA9}"/>
                  </a:ext>
                </a:extLst>
              </p:cNvPr>
              <p:cNvSpPr txBox="1"/>
              <p:nvPr/>
            </p:nvSpPr>
            <p:spPr>
              <a:xfrm>
                <a:off x="5637888" y="5213113"/>
                <a:ext cx="748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-7.9</a:t>
                </a:r>
              </a:p>
            </p:txBody>
          </p:sp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A174FD7D-B9F3-33AA-7B54-5F0393169E6D}"/>
                  </a:ext>
                </a:extLst>
              </p:cNvPr>
              <p:cNvSpPr txBox="1"/>
              <p:nvPr/>
            </p:nvSpPr>
            <p:spPr>
              <a:xfrm>
                <a:off x="6263269" y="5206468"/>
                <a:ext cx="748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-7.9</a:t>
                </a:r>
              </a:p>
            </p:txBody>
          </p:sp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3EB14549-E2F4-9B5B-189F-72D810730AA2}"/>
                  </a:ext>
                </a:extLst>
              </p:cNvPr>
              <p:cNvSpPr txBox="1"/>
              <p:nvPr/>
            </p:nvSpPr>
            <p:spPr>
              <a:xfrm>
                <a:off x="6829248" y="4463278"/>
                <a:ext cx="751840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-6.6</a:t>
                </a:r>
              </a:p>
            </p:txBody>
          </p:sp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6C1B929E-DF36-90D5-97AC-7DC5DBE34ECD}"/>
                  </a:ext>
                </a:extLst>
              </p:cNvPr>
              <p:cNvSpPr txBox="1"/>
              <p:nvPr/>
            </p:nvSpPr>
            <p:spPr>
              <a:xfrm>
                <a:off x="7435177" y="4027012"/>
                <a:ext cx="78130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-5.2</a:t>
                </a:r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F261D63-395C-59A9-978E-E6B8E4873772}"/>
                  </a:ext>
                </a:extLst>
              </p:cNvPr>
              <p:cNvSpPr txBox="1"/>
              <p:nvPr/>
            </p:nvSpPr>
            <p:spPr>
              <a:xfrm>
                <a:off x="8088703" y="2124399"/>
                <a:ext cx="791129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</a:t>
                </a:r>
              </a:p>
            </p:txBody>
          </p:sp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2DE7AA7A-A051-14F9-DA55-C2996BEBA40D}"/>
                  </a:ext>
                </a:extLst>
              </p:cNvPr>
              <p:cNvSpPr txBox="1"/>
              <p:nvPr/>
            </p:nvSpPr>
            <p:spPr>
              <a:xfrm>
                <a:off x="8033504" y="3802767"/>
                <a:ext cx="831062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-5.4</a:t>
                </a:r>
              </a:p>
            </p:txBody>
          </p: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D61AFC41-9084-E85B-7DFB-6E55D400F769}"/>
                  </a:ext>
                </a:extLst>
              </p:cNvPr>
              <p:cNvSpPr txBox="1"/>
              <p:nvPr/>
            </p:nvSpPr>
            <p:spPr>
              <a:xfrm>
                <a:off x="3926999" y="2947723"/>
                <a:ext cx="84610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-4.4</a:t>
                </a:r>
              </a:p>
            </p:txBody>
          </p:sp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F2FE48DC-C6C2-BF95-8DCE-FC955FAA9DE9}"/>
                  </a:ext>
                </a:extLst>
              </p:cNvPr>
              <p:cNvSpPr txBox="1"/>
              <p:nvPr/>
            </p:nvSpPr>
            <p:spPr>
              <a:xfrm>
                <a:off x="4518676" y="3872151"/>
                <a:ext cx="64302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-5.6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9C72BC75-D75F-79BA-8A28-38D418C580F4}"/>
                  </a:ext>
                </a:extLst>
              </p:cNvPr>
              <p:cNvSpPr txBox="1"/>
              <p:nvPr/>
            </p:nvSpPr>
            <p:spPr>
              <a:xfrm>
                <a:off x="4483158" y="2793055"/>
                <a:ext cx="748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-4.2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29E2D41-A09D-2762-C623-96311BBFBF85}"/>
                  </a:ext>
                </a:extLst>
              </p:cNvPr>
              <p:cNvSpPr txBox="1"/>
              <p:nvPr/>
            </p:nvSpPr>
            <p:spPr>
              <a:xfrm>
                <a:off x="5674031" y="3053255"/>
                <a:ext cx="748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-4.6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4E4A418-003A-4BF4-0140-F4EB35EF09D4}"/>
                  </a:ext>
                </a:extLst>
              </p:cNvPr>
              <p:cNvSpPr txBox="1"/>
              <p:nvPr/>
            </p:nvSpPr>
            <p:spPr>
              <a:xfrm>
                <a:off x="6229616" y="3054670"/>
                <a:ext cx="748792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-4.6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E618132-AFA5-6A67-A718-1276A03F43C9}"/>
                  </a:ext>
                </a:extLst>
              </p:cNvPr>
              <p:cNvSpPr txBox="1"/>
              <p:nvPr/>
            </p:nvSpPr>
            <p:spPr>
              <a:xfrm>
                <a:off x="6825859" y="2837830"/>
                <a:ext cx="62089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-4.2</a:t>
                </a:r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AA6FF75-E345-0E42-94A0-C58AF13E8139}"/>
                  </a:ext>
                </a:extLst>
              </p:cNvPr>
              <p:cNvSpPr txBox="1"/>
              <p:nvPr/>
            </p:nvSpPr>
            <p:spPr>
              <a:xfrm>
                <a:off x="7398467" y="2571762"/>
                <a:ext cx="566402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-3.8</a:t>
                </a:r>
              </a:p>
            </p:txBody>
          </p:sp>
        </p:grpSp>
        <p:sp>
          <p:nvSpPr>
            <p:cNvPr id="59" name="Cube 58">
              <a:extLst>
                <a:ext uri="{FF2B5EF4-FFF2-40B4-BE49-F238E27FC236}">
                  <a16:creationId xmlns:a16="http://schemas.microsoft.com/office/drawing/2014/main" id="{8ED61901-0501-75BB-D6E4-1B6782A4D633}"/>
                </a:ext>
              </a:extLst>
            </p:cNvPr>
            <p:cNvSpPr/>
            <p:nvPr/>
          </p:nvSpPr>
          <p:spPr>
            <a:xfrm>
              <a:off x="3439508" y="3129279"/>
              <a:ext cx="501356" cy="101005"/>
            </a:xfrm>
            <a:prstGeom prst="cube">
              <a:avLst/>
            </a:prstGeom>
            <a:solidFill>
              <a:schemeClr val="tx2">
                <a:lumMod val="50000"/>
                <a:lumOff val="5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AEC10913-EC4A-64D0-09F6-69A02726AF5A}"/>
                </a:ext>
              </a:extLst>
            </p:cNvPr>
            <p:cNvSpPr txBox="1"/>
            <p:nvPr/>
          </p:nvSpPr>
          <p:spPr>
            <a:xfrm>
              <a:off x="3496953" y="2824971"/>
              <a:ext cx="65889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Al</a:t>
              </a:r>
            </a:p>
          </p:txBody>
        </p:sp>
        <p:sp>
          <p:nvSpPr>
            <p:cNvPr id="61" name="Cube 60">
              <a:extLst>
                <a:ext uri="{FF2B5EF4-FFF2-40B4-BE49-F238E27FC236}">
                  <a16:creationId xmlns:a16="http://schemas.microsoft.com/office/drawing/2014/main" id="{9D718331-7578-E11D-9EFB-38752F7A8381}"/>
                </a:ext>
              </a:extLst>
            </p:cNvPr>
            <p:cNvSpPr/>
            <p:nvPr/>
          </p:nvSpPr>
          <p:spPr>
            <a:xfrm>
              <a:off x="8566753" y="3569295"/>
              <a:ext cx="501356" cy="101005"/>
            </a:xfrm>
            <a:prstGeom prst="cube">
              <a:avLst/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379F9E8C-C0C6-70DB-0585-CB3B94EFCFCC}"/>
                </a:ext>
              </a:extLst>
            </p:cNvPr>
            <p:cNvSpPr txBox="1"/>
            <p:nvPr/>
          </p:nvSpPr>
          <p:spPr>
            <a:xfrm>
              <a:off x="8560551" y="3260718"/>
              <a:ext cx="6105644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Au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6606848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EFB7D2D-84B7-0DB3-5B0D-F9031A2916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2261" y="0"/>
            <a:ext cx="8958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2109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BAAD9C-4A47-70E1-0FC2-442139F3A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94592"/>
            <a:ext cx="8958298" cy="6710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6493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CE97DC-0EE9-3F2E-3741-A190D9EADB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16" y="0"/>
            <a:ext cx="10530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372395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03258B4-8C0F-CD9A-59EC-96410A2041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616" y="0"/>
            <a:ext cx="105307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97773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9778C2B5-137B-6221-090F-6B11F1B31F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08" y="0"/>
            <a:ext cx="8555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805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230F53C-12A7-B85F-250B-DCA251A1A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08" y="0"/>
            <a:ext cx="8555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8065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76F1154F-242B-7D5B-2915-B1296A4FE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08" y="0"/>
            <a:ext cx="8555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1204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6FDA9E-22E6-45BE-F286-BFC91F7FE1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08" y="0"/>
            <a:ext cx="8555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55993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535C08-4100-7E36-76BF-2744524973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08" y="0"/>
            <a:ext cx="8555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00509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33BADC-03B2-AC8A-F618-52922BE730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18308" y="0"/>
            <a:ext cx="85553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8948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28">
            <a:extLst>
              <a:ext uri="{FF2B5EF4-FFF2-40B4-BE49-F238E27FC236}">
                <a16:creationId xmlns:a16="http://schemas.microsoft.com/office/drawing/2014/main" id="{9EF7375E-DDEE-CE40-E7B0-84A3B095B4DE}"/>
              </a:ext>
            </a:extLst>
          </p:cNvPr>
          <p:cNvGrpSpPr/>
          <p:nvPr/>
        </p:nvGrpSpPr>
        <p:grpSpPr>
          <a:xfrm>
            <a:off x="1308580" y="1539631"/>
            <a:ext cx="9536302" cy="4287520"/>
            <a:chOff x="479338" y="1117600"/>
            <a:chExt cx="9536302" cy="4287520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88725854-A996-10B0-17D1-0A72A05A1093}"/>
                </a:ext>
              </a:extLst>
            </p:cNvPr>
            <p:cNvGrpSpPr/>
            <p:nvPr/>
          </p:nvGrpSpPr>
          <p:grpSpPr>
            <a:xfrm>
              <a:off x="479338" y="1164054"/>
              <a:ext cx="9469071" cy="4233680"/>
              <a:chOff x="74224" y="1233502"/>
              <a:chExt cx="9469071" cy="4233680"/>
            </a:xfrm>
          </p:grpSpPr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8C7C7995-5D0C-EC68-6B77-A4D50C4C211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8705" y="1233502"/>
                <a:ext cx="6894590" cy="4233680"/>
              </a:xfrm>
              <a:prstGeom prst="rect">
                <a:avLst/>
              </a:prstGeom>
            </p:spPr>
          </p:pic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91B51077-CE3C-5BA5-E2A6-F0231BA1482B}"/>
                  </a:ext>
                </a:extLst>
              </p:cNvPr>
              <p:cNvGrpSpPr/>
              <p:nvPr/>
            </p:nvGrpSpPr>
            <p:grpSpPr>
              <a:xfrm>
                <a:off x="74224" y="1637171"/>
                <a:ext cx="3453326" cy="3010626"/>
                <a:chOff x="74224" y="1637171"/>
                <a:chExt cx="3453326" cy="3010626"/>
              </a:xfrm>
            </p:grpSpPr>
            <p:grpSp>
              <p:nvGrpSpPr>
                <p:cNvPr id="19" name="Group 18">
                  <a:extLst>
                    <a:ext uri="{FF2B5EF4-FFF2-40B4-BE49-F238E27FC236}">
                      <a16:creationId xmlns:a16="http://schemas.microsoft.com/office/drawing/2014/main" id="{095E664A-BEBF-209B-7397-2D7AD7E8374A}"/>
                    </a:ext>
                  </a:extLst>
                </p:cNvPr>
                <p:cNvGrpSpPr/>
                <p:nvPr/>
              </p:nvGrpSpPr>
              <p:grpSpPr>
                <a:xfrm>
                  <a:off x="74224" y="1637171"/>
                  <a:ext cx="3453326" cy="3010626"/>
                  <a:chOff x="-365624" y="1637171"/>
                  <a:chExt cx="3453326" cy="3010626"/>
                </a:xfrm>
              </p:grpSpPr>
              <p:sp>
                <p:nvSpPr>
                  <p:cNvPr id="10" name="Rectangle 9">
                    <a:extLst>
                      <a:ext uri="{FF2B5EF4-FFF2-40B4-BE49-F238E27FC236}">
                        <a16:creationId xmlns:a16="http://schemas.microsoft.com/office/drawing/2014/main" id="{0A1A7A1C-C232-4DDA-0FE4-6000A003A9F2}"/>
                      </a:ext>
                    </a:extLst>
                  </p:cNvPr>
                  <p:cNvSpPr/>
                  <p:nvPr/>
                </p:nvSpPr>
                <p:spPr>
                  <a:xfrm>
                    <a:off x="286410" y="1637171"/>
                    <a:ext cx="1617500" cy="26874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Thickness L</a:t>
                    </a:r>
                    <a:r>
                      <a:rPr lang="en-US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2" name="Rectangle 11">
                    <a:extLst>
                      <a:ext uri="{FF2B5EF4-FFF2-40B4-BE49-F238E27FC236}">
                        <a16:creationId xmlns:a16="http://schemas.microsoft.com/office/drawing/2014/main" id="{9A7CE9BD-80D4-6F51-B048-05A52813A223}"/>
                      </a:ext>
                    </a:extLst>
                  </p:cNvPr>
                  <p:cNvSpPr/>
                  <p:nvPr/>
                </p:nvSpPr>
                <p:spPr>
                  <a:xfrm>
                    <a:off x="-365624" y="1973023"/>
                    <a:ext cx="3321015" cy="31011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Defect density L</a:t>
                    </a:r>
                    <a:r>
                      <a:rPr lang="en-US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354486A6-55BE-398F-B6B9-A67EB0AD2E23}"/>
                      </a:ext>
                    </a:extLst>
                  </p:cNvPr>
                  <p:cNvSpPr/>
                  <p:nvPr/>
                </p:nvSpPr>
                <p:spPr>
                  <a:xfrm>
                    <a:off x="103792" y="2364366"/>
                    <a:ext cx="1991596" cy="28558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Thickness L</a:t>
                    </a:r>
                    <a:r>
                      <a:rPr lang="en-US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3</a:t>
                    </a:r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F6657719-6A2C-C12B-7944-EA16C20DE406}"/>
                      </a:ext>
                    </a:extLst>
                  </p:cNvPr>
                  <p:cNvSpPr/>
                  <p:nvPr/>
                </p:nvSpPr>
                <p:spPr>
                  <a:xfrm>
                    <a:off x="310660" y="3100259"/>
                    <a:ext cx="1968445" cy="357315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Defect density L</a:t>
                    </a:r>
                    <a:r>
                      <a:rPr lang="en-US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ED1C5662-0BEE-D070-9B9B-91F17649C192}"/>
                      </a:ext>
                    </a:extLst>
                  </p:cNvPr>
                  <p:cNvSpPr/>
                  <p:nvPr/>
                </p:nvSpPr>
                <p:spPr>
                  <a:xfrm>
                    <a:off x="96149" y="2726132"/>
                    <a:ext cx="1991596" cy="285584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Thickness L</a:t>
                    </a:r>
                    <a:r>
                      <a:rPr lang="en-US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1</a:t>
                    </a:r>
                  </a:p>
                </p:txBody>
              </p:sp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AAEEBE2C-4029-B430-CF2A-D67B74C63E9A}"/>
                      </a:ext>
                    </a:extLst>
                  </p:cNvPr>
                  <p:cNvSpPr/>
                  <p:nvPr/>
                </p:nvSpPr>
                <p:spPr>
                  <a:xfrm>
                    <a:off x="208340" y="3562202"/>
                    <a:ext cx="2609968" cy="280840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Valence band DOS L</a:t>
                    </a:r>
                    <a:r>
                      <a:rPr lang="en-US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 </a:t>
                    </a:r>
                  </a:p>
                </p:txBody>
              </p:sp>
              <p:sp>
                <p:nvSpPr>
                  <p:cNvPr id="17" name="Rectangle 16">
                    <a:extLst>
                      <a:ext uri="{FF2B5EF4-FFF2-40B4-BE49-F238E27FC236}">
                        <a16:creationId xmlns:a16="http://schemas.microsoft.com/office/drawing/2014/main" id="{6F8546AF-C52B-46D2-4052-71D6E243701E}"/>
                      </a:ext>
                    </a:extLst>
                  </p:cNvPr>
                  <p:cNvSpPr/>
                  <p:nvPr/>
                </p:nvSpPr>
                <p:spPr>
                  <a:xfrm>
                    <a:off x="104179" y="3972407"/>
                    <a:ext cx="2609968" cy="26069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Acceptor density L</a:t>
                    </a:r>
                    <a:r>
                      <a:rPr lang="en-US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</a:p>
                </p:txBody>
              </p:sp>
              <p:sp>
                <p:nvSpPr>
                  <p:cNvPr id="18" name="Rectangle 17">
                    <a:extLst>
                      <a:ext uri="{FF2B5EF4-FFF2-40B4-BE49-F238E27FC236}">
                        <a16:creationId xmlns:a16="http://schemas.microsoft.com/office/drawing/2014/main" id="{09FFECB4-755D-FABE-D612-4AAC9BF603E3}"/>
                      </a:ext>
                    </a:extLst>
                  </p:cNvPr>
                  <p:cNvSpPr/>
                  <p:nvPr/>
                </p:nvSpPr>
                <p:spPr>
                  <a:xfrm>
                    <a:off x="300936" y="4387105"/>
                    <a:ext cx="2786766" cy="260692"/>
                  </a:xfrm>
                  <a:prstGeom prst="rect">
                    <a:avLst/>
                  </a:prstGeom>
                  <a:solidFill>
                    <a:schemeClr val="bg1"/>
                  </a:solidFill>
                  <a:ln>
                    <a:solidFill>
                      <a:schemeClr val="bg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Conduction Band DOS L</a:t>
                    </a:r>
                    <a:r>
                      <a:rPr lang="en-US" b="1" baseline="-2500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2</a:t>
                    </a:r>
                    <a:r>
                      <a:rPr lang="en-US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 </a:t>
                    </a:r>
                  </a:p>
                </p:txBody>
              </p:sp>
            </p:grpSp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77645CC8-6FF2-1CE5-AE8E-8446DB7C6F6B}"/>
                    </a:ext>
                  </a:extLst>
                </p:cNvPr>
                <p:cNvSpPr/>
                <p:nvPr/>
              </p:nvSpPr>
              <p:spPr>
                <a:xfrm>
                  <a:off x="3034383" y="1637171"/>
                  <a:ext cx="429842" cy="2595928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8FB76E8C-DD36-4C56-04FD-8060BA0F345F}"/>
                </a:ext>
              </a:extLst>
            </p:cNvPr>
            <p:cNvSpPr/>
            <p:nvPr/>
          </p:nvSpPr>
          <p:spPr>
            <a:xfrm>
              <a:off x="4785360" y="5080000"/>
              <a:ext cx="4114800" cy="3251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SHAP value (impact on model output)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E8B15AA9-7D63-AA08-5F25-52693AAC64EB}"/>
                </a:ext>
              </a:extLst>
            </p:cNvPr>
            <p:cNvSpPr/>
            <p:nvPr/>
          </p:nvSpPr>
          <p:spPr>
            <a:xfrm>
              <a:off x="9350030" y="1117600"/>
              <a:ext cx="665610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B005483-7A73-ABEC-F6A1-31D5695979B9}"/>
                </a:ext>
              </a:extLst>
            </p:cNvPr>
            <p:cNvSpPr/>
            <p:nvPr/>
          </p:nvSpPr>
          <p:spPr>
            <a:xfrm>
              <a:off x="9330692" y="4578349"/>
              <a:ext cx="665610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1ED85505-A44C-E1CF-2959-269A42E03E9B}"/>
                </a:ext>
              </a:extLst>
            </p:cNvPr>
            <p:cNvSpPr/>
            <p:nvPr/>
          </p:nvSpPr>
          <p:spPr>
            <a:xfrm>
              <a:off x="9562648" y="2062480"/>
              <a:ext cx="429842" cy="184047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1038E5A9-8FF0-4E17-A85A-31B3259084D9}"/>
                </a:ext>
              </a:extLst>
            </p:cNvPr>
            <p:cNvSpPr/>
            <p:nvPr/>
          </p:nvSpPr>
          <p:spPr>
            <a:xfrm rot="16200000">
              <a:off x="8114918" y="2864349"/>
              <a:ext cx="2859039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value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5486849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FCB69EA7-176A-D505-76C0-AFCC3C88E4E0}"/>
              </a:ext>
            </a:extLst>
          </p:cNvPr>
          <p:cNvGrpSpPr/>
          <p:nvPr/>
        </p:nvGrpSpPr>
        <p:grpSpPr>
          <a:xfrm>
            <a:off x="1564332" y="935296"/>
            <a:ext cx="9198315" cy="4295584"/>
            <a:chOff x="408075" y="1250256"/>
            <a:chExt cx="9198315" cy="4295584"/>
          </a:xfrm>
        </p:grpSpPr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105A3699-B05C-8ABF-A31D-93D13635EFDD}"/>
                </a:ext>
              </a:extLst>
            </p:cNvPr>
            <p:cNvGrpSpPr/>
            <p:nvPr/>
          </p:nvGrpSpPr>
          <p:grpSpPr>
            <a:xfrm>
              <a:off x="408075" y="1312160"/>
              <a:ext cx="9135220" cy="4233680"/>
              <a:chOff x="408075" y="1312160"/>
              <a:chExt cx="9135220" cy="423368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73367BE8-6992-A07D-16C9-37722DDD8B3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8705" y="1312160"/>
                <a:ext cx="6894590" cy="423368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CAC6B47E-43BF-079B-01C4-6B34248166F5}"/>
                  </a:ext>
                </a:extLst>
              </p:cNvPr>
              <p:cNvSpPr/>
              <p:nvPr/>
            </p:nvSpPr>
            <p:spPr>
              <a:xfrm>
                <a:off x="630223" y="1704021"/>
                <a:ext cx="2609968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Valence band DOS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39C1F0A9-180C-8E11-B735-A848313B502F}"/>
                  </a:ext>
                </a:extLst>
              </p:cNvPr>
              <p:cNvSpPr/>
              <p:nvPr/>
            </p:nvSpPr>
            <p:spPr>
              <a:xfrm>
                <a:off x="543980" y="2866588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Acceptor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85F857E-FB66-63CC-AE1E-19C5266B6C95}"/>
                  </a:ext>
                </a:extLst>
              </p:cNvPr>
              <p:cNvSpPr/>
              <p:nvPr/>
            </p:nvSpPr>
            <p:spPr>
              <a:xfrm>
                <a:off x="751877" y="2116030"/>
                <a:ext cx="2786766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Conduction Band DOS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94CBE61-3614-F1F0-B081-88E2AF79E7E5}"/>
                  </a:ext>
                </a:extLst>
              </p:cNvPr>
              <p:cNvSpPr/>
              <p:nvPr/>
            </p:nvSpPr>
            <p:spPr>
              <a:xfrm>
                <a:off x="408075" y="2474727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Donor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0D571EEE-445B-2833-99E5-1232D198913B}"/>
                  </a:ext>
                </a:extLst>
              </p:cNvPr>
              <p:cNvSpPr/>
              <p:nvPr/>
            </p:nvSpPr>
            <p:spPr>
              <a:xfrm>
                <a:off x="466558" y="3258449"/>
                <a:ext cx="1991596" cy="2855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Bandgap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0A49ED7E-125C-57C0-639E-5884859C5CDE}"/>
                  </a:ext>
                </a:extLst>
              </p:cNvPr>
              <p:cNvSpPr/>
              <p:nvPr/>
            </p:nvSpPr>
            <p:spPr>
              <a:xfrm>
                <a:off x="518648" y="3675202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 affinity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9A57E282-9471-5AA3-D5A9-C33E9BE00F13}"/>
                  </a:ext>
                </a:extLst>
              </p:cNvPr>
              <p:cNvSpPr/>
              <p:nvPr/>
            </p:nvSpPr>
            <p:spPr>
              <a:xfrm>
                <a:off x="528479" y="4088314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Electron affinity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1CA59EF0-CE79-24DE-7354-25DB71EAA223}"/>
                  </a:ext>
                </a:extLst>
              </p:cNvPr>
              <p:cNvSpPr/>
              <p:nvPr/>
            </p:nvSpPr>
            <p:spPr>
              <a:xfrm>
                <a:off x="732130" y="4425760"/>
                <a:ext cx="1968445" cy="3573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6CBF503B-29FE-7EAA-6C2C-5CB1ED413C45}"/>
                  </a:ext>
                </a:extLst>
              </p:cNvPr>
              <p:cNvSpPr/>
              <p:nvPr/>
            </p:nvSpPr>
            <p:spPr>
              <a:xfrm>
                <a:off x="3242436" y="1704021"/>
                <a:ext cx="394527" cy="31400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13C7485F-D3D8-6F29-DAC8-7A30C707894D}"/>
                  </a:ext>
                </a:extLst>
              </p:cNvPr>
              <p:cNvSpPr/>
              <p:nvPr/>
            </p:nvSpPr>
            <p:spPr>
              <a:xfrm>
                <a:off x="3013527" y="2507892"/>
                <a:ext cx="370390" cy="227518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DF06769-F759-0C9D-8E75-C4BD650B7783}"/>
                </a:ext>
              </a:extLst>
            </p:cNvPr>
            <p:cNvSpPr/>
            <p:nvPr/>
          </p:nvSpPr>
          <p:spPr>
            <a:xfrm>
              <a:off x="3980725" y="5220720"/>
              <a:ext cx="4114800" cy="3251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SHAP value (impact on model output)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883913B-54F9-D98C-CD66-65142746154E}"/>
                </a:ext>
              </a:extLst>
            </p:cNvPr>
            <p:cNvSpPr/>
            <p:nvPr/>
          </p:nvSpPr>
          <p:spPr>
            <a:xfrm rot="16200000">
              <a:off x="7692667" y="3101414"/>
              <a:ext cx="2859039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Feature value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D1F753E7-9000-7B96-F6D2-B0BF8CBCB1E4}"/>
                </a:ext>
              </a:extLst>
            </p:cNvPr>
            <p:cNvSpPr/>
            <p:nvPr/>
          </p:nvSpPr>
          <p:spPr>
            <a:xfrm>
              <a:off x="9282896" y="2507892"/>
              <a:ext cx="260399" cy="1580422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DD5DA6D-CF2E-5024-AF3A-D442098ABB51}"/>
                </a:ext>
              </a:extLst>
            </p:cNvPr>
            <p:cNvSpPr/>
            <p:nvPr/>
          </p:nvSpPr>
          <p:spPr>
            <a:xfrm>
              <a:off x="8940780" y="1250256"/>
              <a:ext cx="665610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High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A03D9495-0D2B-98EA-6E58-B5A92C5E9D82}"/>
                </a:ext>
              </a:extLst>
            </p:cNvPr>
            <p:cNvSpPr/>
            <p:nvPr/>
          </p:nvSpPr>
          <p:spPr>
            <a:xfrm>
              <a:off x="8933014" y="4803605"/>
              <a:ext cx="665610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Low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63964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47D759FE-4C86-A2A2-9F65-4143FF6AF866}"/>
              </a:ext>
            </a:extLst>
          </p:cNvPr>
          <p:cNvGrpSpPr/>
          <p:nvPr/>
        </p:nvGrpSpPr>
        <p:grpSpPr>
          <a:xfrm>
            <a:off x="1628680" y="1293261"/>
            <a:ext cx="8825861" cy="4271478"/>
            <a:chOff x="1821328" y="1491507"/>
            <a:chExt cx="8825861" cy="4271478"/>
          </a:xfrm>
        </p:grpSpPr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5867010A-517D-1F1F-EBAA-9FE3B0DD1B8A}"/>
                </a:ext>
              </a:extLst>
            </p:cNvPr>
            <p:cNvGrpSpPr/>
            <p:nvPr/>
          </p:nvGrpSpPr>
          <p:grpSpPr>
            <a:xfrm>
              <a:off x="1821328" y="1491507"/>
              <a:ext cx="8825861" cy="4271478"/>
              <a:chOff x="783784" y="1282959"/>
              <a:chExt cx="8825861" cy="427147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9DBAB4B4-FA52-2B31-AB39-08B0A2B35A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8705" y="1312160"/>
                <a:ext cx="6894590" cy="423368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2A2154EC-AD3E-E0E3-B72C-BE39B1BE74A8}"/>
                  </a:ext>
                </a:extLst>
              </p:cNvPr>
              <p:cNvSpPr/>
              <p:nvPr/>
            </p:nvSpPr>
            <p:spPr>
              <a:xfrm>
                <a:off x="1084000" y="1717040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4F4173D3-271F-B084-DA45-E786F4579061}"/>
                  </a:ext>
                </a:extLst>
              </p:cNvPr>
              <p:cNvSpPr/>
              <p:nvPr/>
            </p:nvSpPr>
            <p:spPr>
              <a:xfrm>
                <a:off x="1084000" y="2086006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4EEB87F3-6E6E-6E23-7A1A-14D869771772}"/>
                  </a:ext>
                </a:extLst>
              </p:cNvPr>
              <p:cNvSpPr/>
              <p:nvPr/>
            </p:nvSpPr>
            <p:spPr>
              <a:xfrm>
                <a:off x="1124291" y="2426147"/>
                <a:ext cx="1968445" cy="3573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DB5DC30A-CE13-E255-44E5-13E986ABB879}"/>
                  </a:ext>
                </a:extLst>
              </p:cNvPr>
              <p:cNvSpPr/>
              <p:nvPr/>
            </p:nvSpPr>
            <p:spPr>
              <a:xfrm>
                <a:off x="1075176" y="2831027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E3FA9F1-FADD-BA35-46ED-157D5C7AD4AF}"/>
                  </a:ext>
                </a:extLst>
              </p:cNvPr>
              <p:cNvSpPr/>
              <p:nvPr/>
            </p:nvSpPr>
            <p:spPr>
              <a:xfrm>
                <a:off x="1116083" y="3188385"/>
                <a:ext cx="1968445" cy="35731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Defect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9302B023-F710-3B11-C0FC-3D9B7ABE6600}"/>
                  </a:ext>
                </a:extLst>
              </p:cNvPr>
              <p:cNvSpPr/>
              <p:nvPr/>
            </p:nvSpPr>
            <p:spPr>
              <a:xfrm>
                <a:off x="1005929" y="3626029"/>
                <a:ext cx="2609968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Valence band DOS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A7CD3432-8B9B-6EB9-DF78-741D9EEA1625}"/>
                  </a:ext>
                </a:extLst>
              </p:cNvPr>
              <p:cNvSpPr/>
              <p:nvPr/>
            </p:nvSpPr>
            <p:spPr>
              <a:xfrm>
                <a:off x="783784" y="4036234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Donor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DB0292BF-519C-67B1-4389-95399E371369}"/>
                  </a:ext>
                </a:extLst>
              </p:cNvPr>
              <p:cNvSpPr/>
              <p:nvPr/>
            </p:nvSpPr>
            <p:spPr>
              <a:xfrm>
                <a:off x="892563" y="4440618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Acceptor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82A1C2D-5387-29DE-FC56-C0A33F0EC0AD}"/>
                  </a:ext>
                </a:extLst>
              </p:cNvPr>
              <p:cNvSpPr/>
              <p:nvPr/>
            </p:nvSpPr>
            <p:spPr>
              <a:xfrm>
                <a:off x="3192379" y="1717040"/>
                <a:ext cx="400060" cy="177962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8B99CF27-78CE-2FBA-6F73-7EC25F33B1D3}"/>
                  </a:ext>
                </a:extLst>
              </p:cNvPr>
              <p:cNvSpPr/>
              <p:nvPr/>
            </p:nvSpPr>
            <p:spPr>
              <a:xfrm>
                <a:off x="4058521" y="5229317"/>
                <a:ext cx="4114800" cy="325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SHAP value (impact on model output)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2A06711E-10F3-10CF-7BC3-0B05FAAE9937}"/>
                  </a:ext>
                </a:extLst>
              </p:cNvPr>
              <p:cNvSpPr/>
              <p:nvPr/>
            </p:nvSpPr>
            <p:spPr>
              <a:xfrm>
                <a:off x="8944035" y="1282959"/>
                <a:ext cx="665610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AFF901D0-590D-3CF9-7EC2-9C3313FAE930}"/>
                  </a:ext>
                </a:extLst>
              </p:cNvPr>
              <p:cNvSpPr/>
              <p:nvPr/>
            </p:nvSpPr>
            <p:spPr>
              <a:xfrm>
                <a:off x="8924697" y="4743708"/>
                <a:ext cx="665610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4DB72AD7-1E5D-EF64-5076-39BA7454660C}"/>
                  </a:ext>
                </a:extLst>
              </p:cNvPr>
              <p:cNvSpPr/>
              <p:nvPr/>
            </p:nvSpPr>
            <p:spPr>
              <a:xfrm rot="16200000">
                <a:off x="7708923" y="3029708"/>
                <a:ext cx="2859039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value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AA6EE26D-D94E-5DB5-561F-DB0D1FB4AF0B}"/>
                  </a:ext>
                </a:extLst>
              </p:cNvPr>
              <p:cNvSpPr/>
              <p:nvPr/>
            </p:nvSpPr>
            <p:spPr>
              <a:xfrm>
                <a:off x="9331483" y="2630905"/>
                <a:ext cx="145288" cy="12759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CDC22D5-E331-D9B3-EE39-614BCAE20C2F}"/>
                </a:ext>
              </a:extLst>
            </p:cNvPr>
            <p:cNvSpPr/>
            <p:nvPr/>
          </p:nvSpPr>
          <p:spPr>
            <a:xfrm>
              <a:off x="4122072" y="2634695"/>
              <a:ext cx="107851" cy="38651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68944C8-D7FD-10F7-E53B-E3022412C178}"/>
                </a:ext>
              </a:extLst>
            </p:cNvPr>
            <p:cNvSpPr/>
            <p:nvPr/>
          </p:nvSpPr>
          <p:spPr>
            <a:xfrm>
              <a:off x="4048710" y="3435170"/>
              <a:ext cx="292012" cy="28084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0814985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CD7E8B5-388B-9EDE-C537-E870407F2923}"/>
              </a:ext>
            </a:extLst>
          </p:cNvPr>
          <p:cNvGrpSpPr/>
          <p:nvPr/>
        </p:nvGrpSpPr>
        <p:grpSpPr>
          <a:xfrm>
            <a:off x="1769104" y="1285240"/>
            <a:ext cx="9125464" cy="4287520"/>
            <a:chOff x="1769104" y="1285240"/>
            <a:chExt cx="9125464" cy="4287520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45BF2940-95C6-9D78-5B66-9BAEC4E64525}"/>
                </a:ext>
              </a:extLst>
            </p:cNvPr>
            <p:cNvGrpSpPr/>
            <p:nvPr/>
          </p:nvGrpSpPr>
          <p:grpSpPr>
            <a:xfrm>
              <a:off x="1769104" y="1285240"/>
              <a:ext cx="9125464" cy="4287520"/>
              <a:chOff x="500225" y="1266919"/>
              <a:chExt cx="9125464" cy="4287520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EA00C1DD-ADF1-458F-B5FA-2650611E987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648705" y="1312160"/>
                <a:ext cx="6894590" cy="4233680"/>
              </a:xfrm>
              <a:prstGeom prst="rect">
                <a:avLst/>
              </a:prstGeom>
            </p:spPr>
          </p:pic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0890BC8-ED96-F74C-AF78-64260494CD34}"/>
                  </a:ext>
                </a:extLst>
              </p:cNvPr>
              <p:cNvSpPr/>
              <p:nvPr/>
            </p:nvSpPr>
            <p:spPr>
              <a:xfrm>
                <a:off x="500225" y="1726172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Donor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74154E23-FD1A-544F-4BC0-47AD1BA1F1D2}"/>
                  </a:ext>
                </a:extLst>
              </p:cNvPr>
              <p:cNvSpPr/>
              <p:nvPr/>
            </p:nvSpPr>
            <p:spPr>
              <a:xfrm>
                <a:off x="725415" y="2103994"/>
                <a:ext cx="2609968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Valence band DOS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00B23C5-B413-D3FB-8251-84476EA2EB8C}"/>
                  </a:ext>
                </a:extLst>
              </p:cNvPr>
              <p:cNvSpPr/>
              <p:nvPr/>
            </p:nvSpPr>
            <p:spPr>
              <a:xfrm>
                <a:off x="636493" y="2499606"/>
                <a:ext cx="2609968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Acceptor density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60E609AA-63BC-9FBC-9B5A-84716BA6086A}"/>
                  </a:ext>
                </a:extLst>
              </p:cNvPr>
              <p:cNvSpPr/>
              <p:nvPr/>
            </p:nvSpPr>
            <p:spPr>
              <a:xfrm>
                <a:off x="802104" y="2865492"/>
                <a:ext cx="2851355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Conduction band DOS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FAD5DBA7-6045-B3DB-15A1-A2B9B6FE2578}"/>
                  </a:ext>
                </a:extLst>
              </p:cNvPr>
              <p:cNvSpPr/>
              <p:nvPr/>
            </p:nvSpPr>
            <p:spPr>
              <a:xfrm>
                <a:off x="737313" y="3229750"/>
                <a:ext cx="2609968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Valence band DOS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D02342E2-D118-CFCC-7A2A-0F1ADDD7C671}"/>
                  </a:ext>
                </a:extLst>
              </p:cNvPr>
              <p:cNvSpPr/>
              <p:nvPr/>
            </p:nvSpPr>
            <p:spPr>
              <a:xfrm>
                <a:off x="816758" y="3637212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1E27D5E9-E131-834B-285E-BF856FE009B7}"/>
                  </a:ext>
                </a:extLst>
              </p:cNvPr>
              <p:cNvSpPr/>
              <p:nvPr/>
            </p:nvSpPr>
            <p:spPr>
              <a:xfrm>
                <a:off x="795836" y="4401006"/>
                <a:ext cx="1617500" cy="26874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Thickness 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3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A7D47F8F-03FA-ECF8-7A3C-23F6710DDE9B}"/>
                  </a:ext>
                </a:extLst>
              </p:cNvPr>
              <p:cNvSpPr/>
              <p:nvPr/>
            </p:nvSpPr>
            <p:spPr>
              <a:xfrm>
                <a:off x="900614" y="4029734"/>
                <a:ext cx="2851355" cy="26069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Dielectric permittivity</a:t>
                </a:r>
                <a:r>
                  <a:rPr lang="en-US"/>
                  <a:t> </a:t>
                </a:r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</a:t>
                </a:r>
                <a:r>
                  <a:rPr lang="en-US" b="1" baseline="-2500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endParaRPr lang="en-US"/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30C4D747-B21B-28B4-0C5B-2FB6DF122994}"/>
                  </a:ext>
                </a:extLst>
              </p:cNvPr>
              <p:cNvSpPr/>
              <p:nvPr/>
            </p:nvSpPr>
            <p:spPr>
              <a:xfrm>
                <a:off x="3214377" y="1726172"/>
                <a:ext cx="324290" cy="98443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F5B38275-B1D4-2324-C461-0392B9767CF2}"/>
                  </a:ext>
                </a:extLst>
              </p:cNvPr>
              <p:cNvSpPr/>
              <p:nvPr/>
            </p:nvSpPr>
            <p:spPr>
              <a:xfrm>
                <a:off x="3214377" y="3637212"/>
                <a:ext cx="324290" cy="28084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1145A2A1-DABB-CC1E-8553-F7A21D00D067}"/>
                  </a:ext>
                </a:extLst>
              </p:cNvPr>
              <p:cNvSpPr/>
              <p:nvPr/>
            </p:nvSpPr>
            <p:spPr>
              <a:xfrm>
                <a:off x="3214377" y="4401006"/>
                <a:ext cx="324290" cy="4205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B3DB4533-7592-8E5D-0056-B13F2870D7E2}"/>
                  </a:ext>
                </a:extLst>
              </p:cNvPr>
              <p:cNvSpPr/>
              <p:nvPr/>
            </p:nvSpPr>
            <p:spPr>
              <a:xfrm>
                <a:off x="4234985" y="5229319"/>
                <a:ext cx="4114800" cy="32512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SHAP value (impact on model output)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F205D91A-6BFF-F247-6907-7161B5193118}"/>
                  </a:ext>
                </a:extLst>
              </p:cNvPr>
              <p:cNvSpPr/>
              <p:nvPr/>
            </p:nvSpPr>
            <p:spPr>
              <a:xfrm>
                <a:off x="8960079" y="1266919"/>
                <a:ext cx="665610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</a:t>
                </a: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13ECFCC-4EB2-6344-196B-BC739CF7594C}"/>
                  </a:ext>
                </a:extLst>
              </p:cNvPr>
              <p:cNvSpPr/>
              <p:nvPr/>
            </p:nvSpPr>
            <p:spPr>
              <a:xfrm>
                <a:off x="8940741" y="4727668"/>
                <a:ext cx="665610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Low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91E0C378-F008-0CE7-E506-929474774380}"/>
                  </a:ext>
                </a:extLst>
              </p:cNvPr>
              <p:cNvSpPr/>
              <p:nvPr/>
            </p:nvSpPr>
            <p:spPr>
              <a:xfrm rot="16200000">
                <a:off x="7724967" y="3013668"/>
                <a:ext cx="2859039" cy="38608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Feature value</a:t>
                </a:r>
              </a:p>
            </p:txBody>
          </p:sp>
          <p:sp>
            <p:nvSpPr>
              <p:cNvPr id="23" name="Rectangle 22">
                <a:extLst>
                  <a:ext uri="{FF2B5EF4-FFF2-40B4-BE49-F238E27FC236}">
                    <a16:creationId xmlns:a16="http://schemas.microsoft.com/office/drawing/2014/main" id="{880C1E6D-E3BD-893A-43AF-73B95FE078E7}"/>
                  </a:ext>
                </a:extLst>
              </p:cNvPr>
              <p:cNvSpPr/>
              <p:nvPr/>
            </p:nvSpPr>
            <p:spPr>
              <a:xfrm>
                <a:off x="9331485" y="2710606"/>
                <a:ext cx="195768" cy="119535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19D0C20B-75CE-2E87-3E83-564376E2003D}"/>
                </a:ext>
              </a:extLst>
            </p:cNvPr>
            <p:cNvSpPr/>
            <p:nvPr/>
          </p:nvSpPr>
          <p:spPr>
            <a:xfrm>
              <a:off x="4168877" y="1671320"/>
              <a:ext cx="560439" cy="3860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9509911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D27C08-57A3-BB7F-93CF-513CE3F6E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731514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04741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5B2F49-13DE-1833-585E-FA65CDB022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731514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989615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F67551-FB25-8B9F-98DB-8670B8F7EA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731514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0449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A187962-E417-BD1F-F205-48E9AC94A7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4283" y="731514"/>
            <a:ext cx="9043434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5076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02E563-00AD-8514-4917-CA0A5F0993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520" y="731514"/>
            <a:ext cx="5394971" cy="53949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F89DE65-6574-B501-73CF-424F26A820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7250" y="731513"/>
            <a:ext cx="5394971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79757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FA5889-FA21-AE5B-1F21-26B02325AE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65" y="643023"/>
            <a:ext cx="5394971" cy="5394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E454796-8F75-F863-0BE5-2DD1EA6CDF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731514"/>
            <a:ext cx="5394971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0791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D3AE03E4-4EBB-089E-22FA-4E7AE7ADD20F}"/>
              </a:ext>
            </a:extLst>
          </p:cNvPr>
          <p:cNvGrpSpPr/>
          <p:nvPr/>
        </p:nvGrpSpPr>
        <p:grpSpPr>
          <a:xfrm>
            <a:off x="313052" y="-3047818"/>
            <a:ext cx="11565895" cy="9290498"/>
            <a:chOff x="382124" y="-3140416"/>
            <a:chExt cx="11565895" cy="9290498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ECF4D223-0330-DBEB-E2B5-367AAB4A8B00}"/>
                </a:ext>
              </a:extLst>
            </p:cNvPr>
            <p:cNvGrpSpPr/>
            <p:nvPr/>
          </p:nvGrpSpPr>
          <p:grpSpPr>
            <a:xfrm>
              <a:off x="404984" y="624834"/>
              <a:ext cx="11543035" cy="5525248"/>
              <a:chOff x="305924" y="502914"/>
              <a:chExt cx="11543035" cy="5525248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8F76827E-C2DF-BBCC-B19C-8AC07EE88D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5924" y="633191"/>
                <a:ext cx="5385827" cy="5394971"/>
              </a:xfrm>
              <a:prstGeom prst="rect">
                <a:avLst/>
              </a:prstGeom>
            </p:spPr>
          </p:pic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5E48EBCE-CCA7-AFC5-D233-BE101D2AB0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63132" y="502914"/>
                <a:ext cx="5385827" cy="5394971"/>
              </a:xfrm>
              <a:prstGeom prst="rect">
                <a:avLst/>
              </a:prstGeom>
            </p:spPr>
          </p:pic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40FD6EAC-7182-02B4-8F1E-0864BE2A6E88}"/>
                  </a:ext>
                </a:extLst>
              </p:cNvPr>
              <p:cNvSpPr/>
              <p:nvPr/>
            </p:nvSpPr>
            <p:spPr>
              <a:xfrm>
                <a:off x="3383280" y="5730240"/>
                <a:ext cx="548640" cy="228600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4BCF4FA-377E-981E-4203-FF98703A8E28}"/>
                  </a:ext>
                </a:extLst>
              </p:cNvPr>
              <p:cNvSpPr txBox="1"/>
              <p:nvPr/>
            </p:nvSpPr>
            <p:spPr>
              <a:xfrm>
                <a:off x="3307080" y="5628350"/>
                <a:ext cx="7620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b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</a:t>
                </a:r>
                <a:r>
                  <a:rPr lang="en-US" b="1" baseline="-2500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OC 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2945BA1-5E9E-C356-0E06-E71D20F6CFE2}"/>
                </a:ext>
              </a:extLst>
            </p:cNvPr>
            <p:cNvSpPr/>
            <p:nvPr/>
          </p:nvSpPr>
          <p:spPr>
            <a:xfrm>
              <a:off x="404984" y="2491740"/>
              <a:ext cx="318916" cy="54102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D8B6092-E00B-92EF-D868-49BB858B8032}"/>
                </a:ext>
              </a:extLst>
            </p:cNvPr>
            <p:cNvSpPr txBox="1"/>
            <p:nvPr/>
          </p:nvSpPr>
          <p:spPr>
            <a:xfrm rot="16200000">
              <a:off x="-2481210" y="-154186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 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57546A1-14BF-E249-52E4-498A0BF0AF9C}"/>
                </a:ext>
              </a:extLst>
            </p:cNvPr>
            <p:cNvSpPr/>
            <p:nvPr/>
          </p:nvSpPr>
          <p:spPr>
            <a:xfrm>
              <a:off x="9635614" y="5710942"/>
              <a:ext cx="707923" cy="2277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323572B-E292-CB45-FA54-B890C6ECD666}"/>
                </a:ext>
              </a:extLst>
            </p:cNvPr>
            <p:cNvSpPr/>
            <p:nvPr/>
          </p:nvSpPr>
          <p:spPr>
            <a:xfrm rot="16200000">
              <a:off x="6381527" y="2412219"/>
              <a:ext cx="707923" cy="22774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8887636-B464-3420-6AEB-1FBCC3786BD5}"/>
                </a:ext>
              </a:extLst>
            </p:cNvPr>
            <p:cNvSpPr txBox="1"/>
            <p:nvPr/>
          </p:nvSpPr>
          <p:spPr>
            <a:xfrm rot="16200000">
              <a:off x="3668893" y="-277082"/>
              <a:ext cx="60960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 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2C93682-10B4-CCFC-0379-B1592DF7F370}"/>
                </a:ext>
              </a:extLst>
            </p:cNvPr>
            <p:cNvSpPr txBox="1"/>
            <p:nvPr/>
          </p:nvSpPr>
          <p:spPr>
            <a:xfrm>
              <a:off x="9552940" y="5618190"/>
              <a:ext cx="762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V</a:t>
              </a:r>
              <a:r>
                <a:rPr lang="en-US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OC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4214626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F8E163-1D23-D0EE-F12C-C59A78C9A9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51" y="781167"/>
            <a:ext cx="5385827" cy="5394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A1F388-16A7-D708-2915-F7ECB18FCE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781167"/>
            <a:ext cx="5385827" cy="539497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FCC3022-4D0F-396C-C4E4-A0ECCF8F5316}"/>
              </a:ext>
            </a:extLst>
          </p:cNvPr>
          <p:cNvSpPr/>
          <p:nvPr/>
        </p:nvSpPr>
        <p:spPr>
          <a:xfrm>
            <a:off x="3362960" y="5867400"/>
            <a:ext cx="675640" cy="2336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BB91071-0E95-0EC4-BEA4-71BD34A47AB9}"/>
              </a:ext>
            </a:extLst>
          </p:cNvPr>
          <p:cNvSpPr/>
          <p:nvPr/>
        </p:nvSpPr>
        <p:spPr>
          <a:xfrm>
            <a:off x="9108440" y="5857240"/>
            <a:ext cx="599440" cy="30873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4EFCEEA-31C9-3429-F858-5012751EE40B}"/>
              </a:ext>
            </a:extLst>
          </p:cNvPr>
          <p:cNvSpPr/>
          <p:nvPr/>
        </p:nvSpPr>
        <p:spPr>
          <a:xfrm>
            <a:off x="318871" y="2463800"/>
            <a:ext cx="214529" cy="53848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73DC7D4-3481-193D-6354-7D7BE3A45AD4}"/>
              </a:ext>
            </a:extLst>
          </p:cNvPr>
          <p:cNvSpPr/>
          <p:nvPr/>
        </p:nvSpPr>
        <p:spPr>
          <a:xfrm>
            <a:off x="6019800" y="2413000"/>
            <a:ext cx="335424" cy="61976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960015-B762-5D21-0E6E-96CB0B802744}"/>
              </a:ext>
            </a:extLst>
          </p:cNvPr>
          <p:cNvSpPr txBox="1"/>
          <p:nvPr/>
        </p:nvSpPr>
        <p:spPr>
          <a:xfrm>
            <a:off x="3319780" y="5763724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C44566-A687-AF47-5304-B544BEF0FBCA}"/>
              </a:ext>
            </a:extLst>
          </p:cNvPr>
          <p:cNvSpPr txBox="1"/>
          <p:nvPr/>
        </p:nvSpPr>
        <p:spPr>
          <a:xfrm>
            <a:off x="9011920" y="5765510"/>
            <a:ext cx="76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365420-6792-DA2D-3CD9-2EE77468AA7F}"/>
              </a:ext>
            </a:extLst>
          </p:cNvPr>
          <p:cNvSpPr txBox="1"/>
          <p:nvPr/>
        </p:nvSpPr>
        <p:spPr>
          <a:xfrm rot="16200000">
            <a:off x="-2598050" y="-12878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6E6E67-674C-182F-BDB3-6525EC638820}"/>
              </a:ext>
            </a:extLst>
          </p:cNvPr>
          <p:cNvSpPr txBox="1"/>
          <p:nvPr/>
        </p:nvSpPr>
        <p:spPr>
          <a:xfrm rot="16200000">
            <a:off x="3126130" y="-15025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en-US" b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OC </a:t>
            </a:r>
          </a:p>
        </p:txBody>
      </p:sp>
    </p:spTree>
    <p:extLst>
      <p:ext uri="{BB962C8B-B14F-4D97-AF65-F5344CB8AC3E}">
        <p14:creationId xmlns:p14="http://schemas.microsoft.com/office/powerpoint/2010/main" val="261397799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F4804ECB-FFFE-8EA6-CFE3-8FEBD8587959}"/>
              </a:ext>
            </a:extLst>
          </p:cNvPr>
          <p:cNvGrpSpPr/>
          <p:nvPr/>
        </p:nvGrpSpPr>
        <p:grpSpPr>
          <a:xfrm>
            <a:off x="375582" y="544702"/>
            <a:ext cx="11190600" cy="5473628"/>
            <a:chOff x="375582" y="544702"/>
            <a:chExt cx="11190600" cy="547362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A27E9BF8-9F45-E61B-A1E7-57B9F4F30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9675" y="544702"/>
              <a:ext cx="5394971" cy="53949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48D9983-FBAD-4E06-C4A5-DF1A8148BE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71211" y="623359"/>
              <a:ext cx="5394971" cy="5394971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581D4587-C16E-0A95-23CA-18EE18D4B965}"/>
                </a:ext>
              </a:extLst>
            </p:cNvPr>
            <p:cNvSpPr/>
            <p:nvPr/>
          </p:nvSpPr>
          <p:spPr>
            <a:xfrm>
              <a:off x="3518704" y="5567423"/>
              <a:ext cx="659757" cy="45090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82D69B08-0CBC-D969-489C-CD8CFB5F91D9}"/>
                </a:ext>
              </a:extLst>
            </p:cNvPr>
            <p:cNvSpPr/>
            <p:nvPr/>
          </p:nvSpPr>
          <p:spPr>
            <a:xfrm>
              <a:off x="9259745" y="5717894"/>
              <a:ext cx="567160" cy="30043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370CB3C-CB70-E998-403B-134082A41B84}"/>
                </a:ext>
              </a:extLst>
            </p:cNvPr>
            <p:cNvSpPr/>
            <p:nvPr/>
          </p:nvSpPr>
          <p:spPr>
            <a:xfrm>
              <a:off x="399675" y="2280213"/>
              <a:ext cx="317955" cy="497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1E88E20-7A58-683A-DA3A-DA54E3294255}"/>
                </a:ext>
              </a:extLst>
            </p:cNvPr>
            <p:cNvSpPr/>
            <p:nvPr/>
          </p:nvSpPr>
          <p:spPr>
            <a:xfrm>
              <a:off x="6171211" y="2338088"/>
              <a:ext cx="333761" cy="497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2400EFCE-DD6D-694B-61C3-1137F4B8D135}"/>
                </a:ext>
              </a:extLst>
            </p:cNvPr>
            <p:cNvSpPr txBox="1"/>
            <p:nvPr/>
          </p:nvSpPr>
          <p:spPr>
            <a:xfrm>
              <a:off x="3443033" y="5534218"/>
              <a:ext cx="9144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2542A8C-CBAA-0244-CAD0-E1784A79EDA8}"/>
                </a:ext>
              </a:extLst>
            </p:cNvPr>
            <p:cNvSpPr txBox="1"/>
            <p:nvPr/>
          </p:nvSpPr>
          <p:spPr>
            <a:xfrm>
              <a:off x="9209162" y="5617168"/>
              <a:ext cx="9144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FD5953C-EAA5-E3B6-F60D-58B4DEBFE35C}"/>
                </a:ext>
              </a:extLst>
            </p:cNvPr>
            <p:cNvSpPr txBox="1"/>
            <p:nvPr/>
          </p:nvSpPr>
          <p:spPr>
            <a:xfrm rot="16200000">
              <a:off x="110743" y="2157164"/>
              <a:ext cx="9144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21C237-8837-D32B-D0C7-065EE597DBB5}"/>
                </a:ext>
              </a:extLst>
            </p:cNvPr>
            <p:cNvSpPr txBox="1"/>
            <p:nvPr/>
          </p:nvSpPr>
          <p:spPr>
            <a:xfrm rot="16200000">
              <a:off x="5876865" y="2240114"/>
              <a:ext cx="9144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003341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E8A261CF-2748-860F-4872-9C00C926D075}"/>
              </a:ext>
            </a:extLst>
          </p:cNvPr>
          <p:cNvGrpSpPr/>
          <p:nvPr/>
        </p:nvGrpSpPr>
        <p:grpSpPr>
          <a:xfrm>
            <a:off x="112170" y="916709"/>
            <a:ext cx="11515961" cy="5603315"/>
            <a:chOff x="112170" y="916709"/>
            <a:chExt cx="11515961" cy="560331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676FBD5D-8A0C-7BF6-5565-85E670FF4B1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0045" y="916709"/>
              <a:ext cx="5532131" cy="539497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6223944-870E-533F-888B-B4EF2C500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096000" y="1125053"/>
              <a:ext cx="5532131" cy="5394971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0CC1E1C-A6C5-CDF3-689E-A73377D33D94}"/>
                </a:ext>
              </a:extLst>
            </p:cNvPr>
            <p:cNvSpPr/>
            <p:nvPr/>
          </p:nvSpPr>
          <p:spPr>
            <a:xfrm>
              <a:off x="3333510" y="5949387"/>
              <a:ext cx="648182" cy="46298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36D4C86-0F75-B72F-E9E7-97E27D221C1F}"/>
                </a:ext>
              </a:extLst>
            </p:cNvPr>
            <p:cNvSpPr/>
            <p:nvPr/>
          </p:nvSpPr>
          <p:spPr>
            <a:xfrm>
              <a:off x="9282896" y="6204030"/>
              <a:ext cx="636608" cy="2083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FA747687-FDCA-E760-5828-00D6D4DFC90A}"/>
                </a:ext>
              </a:extLst>
            </p:cNvPr>
            <p:cNvSpPr/>
            <p:nvPr/>
          </p:nvSpPr>
          <p:spPr>
            <a:xfrm>
              <a:off x="112170" y="2639028"/>
              <a:ext cx="393824" cy="4977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859C2E6-1396-B786-7323-15D935BBA096}"/>
                </a:ext>
              </a:extLst>
            </p:cNvPr>
            <p:cNvSpPr/>
            <p:nvPr/>
          </p:nvSpPr>
          <p:spPr>
            <a:xfrm>
              <a:off x="6038125" y="2801073"/>
              <a:ext cx="393826" cy="5440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D6A4DFF-B748-3167-9794-C708495E30AB}"/>
                </a:ext>
              </a:extLst>
            </p:cNvPr>
            <p:cNvSpPr txBox="1"/>
            <p:nvPr/>
          </p:nvSpPr>
          <p:spPr>
            <a:xfrm>
              <a:off x="3304133" y="5904609"/>
              <a:ext cx="9144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17FB599-4390-3FE6-AF62-65E39A6EDE47}"/>
                </a:ext>
              </a:extLst>
            </p:cNvPr>
            <p:cNvSpPr txBox="1"/>
            <p:nvPr/>
          </p:nvSpPr>
          <p:spPr>
            <a:xfrm>
              <a:off x="9225021" y="6115841"/>
              <a:ext cx="9144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89E1451-A1E7-F63E-D2D1-AEB85EF56087}"/>
                </a:ext>
              </a:extLst>
            </p:cNvPr>
            <p:cNvSpPr txBox="1"/>
            <p:nvPr/>
          </p:nvSpPr>
          <p:spPr>
            <a:xfrm rot="16200000">
              <a:off x="-120748" y="2492833"/>
              <a:ext cx="9144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327D467-6F3C-C45A-3376-7A1D677367AE}"/>
                </a:ext>
              </a:extLst>
            </p:cNvPr>
            <p:cNvSpPr txBox="1"/>
            <p:nvPr/>
          </p:nvSpPr>
          <p:spPr>
            <a:xfrm rot="16200000">
              <a:off x="5796435" y="2695523"/>
              <a:ext cx="914400" cy="3847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900" b="1">
                  <a:latin typeface="Times New Roman" panose="02020603050405020304" pitchFamily="18" charset="0"/>
                  <a:cs typeface="Times New Roman" panose="02020603050405020304" pitchFamily="18" charset="0"/>
                </a:rPr>
                <a:t>J</a:t>
              </a:r>
              <a:r>
                <a:rPr lang="en-US" sz="1900" b="1" baseline="-25000">
                  <a:latin typeface="Times New Roman" panose="02020603050405020304" pitchFamily="18" charset="0"/>
                  <a:cs typeface="Times New Roman" panose="02020603050405020304" pitchFamily="18" charset="0"/>
                </a:rPr>
                <a:t>SC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3546217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CD1F12-3E5E-915E-6E54-AAA870F4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3409" y="731514"/>
            <a:ext cx="5385827" cy="5394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018929-E638-074D-A970-73609DEA1C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820004"/>
            <a:ext cx="5385827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441229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26DA3B-9DEA-8A08-7D49-8F35FBB9AA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551" y="574198"/>
            <a:ext cx="5495555" cy="539497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591E6E8-7766-5849-F060-A2E216E6B2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5106" y="731514"/>
            <a:ext cx="5495555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79116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88310E9-981E-4E98-5D53-7FA0D8A5FA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0"/>
            <a:ext cx="8958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29654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EDF8160-8A01-CCA3-1AB9-5DF8E37229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0"/>
            <a:ext cx="8958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91070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549316-443A-9DB9-4BB1-980D577AA5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0"/>
            <a:ext cx="8958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29154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B13033-DDF4-91BA-2F53-84A063EE75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-9832"/>
            <a:ext cx="8958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74409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1507C4B-59A6-0C27-F78C-C32236BDB1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67149" y="615664"/>
            <a:ext cx="5257701" cy="6242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62436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A05D8C-1242-55E4-BECE-1620FE3C65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43" y="0"/>
            <a:ext cx="4572000" cy="6858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113F08D-4379-522E-D483-F4E749544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2426" y="0"/>
            <a:ext cx="457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9883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8529DA5-F1BF-2710-F528-098D870C06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6851" y="0"/>
            <a:ext cx="895829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718848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360A27-8EC3-A2D5-9A8B-BA392062BB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2574" y="206477"/>
            <a:ext cx="89732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69268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715F2D-472D-C5DC-6A69-CBF2EF42E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14"/>
          <a:stretch>
            <a:fillRect/>
          </a:stretch>
        </p:blipFill>
        <p:spPr>
          <a:xfrm>
            <a:off x="1642863" y="690367"/>
            <a:ext cx="8906274" cy="4737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88302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685AEE3-49FF-C1B9-6EE6-D52FF5A69D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929" y="662688"/>
            <a:ext cx="6885446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25623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E050118-DD20-5E3B-8B6B-E6D873F233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6995" y="0"/>
            <a:ext cx="93623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778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3348</TotalTime>
  <Words>1672</Words>
  <Application>Microsoft Office PowerPoint</Application>
  <PresentationFormat>Widescreen</PresentationFormat>
  <Paragraphs>479</Paragraphs>
  <Slides>72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72</vt:i4>
      </vt:variant>
    </vt:vector>
  </HeadingPairs>
  <TitlesOfParts>
    <vt:vector size="78" baseType="lpstr">
      <vt:lpstr>Aptos</vt:lpstr>
      <vt:lpstr>Aptos Display</vt:lpstr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Rakib Hossain Sourav</dc:creator>
  <cp:lastModifiedBy>Rakib Hossain Sourav</cp:lastModifiedBy>
  <cp:revision>45</cp:revision>
  <dcterms:created xsi:type="dcterms:W3CDTF">2026-03-15T18:51:21Z</dcterms:created>
  <dcterms:modified xsi:type="dcterms:W3CDTF">2026-06-20T11:52:34Z</dcterms:modified>
</cp:coreProperties>
</file>